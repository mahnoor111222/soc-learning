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A1A2F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Sudo to root</c:v>
                </c:pt>
                <c:pt idx="1">
                  <c:v>SSH brute force</c:v>
                </c:pt>
                <c:pt idx="2">
                  <c:v>New account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A1A2F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4EB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B829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ffd447d-f99a-4625-bc21-645eb329296d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 task: build a working SIEM in a home lab and prove custom detection rules fire on real attack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85800"/>
            <a:ext cx="4937760" cy="4937760"/>
          </a:xfrm>
          <a:prstGeom prst="ellipse">
            <a:avLst/>
          </a:prstGeom>
          <a:solidFill>
            <a:srgbClr val="15304E"/>
          </a:solidFill>
          <a:ln w="12700">
            <a:solidFill>
              <a:srgbClr val="1530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1554480"/>
            <a:ext cx="3200400" cy="3200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" name="Image 0" descr="icons/shield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4688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BLUE TEAM  ·  DETECTION ENGINEERING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2057400"/>
            <a:ext cx="73152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Home-Lab SIEM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Build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406908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Setting up Wazuh from scratch, writing custom detection rules,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proving each one fires on a real attack.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22960" y="51663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5304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1663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Wazuh 4.14.7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88920" y="51663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5304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88920" y="51663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custom rules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51663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5304E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51663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MITRE mapped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GOAL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about detection is not the same as building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2900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777240" cy="7772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6" name="Image 0" descr="icons/server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166214"/>
            <a:ext cx="559613" cy="559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6324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real SIEM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584448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 Wazuh in a lab and connect a machine to watch.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61688" y="1737360"/>
            <a:ext cx="342900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2057400"/>
            <a:ext cx="777240" cy="7772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Image 1" descr="icons/bug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542" y="2166214"/>
            <a:ext cx="559613" cy="5596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306324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it on purpose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81728" y="3584448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failed logins, escalations and new accounts.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29016" y="1737360"/>
            <a:ext cx="342900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2057400"/>
            <a:ext cx="777240" cy="777240"/>
          </a:xfrm>
          <a:prstGeom prst="ellipse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pic>
        <p:nvPicPr>
          <p:cNvPr id="16" name="Image 2" descr="icons/shield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870" y="2166214"/>
            <a:ext cx="559613" cy="5596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306324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 it with my own rules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49056" y="3584448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detection logic and prove each rule triggers.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94360" y="507492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4400" y="507492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E6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rule that never fires is worth nothing. Every rule here has a screenshot of it firing.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  ·  THE LAB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machines, one private network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4864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9384"/>
            <a:ext cx="566928" cy="566928"/>
          </a:xfrm>
          <a:prstGeom prst="ellipse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pic>
        <p:nvPicPr>
          <p:cNvPr id="6" name="Image 0" descr="icons/server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0" y="2008754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837944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SIEM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27632" y="21945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Wazuh 4.14.7 appliance — manager, indexer and dashboard</a:t>
            </a:r>
            <a:endParaRPr lang="en-US" sz="1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2926080"/>
            <a:ext cx="54864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163824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1" name="Image 1" descr="icons/terminal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50" y="3243194"/>
            <a:ext cx="408188" cy="4081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27632" y="3072384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endpoint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627632" y="34290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Kali Linux, running the Wazuh agent</a:t>
            </a:r>
            <a:endParaRPr lang="en-US" sz="1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94360" y="4160520"/>
            <a:ext cx="54864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398264"/>
            <a:ext cx="566928" cy="566928"/>
          </a:xfrm>
          <a:prstGeom prst="ellipse">
            <a:avLst/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pic>
        <p:nvPicPr>
          <p:cNvPr id="16" name="Image 2" descr="icons/network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0" y="4477634"/>
            <a:ext cx="408188" cy="4081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4306824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network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27632" y="46634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private VirtualBox network, kept away from my home Wi-Fi</a:t>
            </a:r>
            <a:endParaRPr lang="en-US" sz="1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40080" y="54864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the dashboard port is shared back to my laptop, so the lab stays sealed off.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28232" y="2296954"/>
            <a:ext cx="5248656" cy="2812732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0" dist="25400" dir="5400000" algn="bl" rotWithShape="0">
              <a:srgbClr val="8AA0B5">
                <a:alpha val="35000"/>
              </a:srgbClr>
            </a:outerShdw>
          </a:effectLst>
        </p:spPr>
      </p:sp>
      <p:pic>
        <p:nvPicPr>
          <p:cNvPr id="21" name="Image 3" descr="redacted/image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360962"/>
            <a:ext cx="5120640" cy="26847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 ·  INSTALLATION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Wazuh is three services, not 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28774"/>
            <a:ext cx="7077456" cy="3640532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0" dist="25400" dir="5400000" algn="bl" rotWithShape="0">
              <a:srgbClr val="8AA0B5">
                <a:alpha val="35000"/>
              </a:srgbClr>
            </a:outerShdw>
          </a:effectLst>
        </p:spPr>
      </p:sp>
      <p:pic>
        <p:nvPicPr>
          <p:cNvPr id="5" name="Image 0" descr="redacted/image3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92782"/>
            <a:ext cx="6949440" cy="3512516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7818120" y="1691640"/>
            <a:ext cx="3749040" cy="3437890"/>
            <a:chOff x="12312" y="2664"/>
            <a:chExt cx="5904" cy="5414"/>
          </a:xfrm>
        </p:grpSpPr>
        <p:sp>
          <p:nvSpPr>
            <p:cNvPr id="6" name="Shape 3"/>
            <p:cNvSpPr/>
            <p:nvPr/>
          </p:nvSpPr>
          <p:spPr>
            <a:xfrm>
              <a:off x="12312" y="2664"/>
              <a:ext cx="5904" cy="1613"/>
            </a:xfrm>
            <a:prstGeom prst="roundRect">
              <a:avLst>
                <a:gd name="adj" fmla="val 4464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7" name="Shape 4"/>
            <p:cNvSpPr/>
            <p:nvPr/>
          </p:nvSpPr>
          <p:spPr>
            <a:xfrm>
              <a:off x="12744" y="3096"/>
              <a:ext cx="720" cy="720"/>
            </a:xfrm>
            <a:prstGeom prst="ellipse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sp>
          <p:nvSpPr>
            <p:cNvPr id="8" name="Text 5"/>
            <p:cNvSpPr/>
            <p:nvPr/>
          </p:nvSpPr>
          <p:spPr>
            <a:xfrm>
              <a:off x="12744" y="3096"/>
              <a:ext cx="720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1</a:t>
              </a:r>
              <a:endPara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13680" y="2880"/>
              <a:ext cx="4320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Manager</a:t>
              </a:r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13680" y="3413"/>
              <a:ext cx="4320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Reads the logs and decides what is an alert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1" name="Shape 8"/>
            <p:cNvSpPr/>
            <p:nvPr/>
          </p:nvSpPr>
          <p:spPr>
            <a:xfrm>
              <a:off x="12312" y="4565"/>
              <a:ext cx="5904" cy="1613"/>
            </a:xfrm>
            <a:prstGeom prst="roundRect">
              <a:avLst>
                <a:gd name="adj" fmla="val 4464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12" name="Shape 9"/>
            <p:cNvSpPr/>
            <p:nvPr/>
          </p:nvSpPr>
          <p:spPr>
            <a:xfrm>
              <a:off x="12744" y="4997"/>
              <a:ext cx="720" cy="720"/>
            </a:xfrm>
            <a:prstGeom prst="ellipse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sp>
          <p:nvSpPr>
            <p:cNvPr id="13" name="Text 10"/>
            <p:cNvSpPr/>
            <p:nvPr/>
          </p:nvSpPr>
          <p:spPr>
            <a:xfrm>
              <a:off x="12744" y="4997"/>
              <a:ext cx="720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2</a:t>
              </a:r>
              <a:endPara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13680" y="4781"/>
              <a:ext cx="4320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Indexer</a:t>
              </a:r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13680" y="5314"/>
              <a:ext cx="4320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Stores every alert so it can be searched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6" name="Shape 13"/>
            <p:cNvSpPr/>
            <p:nvPr/>
          </p:nvSpPr>
          <p:spPr>
            <a:xfrm>
              <a:off x="12312" y="6466"/>
              <a:ext cx="5904" cy="1613"/>
            </a:xfrm>
            <a:prstGeom prst="roundRect">
              <a:avLst>
                <a:gd name="adj" fmla="val 4464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17" name="Shape 14"/>
            <p:cNvSpPr/>
            <p:nvPr/>
          </p:nvSpPr>
          <p:spPr>
            <a:xfrm>
              <a:off x="12744" y="6898"/>
              <a:ext cx="720" cy="720"/>
            </a:xfrm>
            <a:prstGeom prst="ellipse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sp>
          <p:nvSpPr>
            <p:cNvPr id="18" name="Text 15"/>
            <p:cNvSpPr/>
            <p:nvPr/>
          </p:nvSpPr>
          <p:spPr>
            <a:xfrm>
              <a:off x="12744" y="6898"/>
              <a:ext cx="720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3</a:t>
              </a:r>
              <a:endPara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13680" y="6682"/>
              <a:ext cx="4320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Dashboard</a:t>
              </a:r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13680" y="7214"/>
              <a:ext cx="4320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The screen an analyst actually looks at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21" name="Text 18"/>
          <p:cNvSpPr/>
          <p:nvPr/>
        </p:nvSpPr>
        <p:spPr>
          <a:xfrm>
            <a:off x="7863840" y="5440680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checked all three before opening the browser — if one is down, the symptoms look identical.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  ·  THE ENDPOINT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machine, now being watched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2004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8308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94360" y="28803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active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794760"/>
            <a:ext cx="320040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97764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installing anything</a:t>
            </a:r>
            <a:endParaRPr lang="en-US" sz="145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4370832"/>
            <a:ext cx="2697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Checked the machines could reach each other</a:t>
            </a:r>
            <a:endParaRPr lang="en-US" sz="125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Checked both agent ports were open</a:t>
            </a:r>
            <a:endParaRPr lang="en-US" sz="125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Then the agent connected first try</a:t>
            </a:r>
            <a:endParaRPr lang="en-US" sz="12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96512" y="1893796"/>
            <a:ext cx="7534656" cy="3710488"/>
          </a:xfrm>
          <a:prstGeom prst="roundRect">
            <a:avLst>
              <a:gd name="adj" fmla="val 147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0" dist="25400" dir="5400000" algn="bl" rotWithShape="0">
              <a:srgbClr val="8AA0B5">
                <a:alpha val="35000"/>
              </a:srgbClr>
            </a:outerShdw>
          </a:effectLst>
        </p:spPr>
      </p:sp>
      <p:pic>
        <p:nvPicPr>
          <p:cNvPr id="11" name="Image 0" descr="redacted/image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957804"/>
            <a:ext cx="7406640" cy="3582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  ·  TEST EVENTS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Breaking into my own machine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turned on SSH and failed the login on purpose, over and over, to see whether the events actually reached the SIEM.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0352" y="2216912"/>
            <a:ext cx="5797296" cy="1875536"/>
          </a:xfrm>
          <a:prstGeom prst="roundRect">
            <a:avLst>
              <a:gd name="adj" fmla="val 2925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0" dist="25400" dir="5400000" algn="bl" rotWithShape="0">
              <a:srgbClr val="8AA0B5">
                <a:alpha val="35000"/>
              </a:srgbClr>
            </a:outerShdw>
          </a:effectLst>
        </p:spPr>
      </p:sp>
      <p:pic>
        <p:nvPicPr>
          <p:cNvPr id="6" name="Image 0" descr="redacted/image3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80920"/>
            <a:ext cx="5669280" cy="174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4709160"/>
            <a:ext cx="1783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480060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94360" y="5422392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failed logins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32888" y="4709160"/>
            <a:ext cx="1783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32888" y="480060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532888" y="5422392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 logins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71416" y="4709160"/>
            <a:ext cx="1783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71416" y="480060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471416" y="5422392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events captured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73952" y="2593156"/>
            <a:ext cx="5157216" cy="2586088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0" dist="25400" dir="5400000" algn="bl" rotWithShape="0">
              <a:srgbClr val="8AA0B5">
                <a:alpha val="35000"/>
              </a:srgbClr>
            </a:outerShdw>
          </a:effectLst>
        </p:spPr>
      </p:sp>
      <p:pic>
        <p:nvPicPr>
          <p:cNvPr id="17" name="Image 1" descr="redacted/image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57164"/>
            <a:ext cx="5029200" cy="24580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DETECTION CONTENT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rules I wrote myself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FB6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task asked for three. The fourth was the quickest way to prove my rule file was loading at all.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349240" cy="1874520"/>
          </a:xfrm>
          <a:prstGeom prst="roundRect">
            <a:avLst>
              <a:gd name="adj" fmla="val 2439"/>
            </a:avLst>
          </a:prstGeom>
          <a:solidFill>
            <a:srgbClr val="15304E"/>
          </a:solidFill>
          <a:ln w="12700">
            <a:solidFill>
              <a:srgbClr val="234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12848"/>
            <a:ext cx="731520" cy="7315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7" name="Image 0" descr="icons/key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2315261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92808" y="21488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SSH brute force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92808" y="25603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9FB6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Someone guessing passwords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892808" y="3154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572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Rule 100100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312724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0A1A2F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0" y="3127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T1110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828800"/>
            <a:ext cx="5349240" cy="1874520"/>
          </a:xfrm>
          <a:prstGeom prst="roundRect">
            <a:avLst>
              <a:gd name="adj" fmla="val 2439"/>
            </a:avLst>
          </a:prstGeom>
          <a:solidFill>
            <a:srgbClr val="15304E"/>
          </a:solidFill>
          <a:ln w="12700">
            <a:solidFill>
              <a:srgbClr val="234A7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29400" y="2212848"/>
            <a:ext cx="731520" cy="73152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pic>
        <p:nvPicPr>
          <p:cNvPr id="15" name="Image 1" descr="icons/bolt-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13" y="2315261"/>
            <a:ext cx="526694" cy="5266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62088" y="21488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sudo to root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562088" y="25603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9FB6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Someone escalating again and again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562088" y="3154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Rule 100101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966960" y="312724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0A1A2F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966960" y="3127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C14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T1548.003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94360" y="3977640"/>
            <a:ext cx="5349240" cy="1874520"/>
          </a:xfrm>
          <a:prstGeom prst="roundRect">
            <a:avLst>
              <a:gd name="adj" fmla="val 2439"/>
            </a:avLst>
          </a:prstGeom>
          <a:solidFill>
            <a:srgbClr val="15304E"/>
          </a:solidFill>
          <a:ln w="12700">
            <a:solidFill>
              <a:srgbClr val="234A7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60120" y="4361688"/>
            <a:ext cx="731520" cy="731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3" name="Image 2" descr="icons/userplus-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4464101"/>
            <a:ext cx="526694" cy="52669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892808" y="4297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local account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1892808" y="47091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9FB6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Someone creating a way back in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1892808" y="53035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Rule 100103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297680" y="52760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0A1A2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297680" y="527608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T1136.001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263640" y="3977640"/>
            <a:ext cx="5349240" cy="1874520"/>
          </a:xfrm>
          <a:prstGeom prst="roundRect">
            <a:avLst>
              <a:gd name="adj" fmla="val 2439"/>
            </a:avLst>
          </a:prstGeom>
          <a:solidFill>
            <a:srgbClr val="15304E"/>
          </a:solidFill>
          <a:ln w="12700">
            <a:solidFill>
              <a:srgbClr val="234A7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629400" y="4361688"/>
            <a:ext cx="731520" cy="73152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pic>
        <p:nvPicPr>
          <p:cNvPr id="31" name="Image 3" descr="icons/search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813" y="4464101"/>
            <a:ext cx="526694" cy="52669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62088" y="4297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discovery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7562088" y="47091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9FB6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Someone looking around the machine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7562088" y="53035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9BD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Rule 100102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9966960" y="52760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0A1A2F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966960" y="527608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9BD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T1033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457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1  ·  BRUTE FORCE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Someone guessing SSH passwords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84632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6" name="Image 0" descr="icons/key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9184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2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Rule 100100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49040" y="19019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9040" y="19019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12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2542032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 w="12700">
            <a:solidFill>
              <a:srgbClr val="CBD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54203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T1110  Credential Access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3154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SPOTS</a:t>
            </a:r>
            <a:endParaRPr lang="en-US" sz="1050" b="1" kern="0" spc="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4400" y="3401568"/>
            <a:ext cx="42062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failed logins for accounts that do not exist, all inside one minute.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4105656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050" b="1" kern="0" spc="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14400" y="4352544"/>
            <a:ext cx="42062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failed login is noise. Five in a minute means something is working through a username list.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" y="505663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</a:t>
            </a:r>
            <a:r>
              <a:rPr lang="en-US" sz="105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</a:t>
            </a:r>
            <a:endParaRPr lang="en-US" sz="1050" b="1" kern="0" spc="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14400" y="5303520"/>
            <a:ext cx="42062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Counts the built-in failed-login event and fires once it hits five in 60 seconds.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42432" y="3116897"/>
            <a:ext cx="5888736" cy="1264286"/>
          </a:xfrm>
          <a:prstGeom prst="roundRect">
            <a:avLst>
              <a:gd name="adj" fmla="val 434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0" dist="25400" dir="5400000" algn="bl" rotWithShape="0">
              <a:srgbClr val="8AA0B5">
                <a:alpha val="35000"/>
              </a:srgbClr>
            </a:outerShdw>
          </a:effectLst>
        </p:spPr>
      </p:sp>
      <p:pic>
        <p:nvPicPr>
          <p:cNvPr id="19" name="Image 1" descr="redacted/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180905"/>
            <a:ext cx="5760720" cy="113627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06440" y="5870448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Caught in the SIEM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A7B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2  ·  PRIVILEGE ESCALATION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Someone jumping to root over and 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84632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pic>
        <p:nvPicPr>
          <p:cNvPr id="6" name="Image 0" descr="icons/bolt-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9184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2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Rule 100101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49040" y="19019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9040" y="19019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10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2542032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 w="12700">
            <a:solidFill>
              <a:srgbClr val="CBD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54203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T1548.003  Privilege Escalation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3154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SPOTS</a:t>
            </a:r>
            <a:endParaRPr lang="en-US" sz="1050" b="1" kern="0" spc="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4400" y="3401568"/>
            <a:ext cx="42062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account escalating to root three times inside a minute.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4105656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050" b="1" kern="0" spc="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14400" y="4352544"/>
            <a:ext cx="42062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sudo is normal, which is exactly why attackers use it. The giveaway is the speed, not the act.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" y="505663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050" b="1" kern="0" spc="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14400" y="5303520"/>
            <a:ext cx="42062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Counts successful sudo-to-root events and fires at three in 60 seconds.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42432" y="2955035"/>
            <a:ext cx="5888736" cy="1588010"/>
          </a:xfrm>
          <a:prstGeom prst="roundRect">
            <a:avLst>
              <a:gd name="adj" fmla="val 3455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0" dist="25400" dir="5400000" algn="bl" rotWithShape="0">
              <a:srgbClr val="8AA0B5">
                <a:alpha val="35000"/>
              </a:srgbClr>
            </a:outerShdw>
          </a:effectLst>
        </p:spPr>
      </p:sp>
      <p:pic>
        <p:nvPicPr>
          <p:cNvPr id="19" name="Image 1" descr="redacted/image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019043"/>
            <a:ext cx="5760720" cy="145999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06440" y="5870448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Caught in the SIEM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3  ·  PERSISTENCE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Someone creating a way back 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84632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6" name="Image 0" descr="icons/userplus-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9184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2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Rule 100103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49040" y="19019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9040" y="19019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12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2542032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 w="12700">
            <a:solidFill>
              <a:srgbClr val="CBD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54203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T1136.001  Persistence</a:t>
            </a:r>
            <a:endParaRPr lang="en-US" sz="11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914400" y="3154680"/>
            <a:ext cx="4206240" cy="2843530"/>
            <a:chOff x="1440" y="4968"/>
            <a:chExt cx="6624" cy="4478"/>
          </a:xfrm>
        </p:grpSpPr>
        <p:sp>
          <p:nvSpPr>
            <p:cNvPr id="12" name="Text 9"/>
            <p:cNvSpPr/>
            <p:nvPr/>
          </p:nvSpPr>
          <p:spPr>
            <a:xfrm>
              <a:off x="1440" y="4968"/>
              <a:ext cx="6624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WHAT IT SPOTS</a:t>
              </a:r>
              <a:endParaRPr lang="en-US" sz="105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1440" y="5357"/>
              <a:ext cx="6624" cy="109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3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A brand new local user account being created on the machine.</a:t>
              </a:r>
              <a:endPara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1440" y="6466"/>
              <a:ext cx="6624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WHY IT MATTERS</a:t>
              </a:r>
              <a:endParaRPr lang="en-US" sz="105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1440" y="6854"/>
              <a:ext cx="6624" cy="109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3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Attackers add their own account so they keep access even after the stolen password is changed.</a:t>
              </a:r>
              <a:endPara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1440" y="7963"/>
              <a:ext cx="6624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HOW IT WORKS</a:t>
              </a:r>
              <a:endParaRPr lang="en-US" sz="105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1440" y="8352"/>
              <a:ext cx="6624" cy="109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3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Fires on a single account-creation event — no counting needed, one is enough.</a:t>
              </a:r>
              <a:endPara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18" name="Shape 15"/>
          <p:cNvSpPr/>
          <p:nvPr/>
        </p:nvSpPr>
        <p:spPr>
          <a:xfrm>
            <a:off x="5742432" y="3298336"/>
            <a:ext cx="5888736" cy="901407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0" dist="25400" dir="5400000" algn="bl" rotWithShape="0">
              <a:srgbClr val="8AA0B5">
                <a:alpha val="35000"/>
              </a:srgbClr>
            </a:outerShdw>
          </a:effectLst>
        </p:spPr>
      </p:sp>
      <p:pic>
        <p:nvPicPr>
          <p:cNvPr id="19" name="Image 1" descr="redacted/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362344"/>
            <a:ext cx="5760720" cy="77339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06440" y="5870448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Caught in the SIEM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B9BD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4  ·  BONUS RULE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Someone looking around the machine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84632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pic>
        <p:nvPicPr>
          <p:cNvPr id="6" name="Image 0" descr="icons/search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9184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2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Rule 100102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49040" y="19019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9040" y="19019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8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2542032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 w="12700">
            <a:solidFill>
              <a:srgbClr val="CBD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54203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T1033  Discovery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315468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SPOTS</a:t>
            </a:r>
            <a:endParaRPr lang="en-US" sz="1050" b="1" kern="0" spc="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914400" y="3401695"/>
            <a:ext cx="4206240" cy="2596515"/>
            <a:chOff x="1440" y="5357"/>
            <a:chExt cx="6624" cy="4089"/>
          </a:xfrm>
        </p:grpSpPr>
        <p:sp>
          <p:nvSpPr>
            <p:cNvPr id="13" name="Text 10"/>
            <p:cNvSpPr/>
            <p:nvPr/>
          </p:nvSpPr>
          <p:spPr>
            <a:xfrm>
              <a:off x="1440" y="5357"/>
              <a:ext cx="6624" cy="109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3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Basic snooping commands that reveal who and where the attacker is.</a:t>
              </a:r>
              <a:endPara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1440" y="6466"/>
              <a:ext cx="6624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WHY IT MATTERS</a:t>
              </a:r>
              <a:endParaRPr lang="en-US" sz="105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1440" y="6854"/>
              <a:ext cx="6624" cy="109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3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These are the first commands run after breaking in — cheap to catch, but noisy on a busy machine.</a:t>
              </a:r>
              <a:endPara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1440" y="7963"/>
              <a:ext cx="6624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HOW IT WORKS</a:t>
              </a:r>
              <a:endParaRPr lang="en-US" sz="105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1440" y="8352"/>
              <a:ext cx="6624" cy="109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3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Fires on a single matching command. I wrote this one first to prove my rule file was loading.</a:t>
              </a:r>
              <a:endPara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18" name="Shape 15"/>
          <p:cNvSpPr/>
          <p:nvPr/>
        </p:nvSpPr>
        <p:spPr>
          <a:xfrm>
            <a:off x="5742432" y="3129173"/>
            <a:ext cx="5888736" cy="1239734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0" dist="25400" dir="5400000" algn="bl" rotWithShape="0">
              <a:srgbClr val="8AA0B5">
                <a:alpha val="35000"/>
              </a:srgbClr>
            </a:outerShdw>
          </a:effectLst>
        </p:spPr>
      </p:sp>
      <p:pic>
        <p:nvPicPr>
          <p:cNvPr id="19" name="Image 1" descr="redacted/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193181"/>
            <a:ext cx="5760720" cy="111171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06440" y="5870448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Caught in the SIEM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BONUS  ·  REPORTING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dashboard that shows what is firing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48640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777240" y="228600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68680" y="18745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alerts over 48 hours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0" y="1645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737360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37960" y="245059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alerts caught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052560" y="1645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52400" dist="25400" dir="5400000" algn="bl" rotWithShape="0">
              <a:srgbClr val="9BB0C4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052560" y="1737360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1,349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9189720" y="245059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alerts in the system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36792" y="3351600"/>
            <a:ext cx="5294376" cy="2395079"/>
          </a:xfrm>
          <a:prstGeom prst="roundRect">
            <a:avLst>
              <a:gd name="adj" fmla="val 229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0" dist="25400" dir="5400000" algn="bl" rotWithShape="0">
              <a:srgbClr val="8AA0B5">
                <a:alpha val="35000"/>
              </a:srgbClr>
            </a:outerShdw>
          </a:effectLst>
        </p:spPr>
      </p:sp>
      <p:pic>
        <p:nvPicPr>
          <p:cNvPr id="14" name="Image 0" descr="redacted/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415608"/>
            <a:ext cx="5166360" cy="22670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BONUS  ·  ATTACK MAPPING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rule tied to a known attacker move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MITRE ATT&amp;CK is the shared language SOC teams use to name attacker behaviour. Each rule carries its technique inside the rule itself, so the label travels with every alert.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30352" y="2239985"/>
            <a:ext cx="6711696" cy="2195150"/>
          </a:xfrm>
          <a:prstGeom prst="roundRect">
            <a:avLst>
              <a:gd name="adj" fmla="val 249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0" dist="25400" dir="5400000" algn="bl" rotWithShape="0">
              <a:srgbClr val="8AA0B5">
                <a:alpha val="35000"/>
              </a:srgbClr>
            </a:outerShdw>
          </a:effectLst>
        </p:spPr>
      </p:sp>
      <p:pic>
        <p:nvPicPr>
          <p:cNvPr id="6" name="Image 0" descr="redacted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03993"/>
            <a:ext cx="6583680" cy="20671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965960"/>
            <a:ext cx="40690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26680" y="2167128"/>
            <a:ext cx="420624" cy="42062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6680" y="21671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21040" y="2084832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21040" y="239572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Brute force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0" y="2953512"/>
            <a:ext cx="40690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26680" y="3154680"/>
            <a:ext cx="420624" cy="42062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31546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21040" y="3072384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Gain power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21040" y="338328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Sudo to root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98080" y="3941064"/>
            <a:ext cx="40690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26680" y="4142232"/>
            <a:ext cx="420624" cy="420624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414223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21040" y="4059936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 around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21040" y="4370832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Discovery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498080" y="4928616"/>
            <a:ext cx="40690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26680" y="5129784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26680" y="512978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321040" y="5047488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Stay in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321040" y="5358384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account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94360" y="5074920"/>
            <a:ext cx="6583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Together the four rules cover an attacker's whole path: breaking in, gaining power, looking around, and staying in.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task asked for, and what was built</a:t>
            </a:r>
            <a:endParaRPr lang="en-US" sz="3400" dirty="0"/>
          </a:p>
        </p:txBody>
      </p:sp>
      <p:grpSp>
        <p:nvGrpSpPr>
          <p:cNvPr id="47" name="Group 46"/>
          <p:cNvGrpSpPr/>
          <p:nvPr/>
        </p:nvGrpSpPr>
        <p:grpSpPr>
          <a:xfrm>
            <a:off x="594360" y="1691640"/>
            <a:ext cx="11018520" cy="4023360"/>
            <a:chOff x="936" y="2664"/>
            <a:chExt cx="17352" cy="6336"/>
          </a:xfrm>
        </p:grpSpPr>
        <p:sp>
          <p:nvSpPr>
            <p:cNvPr id="4" name="Shape 2"/>
            <p:cNvSpPr/>
            <p:nvPr/>
          </p:nvSpPr>
          <p:spPr>
            <a:xfrm>
              <a:off x="936" y="2664"/>
              <a:ext cx="8424" cy="1872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1368" y="3125"/>
              <a:ext cx="792" cy="792"/>
            </a:xfrm>
            <a:prstGeom prst="ellipse">
              <a:avLst/>
            </a:prstGeom>
            <a:solidFill>
              <a:srgbClr val="E2F5EF"/>
            </a:solidFill>
            <a:ln w="12700">
              <a:solidFill>
                <a:srgbClr val="E2F5EF"/>
              </a:solidFill>
              <a:prstDash val="solid"/>
            </a:ln>
          </p:spPr>
        </p:sp>
        <p:pic>
          <p:nvPicPr>
            <p:cNvPr id="6" name="Image 0" descr="icons/check-w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69" y="3226"/>
              <a:ext cx="590" cy="590"/>
            </a:xfrm>
            <a:prstGeom prst="rect">
              <a:avLst/>
            </a:prstGeom>
          </p:spPr>
        </p:pic>
        <p:sp>
          <p:nvSpPr>
            <p:cNvPr id="7" name="Shape 4"/>
            <p:cNvSpPr/>
            <p:nvPr/>
          </p:nvSpPr>
          <p:spPr>
            <a:xfrm>
              <a:off x="1526" y="3283"/>
              <a:ext cx="475" cy="475"/>
            </a:xfrm>
            <a:prstGeom prst="ellipse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pic>
          <p:nvPicPr>
            <p:cNvPr id="8" name="Image 1" descr="icons/check-w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26" y="3283"/>
              <a:ext cx="475" cy="475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2376" y="2952"/>
              <a:ext cx="6768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Working SIEM with one agent</a:t>
              </a:r>
              <a:endParaRPr lang="en-US" sz="15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0" name="Text 6"/>
            <p:cNvSpPr/>
            <p:nvPr/>
          </p:nvSpPr>
          <p:spPr>
            <a:xfrm>
              <a:off x="2376" y="3528"/>
              <a:ext cx="6768" cy="7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Wazuh running, Kali connected and reporting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1" name="Shape 7"/>
            <p:cNvSpPr/>
            <p:nvPr/>
          </p:nvSpPr>
          <p:spPr>
            <a:xfrm>
              <a:off x="9864" y="2664"/>
              <a:ext cx="8424" cy="1872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12" name="Shape 8"/>
            <p:cNvSpPr/>
            <p:nvPr/>
          </p:nvSpPr>
          <p:spPr>
            <a:xfrm>
              <a:off x="10296" y="3125"/>
              <a:ext cx="792" cy="792"/>
            </a:xfrm>
            <a:prstGeom prst="ellipse">
              <a:avLst/>
            </a:prstGeom>
            <a:solidFill>
              <a:srgbClr val="E2F5EF"/>
            </a:solidFill>
            <a:ln w="12700">
              <a:solidFill>
                <a:srgbClr val="E2F5EF"/>
              </a:solidFill>
              <a:prstDash val="solid"/>
            </a:ln>
          </p:spPr>
        </p:sp>
        <p:pic>
          <p:nvPicPr>
            <p:cNvPr id="13" name="Image 2" descr="icons/check-w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397" y="3226"/>
              <a:ext cx="590" cy="590"/>
            </a:xfrm>
            <a:prstGeom prst="rect">
              <a:avLst/>
            </a:prstGeom>
          </p:spPr>
        </p:pic>
        <p:sp>
          <p:nvSpPr>
            <p:cNvPr id="14" name="Shape 9"/>
            <p:cNvSpPr/>
            <p:nvPr/>
          </p:nvSpPr>
          <p:spPr>
            <a:xfrm>
              <a:off x="10454" y="3283"/>
              <a:ext cx="475" cy="475"/>
            </a:xfrm>
            <a:prstGeom prst="ellipse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pic>
          <p:nvPicPr>
            <p:cNvPr id="15" name="Image 3" descr="icons/check-w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454" y="3283"/>
              <a:ext cx="475" cy="475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11304" y="2952"/>
              <a:ext cx="6768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Three custom rules</a:t>
              </a:r>
              <a:endParaRPr lang="en-US" sz="15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7" name="Text 11"/>
            <p:cNvSpPr/>
            <p:nvPr/>
          </p:nvSpPr>
          <p:spPr>
            <a:xfrm>
              <a:off x="11304" y="3528"/>
              <a:ext cx="6768" cy="7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Four written, all deployed to the manager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8" name="Shape 12"/>
            <p:cNvSpPr/>
            <p:nvPr/>
          </p:nvSpPr>
          <p:spPr>
            <a:xfrm>
              <a:off x="936" y="4896"/>
              <a:ext cx="8424" cy="1872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19" name="Shape 13"/>
            <p:cNvSpPr/>
            <p:nvPr/>
          </p:nvSpPr>
          <p:spPr>
            <a:xfrm>
              <a:off x="1368" y="5357"/>
              <a:ext cx="792" cy="792"/>
            </a:xfrm>
            <a:prstGeom prst="ellipse">
              <a:avLst/>
            </a:prstGeom>
            <a:solidFill>
              <a:srgbClr val="E2F5EF"/>
            </a:solidFill>
            <a:ln w="12700">
              <a:solidFill>
                <a:srgbClr val="E2F5EF"/>
              </a:solidFill>
              <a:prstDash val="solid"/>
            </a:ln>
          </p:spPr>
        </p:sp>
        <p:pic>
          <p:nvPicPr>
            <p:cNvPr id="20" name="Image 4" descr="icons/check-w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69" y="5458"/>
              <a:ext cx="590" cy="590"/>
            </a:xfrm>
            <a:prstGeom prst="rect">
              <a:avLst/>
            </a:prstGeom>
          </p:spPr>
        </p:pic>
        <p:sp>
          <p:nvSpPr>
            <p:cNvPr id="21" name="Shape 14"/>
            <p:cNvSpPr/>
            <p:nvPr/>
          </p:nvSpPr>
          <p:spPr>
            <a:xfrm>
              <a:off x="1526" y="5515"/>
              <a:ext cx="475" cy="475"/>
            </a:xfrm>
            <a:prstGeom prst="ellipse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pic>
          <p:nvPicPr>
            <p:cNvPr id="22" name="Image 5" descr="icons/check-w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26" y="5515"/>
              <a:ext cx="475" cy="475"/>
            </a:xfrm>
            <a:prstGeom prst="rect">
              <a:avLst/>
            </a:prstGeom>
          </p:spPr>
        </p:pic>
        <p:sp>
          <p:nvSpPr>
            <p:cNvPr id="23" name="Text 15"/>
            <p:cNvSpPr/>
            <p:nvPr/>
          </p:nvSpPr>
          <p:spPr>
            <a:xfrm>
              <a:off x="2376" y="5184"/>
              <a:ext cx="6768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Each rule shown triggering</a:t>
              </a:r>
              <a:endParaRPr lang="en-US" sz="15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24" name="Text 16"/>
            <p:cNvSpPr/>
            <p:nvPr/>
          </p:nvSpPr>
          <p:spPr>
            <a:xfrm>
              <a:off x="2376" y="5760"/>
              <a:ext cx="6768" cy="7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Screenshot of every rule firing on real activity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25" name="Shape 17"/>
            <p:cNvSpPr/>
            <p:nvPr/>
          </p:nvSpPr>
          <p:spPr>
            <a:xfrm>
              <a:off x="9864" y="4896"/>
              <a:ext cx="8424" cy="1872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26" name="Shape 18"/>
            <p:cNvSpPr/>
            <p:nvPr/>
          </p:nvSpPr>
          <p:spPr>
            <a:xfrm>
              <a:off x="10296" y="5357"/>
              <a:ext cx="792" cy="792"/>
            </a:xfrm>
            <a:prstGeom prst="ellipse">
              <a:avLst/>
            </a:prstGeom>
            <a:solidFill>
              <a:srgbClr val="E2F5EF"/>
            </a:solidFill>
            <a:ln w="12700">
              <a:solidFill>
                <a:srgbClr val="E2F5EF"/>
              </a:solidFill>
              <a:prstDash val="solid"/>
            </a:ln>
          </p:spPr>
        </p:sp>
        <p:pic>
          <p:nvPicPr>
            <p:cNvPr id="27" name="Image 6" descr="icons/check-w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397" y="5458"/>
              <a:ext cx="590" cy="590"/>
            </a:xfrm>
            <a:prstGeom prst="rect">
              <a:avLst/>
            </a:prstGeom>
          </p:spPr>
        </p:pic>
        <p:sp>
          <p:nvSpPr>
            <p:cNvPr id="28" name="Shape 19"/>
            <p:cNvSpPr/>
            <p:nvPr/>
          </p:nvSpPr>
          <p:spPr>
            <a:xfrm>
              <a:off x="10454" y="5515"/>
              <a:ext cx="475" cy="475"/>
            </a:xfrm>
            <a:prstGeom prst="ellipse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pic>
          <p:nvPicPr>
            <p:cNvPr id="29" name="Image 7" descr="icons/check-w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454" y="5515"/>
              <a:ext cx="475" cy="475"/>
            </a:xfrm>
            <a:prstGeom prst="rect">
              <a:avLst/>
            </a:prstGeom>
          </p:spPr>
        </p:pic>
        <p:sp>
          <p:nvSpPr>
            <p:cNvPr id="30" name="Text 20"/>
            <p:cNvSpPr/>
            <p:nvPr/>
          </p:nvSpPr>
          <p:spPr>
            <a:xfrm>
              <a:off x="11304" y="5184"/>
              <a:ext cx="6768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Clear documentation per rule</a:t>
              </a:r>
              <a:endParaRPr lang="en-US" sz="15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31" name="Text 21"/>
            <p:cNvSpPr/>
            <p:nvPr/>
          </p:nvSpPr>
          <p:spPr>
            <a:xfrm>
              <a:off x="11304" y="5760"/>
              <a:ext cx="6768" cy="7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What it spots, why it matters, how it works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32" name="Shape 22"/>
            <p:cNvSpPr/>
            <p:nvPr/>
          </p:nvSpPr>
          <p:spPr>
            <a:xfrm>
              <a:off x="936" y="7128"/>
              <a:ext cx="8424" cy="1872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33" name="Shape 23"/>
            <p:cNvSpPr/>
            <p:nvPr/>
          </p:nvSpPr>
          <p:spPr>
            <a:xfrm>
              <a:off x="1368" y="7589"/>
              <a:ext cx="792" cy="792"/>
            </a:xfrm>
            <a:prstGeom prst="ellipse">
              <a:avLst/>
            </a:prstGeom>
            <a:solidFill>
              <a:srgbClr val="E2F5EF"/>
            </a:solidFill>
            <a:ln w="12700">
              <a:solidFill>
                <a:srgbClr val="E2F5EF"/>
              </a:solidFill>
              <a:prstDash val="solid"/>
            </a:ln>
          </p:spPr>
        </p:sp>
        <p:pic>
          <p:nvPicPr>
            <p:cNvPr id="34" name="Image 8" descr="icons/check-w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69" y="7690"/>
              <a:ext cx="590" cy="590"/>
            </a:xfrm>
            <a:prstGeom prst="rect">
              <a:avLst/>
            </a:prstGeom>
          </p:spPr>
        </p:pic>
        <p:sp>
          <p:nvSpPr>
            <p:cNvPr id="35" name="Shape 24"/>
            <p:cNvSpPr/>
            <p:nvPr/>
          </p:nvSpPr>
          <p:spPr>
            <a:xfrm>
              <a:off x="1526" y="7747"/>
              <a:ext cx="475" cy="475"/>
            </a:xfrm>
            <a:prstGeom prst="ellipse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pic>
          <p:nvPicPr>
            <p:cNvPr id="36" name="Image 9" descr="icons/check-w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26" y="7747"/>
              <a:ext cx="475" cy="475"/>
            </a:xfrm>
            <a:prstGeom prst="rect">
              <a:avLst/>
            </a:prstGeom>
          </p:spPr>
        </p:pic>
        <p:sp>
          <p:nvSpPr>
            <p:cNvPr id="37" name="Text 25"/>
            <p:cNvSpPr/>
            <p:nvPr/>
          </p:nvSpPr>
          <p:spPr>
            <a:xfrm>
              <a:off x="2376" y="7416"/>
              <a:ext cx="6768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Dashboard of alert volume</a:t>
              </a:r>
              <a:endParaRPr lang="en-US" sz="15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38" name="Text 26"/>
            <p:cNvSpPr/>
            <p:nvPr/>
          </p:nvSpPr>
          <p:spPr>
            <a:xfrm>
              <a:off x="2376" y="7992"/>
              <a:ext cx="6768" cy="7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Saved dashboard, filtered to my own rules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39" name="Shape 27"/>
            <p:cNvSpPr/>
            <p:nvPr/>
          </p:nvSpPr>
          <p:spPr>
            <a:xfrm>
              <a:off x="9864" y="7128"/>
              <a:ext cx="8424" cy="1872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40" name="Shape 28"/>
            <p:cNvSpPr/>
            <p:nvPr/>
          </p:nvSpPr>
          <p:spPr>
            <a:xfrm>
              <a:off x="10296" y="7589"/>
              <a:ext cx="792" cy="792"/>
            </a:xfrm>
            <a:prstGeom prst="ellipse">
              <a:avLst/>
            </a:prstGeom>
            <a:solidFill>
              <a:srgbClr val="E2F5EF"/>
            </a:solidFill>
            <a:ln w="12700">
              <a:solidFill>
                <a:srgbClr val="E2F5EF"/>
              </a:solidFill>
              <a:prstDash val="solid"/>
            </a:ln>
          </p:spPr>
        </p:sp>
        <p:pic>
          <p:nvPicPr>
            <p:cNvPr id="41" name="Image 10" descr="icons/check-w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397" y="7690"/>
              <a:ext cx="590" cy="590"/>
            </a:xfrm>
            <a:prstGeom prst="rect">
              <a:avLst/>
            </a:prstGeom>
          </p:spPr>
        </p:pic>
        <p:sp>
          <p:nvSpPr>
            <p:cNvPr id="42" name="Shape 29"/>
            <p:cNvSpPr/>
            <p:nvPr/>
          </p:nvSpPr>
          <p:spPr>
            <a:xfrm>
              <a:off x="10454" y="7747"/>
              <a:ext cx="475" cy="475"/>
            </a:xfrm>
            <a:prstGeom prst="ellipse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pic>
          <p:nvPicPr>
            <p:cNvPr id="43" name="Image 11" descr="icons/check-w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454" y="7747"/>
              <a:ext cx="475" cy="475"/>
            </a:xfrm>
            <a:prstGeom prst="rect">
              <a:avLst/>
            </a:prstGeom>
          </p:spPr>
        </p:pic>
        <p:sp>
          <p:nvSpPr>
            <p:cNvPr id="44" name="Text 30"/>
            <p:cNvSpPr/>
            <p:nvPr/>
          </p:nvSpPr>
          <p:spPr>
            <a:xfrm>
              <a:off x="11304" y="7416"/>
              <a:ext cx="6768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5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MITRE ATT&amp;CK mapping</a:t>
              </a:r>
              <a:endParaRPr lang="en-US" sz="15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45" name="Text 31"/>
            <p:cNvSpPr/>
            <p:nvPr/>
          </p:nvSpPr>
          <p:spPr>
            <a:xfrm>
              <a:off x="11304" y="7992"/>
              <a:ext cx="6768" cy="7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Technique built into each rule definition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46" name="Text 32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 LIMITS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1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 would fix before this went near a client</a:t>
            </a:r>
            <a:endParaRPr lang="en-US" sz="34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594360" y="1691640"/>
            <a:ext cx="5577840" cy="4050030"/>
            <a:chOff x="936" y="2664"/>
            <a:chExt cx="8784" cy="6378"/>
          </a:xfrm>
        </p:grpSpPr>
        <p:sp>
          <p:nvSpPr>
            <p:cNvPr id="4" name="Shape 2"/>
            <p:cNvSpPr/>
            <p:nvPr/>
          </p:nvSpPr>
          <p:spPr>
            <a:xfrm>
              <a:off x="936" y="2664"/>
              <a:ext cx="8784" cy="1411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1440" y="2822"/>
              <a:ext cx="777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The thresholds are mine</a:t>
              </a:r>
              <a:endPara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440" y="3326"/>
              <a:ext cx="7920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They were tuned against my own typing, not a real week of traffic.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936" y="4320"/>
              <a:ext cx="8784" cy="1411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1440" y="4478"/>
              <a:ext cx="777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One rule is too noisy</a:t>
              </a:r>
              <a:endPara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440" y="4982"/>
              <a:ext cx="7920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The discovery rule would flood an analyst on a machine someone actually works on.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936" y="5976"/>
              <a:ext cx="8784" cy="1411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1440" y="6134"/>
              <a:ext cx="777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One rule needs exceptions</a:t>
              </a:r>
              <a:endPara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440" y="6638"/>
              <a:ext cx="7920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Account creation is normal when IT onboards someone — that needs an allow-list.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936" y="7632"/>
              <a:ext cx="8784" cy="1411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2700">
              <a:solidFill>
                <a:srgbClr val="DCE5EE"/>
              </a:solidFill>
              <a:prstDash val="solid"/>
            </a:ln>
            <a:effectLst>
              <a:outerShdw blurRad="152400" dist="25400" dir="5400000" algn="bl" rotWithShape="0">
                <a:srgbClr val="9BB0C4">
                  <a:alpha val="30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1440" y="7790"/>
              <a:ext cx="777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Only one machine</a:t>
              </a:r>
              <a:endParaRPr lang="en-US" sz="15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1440" y="8294"/>
              <a:ext cx="7920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I could not test what happens when the same attack hits several hosts at once.</a:t>
              </a:r>
              <a:endPara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16" name="Shape 14"/>
          <p:cNvSpPr/>
          <p:nvPr/>
        </p:nvSpPr>
        <p:spPr>
          <a:xfrm>
            <a:off x="6537960" y="1691640"/>
            <a:ext cx="5029200" cy="4206240"/>
          </a:xfrm>
          <a:prstGeom prst="roundRect">
            <a:avLst>
              <a:gd name="adj" fmla="val 1087"/>
            </a:avLst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96596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251460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9" name="Image 0" descr="icons/network-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250" y="2591410"/>
            <a:ext cx="395021" cy="39502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680960" y="2496312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DE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Windows machine so the same attacks are caught on two platforms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949440" y="361188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2" name="Image 1" descr="icons/bolt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250" y="3688690"/>
            <a:ext cx="395021" cy="39502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680960" y="3593592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DE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active response so a brute force gets blocked automatically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949440" y="470916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5" name="Image 2" descr="icons/check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250" y="4785970"/>
            <a:ext cx="395021" cy="395021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680960" y="4690872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DE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the rules in version control so changes can be reviewed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11430000" y="6327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82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749040"/>
            <a:ext cx="5669280" cy="5669280"/>
          </a:xfrm>
          <a:prstGeom prst="ellipse">
            <a:avLst/>
          </a:prstGeom>
          <a:solidFill>
            <a:srgbClr val="15304E"/>
          </a:solidFill>
          <a:ln w="12700">
            <a:solidFill>
              <a:srgbClr val="1530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737360"/>
            <a:ext cx="4572000" cy="4572000"/>
          </a:xfrm>
          <a:prstGeom prst="ellipse">
            <a:avLst/>
          </a:prstGeom>
          <a:solidFill>
            <a:srgbClr val="15304E"/>
          </a:solidFill>
          <a:ln w="12700">
            <a:solidFill>
              <a:srgbClr val="1530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28600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Built, attacked, and caught.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011680" y="32461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700" dirty="0">
                <a:solidFill>
                  <a:srgbClr val="9FB6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SIEM running from scratch, four rules of my own, and a screenshot of every single one firing.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794760" y="434340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794760" y="493776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A3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434340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0" y="493776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A3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78040" y="434340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78040" y="493776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A3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techniques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5446</Words>
  <Application>WPS Presentation</Application>
  <PresentationFormat>On-screen Show (16:9)</PresentationFormat>
  <Paragraphs>386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Mahnoor Mehtab Abbasi</cp:lastModifiedBy>
  <cp:revision>2</cp:revision>
  <dcterms:created xsi:type="dcterms:W3CDTF">2026-08-19T15:43:00Z</dcterms:created>
  <dcterms:modified xsi:type="dcterms:W3CDTF">2026-08-19T15:54:47Z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0C30C7B4A90C4F578A34C21B6AAFB9A0_12</vt:lpwstr>
  </property>
  <property fmtid="{D5CDD505-2E9C-101B-9397-08002B2CF9AE}" pid="3" name="KSOProductBuildVer">
    <vt:lpwstr>1033-12.1.0.28032</vt:lpwstr>
  </property>
</Properties>
</file>