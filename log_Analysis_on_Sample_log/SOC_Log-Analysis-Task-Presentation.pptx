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404 hits</c:v>
                </c:pt>
              </c:strCache>
            </c:strRef>
          </c:tx>
          <c:spPr>
            <a:solidFill>
              <a:srgbClr val="2C6E9B"/>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100" b="1" i="0" u="none" strike="noStrike" kern="1200" baseline="0">
                    <a:solidFill>
                      <a:srgbClr val="12161A"/>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Sheet1!$A$2:$A$11</c:f>
              <c:strCache>
                <c:ptCount val="10"/>
                <c:pt idx="0">
                  <c:v>/files/logstash-1.3.2.jar</c:v>
                </c:pt>
                <c:pt idx="1">
                  <c:v>office-space-printer.gif</c:v>
                </c:pt>
                <c:pt idx="2">
                  <c:v>/wp/wp-admin/</c:v>
                </c:pt>
                <c:pt idx="3">
                  <c:v>/wp-login.php?action=register</c:v>
                </c:pt>
                <c:pt idx="4">
                  <c:v>/wp-admin/</c:v>
                </c:pt>
                <c:pt idx="5">
                  <c:v>/blog/wp-admin/</c:v>
                </c:pt>
                <c:pt idx="6">
                  <c:v>/wordpress/wp-admin/</c:v>
                </c:pt>
                <c:pt idx="7">
                  <c:v>/wp-login.php</c:v>
                </c:pt>
                <c:pt idx="8">
                  <c:v>/admin.php</c:v>
                </c:pt>
                <c:pt idx="9">
                  <c:v>/administrator/</c:v>
                </c:pt>
              </c:strCache>
            </c:strRef>
          </c:cat>
          <c:val>
            <c:numRef>
              <c:f>Sheet1!$B$2:$B$11</c:f>
              <c:numCache>
                <c:formatCode>General</c:formatCode>
                <c:ptCount val="10"/>
                <c:pt idx="0">
                  <c:v>61</c:v>
                </c:pt>
                <c:pt idx="1">
                  <c:v>31</c:v>
                </c:pt>
                <c:pt idx="2">
                  <c:v>6</c:v>
                </c:pt>
                <c:pt idx="3">
                  <c:v>6</c:v>
                </c:pt>
                <c:pt idx="4">
                  <c:v>6</c:v>
                </c:pt>
                <c:pt idx="5">
                  <c:v>6</c:v>
                </c:pt>
                <c:pt idx="6">
                  <c:v>5</c:v>
                </c:pt>
                <c:pt idx="7">
                  <c:v>4</c:v>
                </c:pt>
                <c:pt idx="8">
                  <c:v>4</c:v>
                </c:pt>
                <c:pt idx="9">
                  <c:v>4</c:v>
                </c:pt>
              </c:numCache>
            </c:numRef>
          </c:val>
        </c:ser>
        <c:dLbls>
          <c:showLegendKey val="0"/>
          <c:showVal val="1"/>
          <c:showCatName val="0"/>
          <c:showSerName val="0"/>
          <c:showPercent val="0"/>
          <c:showBubbleSize val="0"/>
        </c:dLbls>
        <c:gapWidth val="45"/>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50" b="0" i="0" u="none" strike="noStrike" kern="1200" baseline="0">
                <a:solidFill>
                  <a:srgbClr val="3C464F"/>
                </a:solidFill>
                <a:latin typeface="Courier New" panose="02070309020205020404"/>
                <a:ea typeface="+mn-ea"/>
                <a:cs typeface="+mn-cs"/>
              </a:defRPr>
            </a:pPr>
          </a:p>
        </c:txPr>
        <c:crossAx val="2094734552"/>
        <c:crosses val="autoZero"/>
        <c:auto val="1"/>
        <c:lblAlgn val="ctr"/>
        <c:lblOffset val="100"/>
        <c:noMultiLvlLbl val="1"/>
      </c:catAx>
      <c:valAx>
        <c:axId val="2094734552"/>
        <c:scaling>
          <c:orientation val="minMax"/>
          <c:max val="70"/>
        </c:scaling>
        <c:delete val="0"/>
        <c:axPos val="b"/>
        <c:majorGridlines>
          <c:spPr>
            <a:ln w="12700" cap="flat" cmpd="sng" algn="ctr">
              <a:solidFill>
                <a:srgbClr val="EDF1F4"/>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8A949C"/>
                </a:solidFill>
                <a:latin typeface="Calibri" panose="020F050202020403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02d1c6f1-eee5-4e58-8486-53cd23c77569}"/>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300" b="0" i="0" u="none" strike="noStrike" kern="1200" baseline="0">
                <a:solidFill>
                  <a:srgbClr val="12161A"/>
                </a:solidFill>
                <a:latin typeface="Arial" panose="020B0604020202020204"/>
                <a:ea typeface="+mn-ea"/>
                <a:cs typeface="+mn-cs"/>
              </a:defRPr>
            </a:pPr>
            <a:r>
              <a:rPr sz="1300" b="0" i="0" u="none" strike="noStrike">
                <a:solidFill>
                  <a:srgbClr val="12161A"/>
                </a:solidFill>
                <a:latin typeface="Arial" panose="020B0604020202020204"/>
              </a:rPr>
              <a:t>Status codes across 97 requests</a:t>
            </a:r>
            <a:endParaRPr sz="1300" b="0" i="0" u="none" strike="noStrike">
              <a:solidFill>
                <a:srgbClr val="12161A"/>
              </a:solidFill>
              <a:latin typeface="Arial" panose="020B0604020202020204"/>
            </a:endParaRPr>
          </a:p>
        </c:rich>
      </c:tx>
      <c:layout/>
      <c:overlay val="0"/>
    </c:title>
    <c:autoTitleDeleted val="0"/>
    <c:plotArea>
      <c:layout/>
      <c:barChart>
        <c:barDir val="col"/>
        <c:grouping val="clustered"/>
        <c:varyColors val="0"/>
        <c:ser>
          <c:idx val="0"/>
          <c:order val="0"/>
          <c:tx>
            <c:strRef>
              <c:f>Sheet1!$B$1</c:f>
              <c:strCache>
                <c:ptCount val="1"/>
                <c:pt idx="0">
                  <c:v>requests</c:v>
                </c:pt>
              </c:strCache>
            </c:strRef>
          </c:tx>
          <c:spPr>
            <a:solidFill>
              <a:srgbClr val="2C6E9B"/>
            </a:solidFill>
            <a:effectLst/>
          </c:spPr>
          <c:invertIfNegative val="0"/>
          <c:dPt>
            <c:idx val="0"/>
            <c:invertIfNegative val="0"/>
            <c:bubble3D val="0"/>
            <c:spPr>
              <a:solidFill>
                <a:srgbClr val="2C6E9B"/>
              </a:solidFill>
              <a:effectLst/>
            </c:spPr>
          </c:dPt>
          <c:dPt>
            <c:idx val="1"/>
            <c:invertIfNegative val="0"/>
            <c:bubble3D val="0"/>
            <c:spPr>
              <a:solidFill>
                <a:srgbClr val="C43F35"/>
              </a:solidFill>
              <a:effectLst/>
            </c:spPr>
          </c:dPt>
          <c:dPt>
            <c:idx val="2"/>
            <c:invertIfNegative val="0"/>
            <c:bubble3D val="0"/>
            <c:spPr>
              <a:solidFill>
                <a:srgbClr val="6B7680"/>
              </a:solidFill>
              <a:effectLst/>
            </c:spPr>
          </c:dPt>
          <c:dPt>
            <c:idx val="3"/>
            <c:invertIfNegative val="0"/>
            <c:bubble3D val="0"/>
            <c:spPr>
              <a:solidFill>
                <a:srgbClr val="9AA5AD"/>
              </a:solidFill>
              <a:effectLst/>
            </c:spPr>
          </c:dPt>
          <c:dPt>
            <c:idx val="4"/>
            <c:invertIfNegative val="0"/>
            <c:bubble3D val="0"/>
            <c:spPr>
              <a:solidFill>
                <a:srgbClr val="C3CAD1"/>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en-US" sz="1100" b="1" i="0" u="none" strike="noStrike" kern="1200" baseline="0">
                    <a:solidFill>
                      <a:srgbClr val="12161A"/>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200 OK</c:v>
                </c:pt>
                <c:pt idx="1">
                  <c:v>404 Not Found</c:v>
                </c:pt>
                <c:pt idx="2">
                  <c:v>302 Found</c:v>
                </c:pt>
                <c:pt idx="3">
                  <c:v>301 Moved</c:v>
                </c:pt>
                <c:pt idx="4">
                  <c:v>304 Not Mod.</c:v>
                </c:pt>
              </c:strCache>
            </c:strRef>
          </c:cat>
          <c:val>
            <c:numRef>
              <c:f>Sheet1!$B$2:$B$6</c:f>
              <c:numCache>
                <c:formatCode>General</c:formatCode>
                <c:ptCount val="5"/>
                <c:pt idx="0">
                  <c:v>68</c:v>
                </c:pt>
                <c:pt idx="1">
                  <c:v>16</c:v>
                </c:pt>
                <c:pt idx="2">
                  <c:v>8</c:v>
                </c:pt>
                <c:pt idx="3">
                  <c:v>3</c:v>
                </c:pt>
                <c:pt idx="4">
                  <c:v>2</c:v>
                </c:pt>
              </c:numCache>
            </c:numRef>
          </c:val>
        </c:ser>
        <c:dLbls>
          <c:showLegendKey val="0"/>
          <c:showVal val="1"/>
          <c:showCatName val="0"/>
          <c:showSerName val="0"/>
          <c:showPercent val="0"/>
          <c:showBubbleSize val="0"/>
        </c:dLbls>
        <c:gapWidth val="5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3C464F"/>
                </a:solidFill>
                <a:latin typeface="Calibri" panose="020F0502020204030204"/>
                <a:ea typeface="+mn-ea"/>
                <a:cs typeface="+mn-cs"/>
              </a:defRPr>
            </a:pPr>
          </a:p>
        </c:txPr>
        <c:crossAx val="2094734552"/>
        <c:crosses val="autoZero"/>
        <c:auto val="1"/>
        <c:lblAlgn val="ctr"/>
        <c:lblOffset val="100"/>
        <c:noMultiLvlLbl val="1"/>
      </c:catAx>
      <c:valAx>
        <c:axId val="2094734552"/>
        <c:scaling>
          <c:orientation val="minMax"/>
          <c:max val="80"/>
        </c:scaling>
        <c:delete val="0"/>
        <c:axPos val="l"/>
        <c:majorGridlines>
          <c:spPr>
            <a:ln w="12700" cap="flat" cmpd="sng" algn="ctr">
              <a:solidFill>
                <a:srgbClr val="EDF1F4"/>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8A949C"/>
                </a:solidFill>
                <a:latin typeface="Calibri" panose="020F050202020403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2b80503b-6946-4d1d-a5cc-37331d01a840}"/>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this was the Week 2 task - practise analysing sample web logs and spot suspicious patterns. I did it in two halves. First I worked on a public Apache log with 10,000 lines. Then I felt that log was too clean, so I built my own small web server, attacked it myself, and analysed the logs it produced. I'll walk through both, then show the detection rules I wrote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had four steps. I did them twice over, in two phases. Phase one was a public log file - 10,000 lines of real 2015 traffic. That was useful for learning the commands, but it had no failed logins in it at all, which I'll show you. So in phase two I built my own vulnerable web app, attacked it myself, and analysed those logs. The advantage there is I knew the ground truth - I knew exactly what I did, so I could check whether my detection actually caught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was just getting hold of a log. I used wget to pull the apache_logs sample from the Elastic examples repository - 2.3 megabytes, exactly 10,000 lines, all from one day in May 2015. I renamed it to access.log because that's the name I'd be typing over and over. The reason I like this file is that it's mostly ordinary traffic with a bit of hostile traffic buried in it, which is the realistic ratio. If a sample file is 100% attacks you don't learn to separate signal from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anything clever I made sure I could read a single line. Apache combined format is space separated, so awk gives every field a number. Field 1 is the client IP, field 4 is the timestamp, field 7 is the URL they asked for, field 9 is the HTTP status code, and field 12 onwards is the user agent. Those five fields are the whole of this project - every rule I wrote later is just a question about one or two of them. Field 9 answers 'did it work', field 7 answers 'what were they after', field 1 answers 'who', and the user agent very often tells you it was a tool and not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real analysis. I counted the failures. 213 requests came back 404 - that's about two percent of the file, which on its own is normal-ish, broken links happen. But the interesting one is the second command: zero 401s. Not a single authentication failure in ten thousand requests, because nothing on that server was password protected. So the very first thing the task asks for - repeated failed logins - simply isn't in this dataset. That's not a failure of the task, it's a finding, and it's the reason I built my own lab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more interesting question - not how many 404s, but what were they asking for. I piped grep into awk to pull just the request field, then sorted and counted. Look at the shape of the result. The top two entries, the jar file and the gif, have big counts but they're boring - they're broken links on the site, requested by real visitors. It's the bottom of the list that matters. wp-admin, wordpress slash wp-admin, blog slash wp-admin, wp-login, admin.php, administrator. Each only four to six hits, so they'd never stand out by volume. But this site doesn't run WordPress at all. Someone was working through a list of common admin panel locations. That's scanning, and it's the first suspicious pattern I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next question is who. This awk one-liner says: where the status code is 404, print the IP, count them, and only show the ones above ten. Two addresses come out. 208.91.156.11 with sixty 404s - that single IP is behind about a quarter of every failure in the file. And 144.76.95.39 with fourteen. Everything else is scattered ones and twos, which is what normal broken-link traffic looks like. The other thing I did here, and I think it's the most useful habit from this whole task, is I saved that pipeline as a shell script called detect_404.sh and made it executable. The moment a one-liner is useful, it should stop being something you retype from memory. That script was effectively my first detection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honest limitation of phase one. That log had no failed logins, no injection payloads, no tool user agents, and it's ten years old. Worse, I had no ground truth - if my rule said 'this IP is suspicious', I had no way to confirm it. So for phase two I built my own target on Kali: Apache, PHP, MariaDB and DVWA, which is a web app that is deliberately vulnerable and is made for exactly this kind of practice. One important note - I kept it on localhost only. DVWA's own homepage warns you never to put it on a public server, and that warning is there for good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and I'll keep this brief because it's setup rather than analysis. Install Apache and start it. Add PHP and the modules DVWA needs. Create the database and a dedicated dvwa user in MariaDB rather than using root. Clone DVWA into /var/www/html and fix ownership so Apache can read it. Copy the sample config and put the database credentials in. Then log in and set security level to Low so the vulnerabilities are actually exploitable. The output of all this is the thing I actually wanted: a live Apache access log at /var/log/apache2/access.log that records everything I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attacked my own server, five different ways. A brute force on the login page - I deliberately got it wrong enough times to trigger DVWA's lockout message, then logged in correctly. SQL injection with the classic one-quote-OR-one-equals-one. Reflected XSS with a script tag that the page echoed straight back to me. Command injection by chaining whoami onto the ping input. And recon with curl - asking for admin, .git and phpmyadmin, which don't exist, and sending a fake sqlmap user agent. To be clear, the goal was never to break DVWA. It's already broken by design. The goal was to see what each of these looks like from the defender's side, in the log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Ninety-seven lines of log came out of that session. Two client addresses: 127.0.0.1 which is my browser, and colon-colon-one, which is IPv6 localhost - that's curl. Same machine, but two different identities in the log, which is a nice reminder that one attacker can look like two. Now the important bit, and if you remember one slide from this deck make it this one. Look at the status codes. Sixty-eight of the ninety-seven requests returned 200 OK. My brute force, my SQL injection and my XSS all returned 200 - the application answered them all perfectly happily. Only the curl recon generated 404s. So if I had built my detection around error codes alone, I'd have caught the least dangerous thing I did and missed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one, brute force. Grepping for 'brute' pulls out eighteen POST requests to the same login URL from one IP inside about three minutes. Every single one returned 200 OK. There's a nice detail here though - look at the response sizes. 2103, 2103, 2145, and then near the end 2038 and 2035. The page got smaller. That's the failure message disappearing because the login finally worked. So even without a status code change, the log tells you the attack succeeded, if you're looking at the right column. The application confirmed it independently - DVWA showed me the account lockout message, and then after I got in it said 'number of login attempts: three'. The rule that comes out of this is: count POST requests per IP per URL over a time window, and ignore the status code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two - the injection payloads. Both my SQL injection and my XSS are sitting right there in the URL in field seven. But there's a catch that cost me some time, and it's a genuinely useful thing to know. Apache logs the URL encoded. A single quote is written as percent-two-seven. An angle bracket is percent-three-C. A space becomes a plus sign. So if you grep for literally angle-bracket-script, you get zero results, even though the attack is definitely in the file. That's why every Python script I wrote runs the line through unquote_plus first and then matches. And once again - both requests returned 200. The server did what it was asked. The evidence is in the request, not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three, and this is the easiest one to catch. Fourteen requests to paths that don't exist on my server - admin, dot-git, phpmyadmin. That list isn't random, it's a shortlist of things that are worth stealing if they happen to be there. Dot-git especially, because if a git directory is exposed you can often pull the whole source code. All fourteen came from colon-colon-one and all fourteen returned 404. And look at the timing - four requests in eleven seconds, with no referrer, and the same response size every time. Nobody browses like that. The user agent finishes the job: curl slash 8.20.0 on every request, and one I deliberately sent as sqlmap to check my rule would fire. Honestly this is the cheapest detection in the whole project - one string match on one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 moved from grep to Python, and the reason is simple: grep is excellent for exploring but it's bad at counting per IP, bad at URL-decoding, and bad at being re-run tomorrow. So I wrote five small scripts, one per pattern. The brute force one counts POSTs per IP and alerts at five or more - it found eighteen. The SQL one decodes every sqli request. The XSS one decodes and matches seven patterns. The directory enumeration one counts hits on sensitive paths - it found fourteen from colon-colon-one. And the user agent one matches a list of tool names - sixteen hits. One practical thing worth mentioning: access.log is owned by root, so my scripts couldn't read it at first. I copied it into my own working folder and set permissions there. You analyse a copy - you don't touch the live log, because on a real incident that file is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first two detection rules, written the way I'd hand them to someone else. Rule one, brute force: POST, to a login path, same source IP, five or more inside five minutes, then alert and block. The key design decision is that it deliberately ignores the status code, because as we saw, every failed login returned 200. The false positive to watch is shared office IPs behind NAT - twenty people in one building look like one address, so you tune the threshold rather than hard-blocking. Rule two, scanning: more than ten 404s from one IP in five minutes, or any request to that sensitive path list. I like this rule because I tested it against both datasets - it flagged 208.91.156.11 in the 2015 public log and colon-colon-one in my own lab. Same rule, two completely different sources. Its weakness is that a broken link on a busy page throws hundreds of legitimate 404s, which is why the path list matters more than the raw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three combines the payload matching and the user agent matching, because both are answering the same question - does the request itself look hostile, regardless of how the server replied. Decode the URL first, then look for SQL keywords or script patterns, or a tool name in the user agent. On the right are the three things I'd fix before I'd trust any of this on a real system. First, curl on its own isn't malicious - loads of legitimate monitoring uses it, so it should add to a score rather than fire an alert by itself. Second, always decode before matching - my first XSS script returned nothing at all and I assumed it worked, when actually it was blind. That was the most useful mistake I made. Third, and this is the biggest gap, my scripts count across the entire file with no time window. Five failed logins in five minutes is an attack. Five spread over a week is just someone who forgot their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goes slightly past what the task asked for, but it's the part I found most satisfying. Instead of five separate scripts I combined the checks into one file that reads the log a single time and runs all five detections in one pass. It prints a summary - one brute forcer, one SQL injector, one XSS attacker, two directory scanners, one suspicious user agent - and it lists the IPs it decided to block. Two important caveats. First, the blocking is simulated. It tracks IPs in a Python set and logs the decision, but it does not touch iptables. I deliberately didn't want a script of mine automatically blocking things on a live machine. Second, and this is the real point, it writes to security_incidents.log with timestamps. An alert printed to the terminal is gone the moment you close the window. A timestamped file is something you can hand to someone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straight about the limits, because I think that matters more than making the results look impressive. Every attack in phase two came from me, from one machine - a real attacker uses many IPs and my per-IP counting would struggle. There's no time window, which as I said is the biggest single fix. Ninety-seven lines is a tiny log where everything is obvious; at millions of lines a day these rules would be noisy. A slow attacker who tries three passwords an hour walks straight under every threshold I set. And I'm only looking at one log source - real detection comes from correlating access logs with error logs, auth logs and firewall logs together. If I carried this on, I'd add rolling windows first, then push the same data through something like Wazuh or ELK and see which of my rules survive real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Across both phases I went through just over ten thousand log lines, identified five distinct attack patterns, wrote three detection rules and tested each of them against both datasets, and built six scripts. The deliverables the task asked for are the findings report and the detection rule ideas, and both are here. The three things I'd actually keep from this: first, a 200 OK proves nothing - the brute force, the SQL injection and the XSS all returned 200 while succeeding. Second, decode before you match, or your rule is quietly blind and you won't know. Third, the moment a one-liner is useful, save it as a script - that's how detect_404.sh happened and it's the habit I'll keep. Happy to open any of the scripts or go back to any log excerpt if there are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chart" Target="../charts/char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61A"/>
        </a:solidFill>
        <a:effectLst/>
      </p:bgPr>
    </p:bg>
    <p:spTree>
      <p:nvGrpSpPr>
        <p:cNvPr id="1" name=""/>
        <p:cNvGrpSpPr/>
        <p:nvPr/>
      </p:nvGrpSpPr>
      <p:grpSpPr>
        <a:xfrm>
          <a:off x="0" y="0"/>
          <a:ext cx="0" cy="0"/>
          <a:chOff x="0" y="0"/>
          <a:chExt cx="0" cy="0"/>
        </a:xfrm>
      </p:grpSpPr>
      <p:sp>
        <p:nvSpPr>
          <p:cNvPr id="2" name="Text 0"/>
          <p:cNvSpPr/>
          <p:nvPr/>
        </p:nvSpPr>
        <p:spPr>
          <a:xfrm>
            <a:off x="566928" y="960120"/>
            <a:ext cx="11055096" cy="274320"/>
          </a:xfrm>
          <a:prstGeom prst="rect">
            <a:avLst/>
          </a:prstGeom>
          <a:noFill/>
        </p:spPr>
        <p:txBody>
          <a:bodyPr wrap="square" lIns="0" tIns="0" rIns="0" bIns="0" rtlCol="0" anchor="ctr"/>
          <a:lstStyle/>
          <a:p>
            <a:pPr marL="0" indent="0">
              <a:buNone/>
            </a:pPr>
            <a:r>
              <a:rPr lang="en-US" sz="125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CYBERSECURITY INTERNSHIP  ·  WEEK 2 TASK</a:t>
            </a:r>
            <a:endParaRPr lang="en-US" sz="1250" dirty="0"/>
          </a:p>
        </p:txBody>
      </p:sp>
      <p:sp>
        <p:nvSpPr>
          <p:cNvPr id="3" name="Text 1"/>
          <p:cNvSpPr/>
          <p:nvPr/>
        </p:nvSpPr>
        <p:spPr>
          <a:xfrm>
            <a:off x="566928" y="1371600"/>
            <a:ext cx="7498080" cy="1737360"/>
          </a:xfrm>
          <a:prstGeom prst="rect">
            <a:avLst/>
          </a:prstGeom>
          <a:noFill/>
        </p:spPr>
        <p:txBody>
          <a:bodyPr wrap="square" lIns="0" tIns="0" rIns="0" bIns="0" rtlCol="0" anchor="t"/>
          <a:lstStyle/>
          <a:p>
            <a:pPr marL="0" indent="0">
              <a:lnSpc>
                <a:spcPts val="4600"/>
              </a:lnSpc>
              <a:buNone/>
            </a:pPr>
            <a:r>
              <a:rPr lang="en-US" sz="4000" b="1" dirty="0">
                <a:solidFill>
                  <a:srgbClr val="FFFFFF"/>
                </a:solidFill>
                <a:latin typeface="Arial" panose="020B0604020202020204" pitchFamily="34" charset="0"/>
                <a:ea typeface="Arial" panose="020B0604020202020204" pitchFamily="34" charset="-122"/>
                <a:cs typeface="Arial" panose="020B0604020202020204" pitchFamily="34" charset="-120"/>
              </a:rPr>
              <a:t>Log Analysis Practice</a:t>
            </a:r>
            <a:endParaRPr lang="en-US" sz="4000" dirty="0"/>
          </a:p>
          <a:p>
            <a:pPr marL="0" indent="0">
              <a:lnSpc>
                <a:spcPts val="4600"/>
              </a:lnSpc>
              <a:buNone/>
            </a:pPr>
            <a:r>
              <a:rPr lang="en-US" sz="4000" b="1" dirty="0">
                <a:solidFill>
                  <a:srgbClr val="FFFFFF"/>
                </a:solidFill>
                <a:latin typeface="Arial" panose="020B0604020202020204" pitchFamily="34" charset="0"/>
                <a:ea typeface="Arial" panose="020B0604020202020204" pitchFamily="34" charset="-122"/>
                <a:cs typeface="Arial" panose="020B0604020202020204" pitchFamily="34" charset="-120"/>
              </a:rPr>
              <a:t>on Sample Logs</a:t>
            </a:r>
            <a:endParaRPr lang="en-US" sz="4000" dirty="0"/>
          </a:p>
        </p:txBody>
      </p:sp>
      <p:sp>
        <p:nvSpPr>
          <p:cNvPr id="4" name="Text 2"/>
          <p:cNvSpPr/>
          <p:nvPr/>
        </p:nvSpPr>
        <p:spPr>
          <a:xfrm>
            <a:off x="566928" y="3200400"/>
            <a:ext cx="6766560" cy="822960"/>
          </a:xfrm>
          <a:prstGeom prst="rect">
            <a:avLst/>
          </a:prstGeom>
          <a:noFill/>
        </p:spPr>
        <p:txBody>
          <a:bodyPr wrap="square" lIns="0" tIns="0" rIns="0" bIns="0" rtlCol="0" anchor="t"/>
          <a:lstStyle/>
          <a:p>
            <a:pPr marL="0" indent="0">
              <a:lnSpc>
                <a:spcPts val="2200"/>
              </a:lnSpc>
              <a:buNone/>
            </a:pPr>
            <a:r>
              <a:rPr lang="en-US" sz="1500" dirty="0">
                <a:solidFill>
                  <a:srgbClr val="AEB8C0"/>
                </a:solidFill>
                <a:latin typeface="Calibri" panose="020F0502020204030204" pitchFamily="34" charset="0"/>
                <a:ea typeface="Calibri" panose="020F0502020204030204" pitchFamily="34" charset="-122"/>
                <a:cs typeface="Calibri" panose="020F0502020204030204" pitchFamily="34" charset="-120"/>
              </a:rPr>
              <a:t>Reading Apache access logs to find failed logins, scanning behaviour and odd user agents — then turning what I found into detection rules.</a:t>
            </a:r>
            <a:endParaRPr lang="en-US" sz="1500" dirty="0"/>
          </a:p>
        </p:txBody>
      </p:sp>
      <p:sp>
        <p:nvSpPr>
          <p:cNvPr id="5" name="Shape 3"/>
          <p:cNvSpPr/>
          <p:nvPr/>
        </p:nvSpPr>
        <p:spPr>
          <a:xfrm>
            <a:off x="7360920" y="1371600"/>
            <a:ext cx="4261104" cy="2423160"/>
          </a:xfrm>
          <a:prstGeom prst="roundRect">
            <a:avLst>
              <a:gd name="adj" fmla="val 2264"/>
            </a:avLst>
          </a:prstGeom>
          <a:solidFill>
            <a:srgbClr val="1B2026"/>
          </a:solidFill>
          <a:ln w="12700">
            <a:solidFill>
              <a:srgbClr val="2C343C"/>
            </a:solidFill>
            <a:prstDash val="solid"/>
          </a:ln>
        </p:spPr>
        <p:txBody>
          <a:bodyPr/>
          <a:p>
            <a:endParaRPr lang="en-US"/>
          </a:p>
        </p:txBody>
      </p:sp>
      <p:sp>
        <p:nvSpPr>
          <p:cNvPr id="6" name="Text 4"/>
          <p:cNvSpPr/>
          <p:nvPr/>
        </p:nvSpPr>
        <p:spPr>
          <a:xfrm>
            <a:off x="7507224" y="1508760"/>
            <a:ext cx="3968496" cy="2148840"/>
          </a:xfrm>
          <a:prstGeom prst="rect">
            <a:avLst/>
          </a:prstGeom>
          <a:noFill/>
        </p:spPr>
        <p:txBody>
          <a:bodyPr wrap="square" lIns="0" tIns="0" rIns="0" bIns="0" rtlCol="0" anchor="t"/>
          <a:lstStyle/>
          <a:p>
            <a:pPr marL="0" indent="0">
              <a:lnSpc>
                <a:spcPts val="1450"/>
              </a:lnSpc>
              <a:buNone/>
            </a:pPr>
            <a:r>
              <a:rPr lang="en-US" sz="11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wc -l access.log</a:t>
            </a:r>
            <a:endParaRPr lang="en-US" sz="1100" dirty="0"/>
          </a:p>
          <a:p>
            <a:pPr marL="0" indent="0">
              <a:lnSpc>
                <a:spcPts val="1450"/>
              </a:lnSpc>
              <a:buNone/>
            </a:pPr>
            <a:r>
              <a:rPr lang="en-US" sz="11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10000 access.log</a:t>
            </a:r>
            <a:endParaRPr lang="en-US" sz="1100" dirty="0"/>
          </a:p>
          <a:p>
            <a:pPr marL="0" indent="0">
              <a:lnSpc>
                <a:spcPts val="1450"/>
              </a:lnSpc>
              <a:buNone/>
            </a:pPr>
            <a:endParaRPr lang="en-US" sz="1100" dirty="0"/>
          </a:p>
          <a:p>
            <a:pPr marL="0" indent="0">
              <a:lnSpc>
                <a:spcPts val="1450"/>
              </a:lnSpc>
              <a:buNone/>
            </a:pPr>
            <a:r>
              <a:rPr lang="en-US" sz="11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grep ' 404 ' access.log | wc -l</a:t>
            </a:r>
            <a:endParaRPr lang="en-US" sz="1100" dirty="0"/>
          </a:p>
          <a:p>
            <a:pPr marL="0" indent="0">
              <a:lnSpc>
                <a:spcPts val="1450"/>
              </a:lnSpc>
              <a:buNone/>
            </a:pPr>
            <a:r>
              <a:rPr lang="en-US" sz="11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213</a:t>
            </a:r>
            <a:endParaRPr lang="en-US" sz="1100" dirty="0"/>
          </a:p>
          <a:p>
            <a:pPr marL="0" indent="0">
              <a:lnSpc>
                <a:spcPts val="1450"/>
              </a:lnSpc>
              <a:buNone/>
            </a:pPr>
            <a:endParaRPr lang="en-US" sz="1100" dirty="0"/>
          </a:p>
          <a:p>
            <a:pPr marL="0" indent="0">
              <a:lnSpc>
                <a:spcPts val="1450"/>
              </a:lnSpc>
              <a:buNone/>
            </a:pPr>
            <a:r>
              <a:rPr lang="en-US" sz="11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python3 detection_engine.py</a:t>
            </a:r>
            <a:endParaRPr lang="en-US" sz="1100" dirty="0"/>
          </a:p>
          <a:p>
            <a:pPr marL="0" indent="0">
              <a:lnSpc>
                <a:spcPts val="1450"/>
              </a:lnSpc>
              <a:buNone/>
            </a:pPr>
            <a:r>
              <a:rPr lang="en-US" sz="1100"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[ALERT] Possible Brute Force Attack</a:t>
            </a:r>
            <a:endParaRPr lang="en-US" sz="1100" dirty="0"/>
          </a:p>
          <a:p>
            <a:pPr marL="0" indent="0">
              <a:lnSpc>
                <a:spcPts val="1450"/>
              </a:lnSpc>
              <a:buNone/>
            </a:pPr>
            <a:r>
              <a:rPr lang="en-US" sz="11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Source IP : 127.0.0.1</a:t>
            </a:r>
            <a:endParaRPr lang="en-US" sz="1100" dirty="0"/>
          </a:p>
          <a:p>
            <a:pPr marL="0" indent="0">
              <a:lnSpc>
                <a:spcPts val="1450"/>
              </a:lnSpc>
              <a:buNone/>
            </a:pPr>
            <a:r>
              <a:rPr lang="en-US" sz="11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Attempts  : 18</a:t>
            </a:r>
            <a:endParaRPr lang="en-US" sz="1100" dirty="0"/>
          </a:p>
        </p:txBody>
      </p:sp>
      <p:sp>
        <p:nvSpPr>
          <p:cNvPr id="7" name="Shape 5"/>
          <p:cNvSpPr/>
          <p:nvPr/>
        </p:nvSpPr>
        <p:spPr>
          <a:xfrm>
            <a:off x="566928" y="4892040"/>
            <a:ext cx="2743200" cy="0"/>
          </a:xfrm>
          <a:prstGeom prst="line">
            <a:avLst/>
          </a:prstGeom>
          <a:noFill/>
          <a:ln w="19050">
            <a:solidFill>
              <a:srgbClr val="2C343C"/>
            </a:solidFill>
            <a:prstDash val="solid"/>
          </a:ln>
        </p:spPr>
      </p:sp>
      <p:sp>
        <p:nvSpPr>
          <p:cNvPr id="8" name="Text 6"/>
          <p:cNvSpPr/>
          <p:nvPr/>
        </p:nvSpPr>
        <p:spPr>
          <a:xfrm>
            <a:off x="566928" y="5074920"/>
            <a:ext cx="7315200" cy="731520"/>
          </a:xfrm>
          <a:prstGeom prst="rect">
            <a:avLst/>
          </a:prstGeom>
          <a:noFill/>
        </p:spPr>
        <p:txBody>
          <a:bodyPr wrap="square" lIns="0" tIns="0" rIns="0" bIns="0" rtlCol="0" anchor="t"/>
          <a:lstStyle/>
          <a:p>
            <a:pPr marL="0" indent="0">
              <a:lnSpc>
                <a:spcPts val="1900"/>
              </a:lnSpc>
              <a:buNone/>
            </a:pPr>
            <a:r>
              <a:rPr lang="en-US" sz="1250" dirty="0">
                <a:solidFill>
                  <a:srgbClr val="AEB8C0"/>
                </a:solidFill>
                <a:latin typeface="Calibri" panose="020F0502020204030204" pitchFamily="34" charset="0"/>
                <a:ea typeface="Calibri" panose="020F0502020204030204" pitchFamily="34" charset="-122"/>
                <a:cs typeface="Calibri" panose="020F0502020204030204" pitchFamily="34" charset="-120"/>
              </a:rPr>
              <a:t>Presented by: Mahnoor Mehtab Abbasi |   Group Leader, Week 2</a:t>
            </a:r>
            <a:endParaRPr lang="en-US" sz="1250" dirty="0"/>
          </a:p>
          <a:p>
            <a:pPr marL="0" indent="0">
              <a:lnSpc>
                <a:spcPts val="1900"/>
              </a:lnSpc>
              <a:buNone/>
            </a:pPr>
            <a:r>
              <a:rPr lang="en-US" sz="1250" dirty="0">
                <a:solidFill>
                  <a:srgbClr val="AEB8C0"/>
                </a:solidFill>
                <a:latin typeface="Calibri" panose="020F0502020204030204" pitchFamily="34" charset="0"/>
                <a:ea typeface="Calibri" panose="020F0502020204030204" pitchFamily="34" charset="-122"/>
                <a:cs typeface="Calibri" panose="020F0502020204030204" pitchFamily="34" charset="-120"/>
              </a:rPr>
              <a:t>Environment: Kali Linux · Apache 2.4.68 · DVWA · Python 3</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STARTING POINT</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What the task asked, and how I split it</a:t>
            </a:r>
            <a:endParaRPr lang="en-US" sz="3000" dirty="0"/>
          </a:p>
        </p:txBody>
      </p:sp>
      <p:sp>
        <p:nvSpPr>
          <p:cNvPr id="4" name="Text 2"/>
          <p:cNvSpPr/>
          <p:nvPr/>
        </p:nvSpPr>
        <p:spPr>
          <a:xfrm>
            <a:off x="566928" y="1444752"/>
            <a:ext cx="5120640" cy="274320"/>
          </a:xfrm>
          <a:prstGeom prst="rect">
            <a:avLst/>
          </a:prstGeom>
          <a:noFill/>
        </p:spPr>
        <p:txBody>
          <a:bodyPr wrap="square" lIns="0" tIns="0" rIns="0" bIns="0" rtlCol="0" anchor="ctr"/>
          <a:lstStyle/>
          <a:p>
            <a:pPr marL="0" indent="0">
              <a:buNone/>
            </a:pPr>
            <a:r>
              <a:rPr lang="en-US" sz="1500" b="1" dirty="0">
                <a:solidFill>
                  <a:srgbClr val="12161A"/>
                </a:solidFill>
                <a:latin typeface="Arial" panose="020B0604020202020204" pitchFamily="34" charset="0"/>
                <a:ea typeface="Arial" panose="020B0604020202020204" pitchFamily="34" charset="-122"/>
                <a:cs typeface="Arial" panose="020B0604020202020204" pitchFamily="34" charset="-120"/>
              </a:rPr>
              <a:t>What was asked</a:t>
            </a:r>
            <a:endParaRPr lang="en-US" sz="1500" dirty="0"/>
          </a:p>
        </p:txBody>
      </p:sp>
      <p:grpSp>
        <p:nvGrpSpPr>
          <p:cNvPr id="26" name="Group 25"/>
          <p:cNvGrpSpPr/>
          <p:nvPr/>
        </p:nvGrpSpPr>
        <p:grpSpPr>
          <a:xfrm>
            <a:off x="567055" y="2441575"/>
            <a:ext cx="5120640" cy="2917190"/>
            <a:chOff x="893" y="2851"/>
            <a:chExt cx="8064" cy="4594"/>
          </a:xfrm>
        </p:grpSpPr>
        <p:sp>
          <p:nvSpPr>
            <p:cNvPr id="5" name="Shape 3"/>
            <p:cNvSpPr/>
            <p:nvPr/>
          </p:nvSpPr>
          <p:spPr>
            <a:xfrm>
              <a:off x="893" y="2880"/>
              <a:ext cx="490" cy="490"/>
            </a:xfrm>
            <a:prstGeom prst="ellipse">
              <a:avLst/>
            </a:prstGeom>
            <a:solidFill>
              <a:srgbClr val="12161A"/>
            </a:solidFill>
            <a:ln w="12700">
              <a:solidFill>
                <a:srgbClr val="12161A"/>
              </a:solidFill>
              <a:prstDash val="solid"/>
            </a:ln>
          </p:spPr>
        </p:sp>
        <p:sp>
          <p:nvSpPr>
            <p:cNvPr id="6" name="Text 4"/>
            <p:cNvSpPr/>
            <p:nvPr/>
          </p:nvSpPr>
          <p:spPr>
            <a:xfrm>
              <a:off x="893" y="2880"/>
              <a:ext cx="490" cy="49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200" dirty="0"/>
            </a:p>
          </p:txBody>
        </p:sp>
        <p:sp>
          <p:nvSpPr>
            <p:cNvPr id="8" name="Shape 6"/>
            <p:cNvSpPr/>
            <p:nvPr/>
          </p:nvSpPr>
          <p:spPr>
            <a:xfrm>
              <a:off x="893" y="4075"/>
              <a:ext cx="490" cy="490"/>
            </a:xfrm>
            <a:prstGeom prst="ellipse">
              <a:avLst/>
            </a:prstGeom>
            <a:solidFill>
              <a:srgbClr val="12161A"/>
            </a:solidFill>
            <a:ln w="12700">
              <a:solidFill>
                <a:srgbClr val="12161A"/>
              </a:solidFill>
              <a:prstDash val="solid"/>
            </a:ln>
          </p:spPr>
        </p:sp>
        <p:sp>
          <p:nvSpPr>
            <p:cNvPr id="9" name="Text 7"/>
            <p:cNvSpPr/>
            <p:nvPr/>
          </p:nvSpPr>
          <p:spPr>
            <a:xfrm>
              <a:off x="893" y="4075"/>
              <a:ext cx="490" cy="49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200" dirty="0"/>
            </a:p>
          </p:txBody>
        </p:sp>
        <p:sp>
          <p:nvSpPr>
            <p:cNvPr id="11" name="Shape 9"/>
            <p:cNvSpPr/>
            <p:nvPr/>
          </p:nvSpPr>
          <p:spPr>
            <a:xfrm>
              <a:off x="893" y="5270"/>
              <a:ext cx="490" cy="490"/>
            </a:xfrm>
            <a:prstGeom prst="ellipse">
              <a:avLst/>
            </a:prstGeom>
            <a:solidFill>
              <a:srgbClr val="12161A"/>
            </a:solidFill>
            <a:ln w="12700">
              <a:solidFill>
                <a:srgbClr val="12161A"/>
              </a:solidFill>
              <a:prstDash val="solid"/>
            </a:ln>
          </p:spPr>
        </p:sp>
        <p:sp>
          <p:nvSpPr>
            <p:cNvPr id="12" name="Text 10"/>
            <p:cNvSpPr/>
            <p:nvPr/>
          </p:nvSpPr>
          <p:spPr>
            <a:xfrm>
              <a:off x="893" y="5270"/>
              <a:ext cx="490" cy="49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200" dirty="0"/>
            </a:p>
          </p:txBody>
        </p:sp>
        <p:sp>
          <p:nvSpPr>
            <p:cNvPr id="14" name="Shape 12"/>
            <p:cNvSpPr/>
            <p:nvPr/>
          </p:nvSpPr>
          <p:spPr>
            <a:xfrm>
              <a:off x="893" y="6466"/>
              <a:ext cx="490" cy="490"/>
            </a:xfrm>
            <a:prstGeom prst="ellipse">
              <a:avLst/>
            </a:prstGeom>
            <a:solidFill>
              <a:srgbClr val="12161A"/>
            </a:solidFill>
            <a:ln w="12700">
              <a:solidFill>
                <a:srgbClr val="12161A"/>
              </a:solidFill>
              <a:prstDash val="solid"/>
            </a:ln>
          </p:spPr>
        </p:sp>
        <p:sp>
          <p:nvSpPr>
            <p:cNvPr id="15" name="Text 13"/>
            <p:cNvSpPr/>
            <p:nvPr/>
          </p:nvSpPr>
          <p:spPr>
            <a:xfrm>
              <a:off x="893" y="6466"/>
              <a:ext cx="490" cy="49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200" dirty="0"/>
            </a:p>
          </p:txBody>
        </p:sp>
        <p:grpSp>
          <p:nvGrpSpPr>
            <p:cNvPr id="25" name="Group 24"/>
            <p:cNvGrpSpPr/>
            <p:nvPr/>
          </p:nvGrpSpPr>
          <p:grpSpPr>
            <a:xfrm>
              <a:off x="1613" y="2851"/>
              <a:ext cx="7344" cy="4594"/>
              <a:chOff x="1613" y="2851"/>
              <a:chExt cx="7344" cy="4594"/>
            </a:xfrm>
          </p:grpSpPr>
          <p:sp>
            <p:nvSpPr>
              <p:cNvPr id="7" name="Text 5"/>
              <p:cNvSpPr/>
              <p:nvPr/>
            </p:nvSpPr>
            <p:spPr>
              <a:xfrm>
                <a:off x="1613" y="2851"/>
                <a:ext cx="7344" cy="1008"/>
              </a:xfrm>
              <a:prstGeom prst="rect">
                <a:avLst/>
              </a:prstGeom>
              <a:noFill/>
            </p:spPr>
            <p:txBody>
              <a:bodyPr wrap="square" lIns="0" tIns="0" rIns="0" bIns="0" rtlCol="0" anchor="t"/>
              <a:lstStyle/>
              <a:p>
                <a:pPr marL="0" indent="0">
                  <a:lnSpc>
                    <a:spcPts val="1700"/>
                  </a:lnSpc>
                  <a:buNone/>
                </a:pPr>
                <a:r>
                  <a:rPr lang="en-US" sz="1300" dirty="0">
                    <a:solidFill>
                      <a:srgbClr val="3C464F"/>
                    </a:solidFill>
                    <a:latin typeface="Calibri" panose="020F0502020204030204" pitchFamily="34" charset="0"/>
                    <a:ea typeface="Calibri" panose="020F0502020204030204" pitchFamily="34" charset="-122"/>
                    <a:cs typeface="Calibri" panose="020F0502020204030204" pitchFamily="34" charset="-120"/>
                  </a:rPr>
                  <a:t>Get or generate a sample log file (Apache / Nginx access log)</a:t>
                </a:r>
                <a:endParaRPr lang="en-US" sz="1300" dirty="0"/>
              </a:p>
            </p:txBody>
          </p:sp>
          <p:sp>
            <p:nvSpPr>
              <p:cNvPr id="10" name="Text 8"/>
              <p:cNvSpPr/>
              <p:nvPr/>
            </p:nvSpPr>
            <p:spPr>
              <a:xfrm>
                <a:off x="1613" y="4046"/>
                <a:ext cx="7344" cy="1008"/>
              </a:xfrm>
              <a:prstGeom prst="rect">
                <a:avLst/>
              </a:prstGeom>
              <a:noFill/>
            </p:spPr>
            <p:txBody>
              <a:bodyPr wrap="square" lIns="0" tIns="0" rIns="0" bIns="0" rtlCol="0" anchor="t"/>
              <a:lstStyle/>
              <a:p>
                <a:pPr marL="0" indent="0">
                  <a:lnSpc>
                    <a:spcPts val="1700"/>
                  </a:lnSpc>
                  <a:buNone/>
                </a:pPr>
                <a:r>
                  <a:rPr lang="en-US" sz="1300" dirty="0">
                    <a:solidFill>
                      <a:srgbClr val="3C464F"/>
                    </a:solidFill>
                    <a:latin typeface="Calibri" panose="020F0502020204030204" pitchFamily="34" charset="0"/>
                    <a:ea typeface="Calibri" panose="020F0502020204030204" pitchFamily="34" charset="-122"/>
                    <a:cs typeface="Calibri" panose="020F0502020204030204" pitchFamily="34" charset="-120"/>
                  </a:rPr>
                  <a:t>Find suspicious patterns — repeated failed logins, scanning, unusual user agents</a:t>
                </a:r>
                <a:endParaRPr lang="en-US" sz="1300" dirty="0"/>
              </a:p>
            </p:txBody>
          </p:sp>
          <p:sp>
            <p:nvSpPr>
              <p:cNvPr id="13" name="Text 11"/>
              <p:cNvSpPr/>
              <p:nvPr/>
            </p:nvSpPr>
            <p:spPr>
              <a:xfrm>
                <a:off x="1613" y="5242"/>
                <a:ext cx="7344" cy="1008"/>
              </a:xfrm>
              <a:prstGeom prst="rect">
                <a:avLst/>
              </a:prstGeom>
              <a:noFill/>
            </p:spPr>
            <p:txBody>
              <a:bodyPr wrap="square" lIns="0" tIns="0" rIns="0" bIns="0" rtlCol="0" anchor="t"/>
              <a:lstStyle/>
              <a:p>
                <a:pPr marL="0" indent="0">
                  <a:lnSpc>
                    <a:spcPts val="1700"/>
                  </a:lnSpc>
                  <a:buNone/>
                </a:pPr>
                <a:r>
                  <a:rPr lang="en-US" sz="1300" dirty="0">
                    <a:solidFill>
                      <a:srgbClr val="3C464F"/>
                    </a:solidFill>
                    <a:latin typeface="Calibri" panose="020F0502020204030204" pitchFamily="34" charset="0"/>
                    <a:ea typeface="Calibri" panose="020F0502020204030204" pitchFamily="34" charset="-122"/>
                    <a:cs typeface="Calibri" panose="020F0502020204030204" pitchFamily="34" charset="-120"/>
                  </a:rPr>
                  <a:t>Write up the findings with log excerpts that back them up</a:t>
                </a:r>
                <a:endParaRPr lang="en-US" sz="1300" dirty="0"/>
              </a:p>
            </p:txBody>
          </p:sp>
          <p:sp>
            <p:nvSpPr>
              <p:cNvPr id="16" name="Text 14"/>
              <p:cNvSpPr/>
              <p:nvPr/>
            </p:nvSpPr>
            <p:spPr>
              <a:xfrm>
                <a:off x="1613" y="6437"/>
                <a:ext cx="7344" cy="1008"/>
              </a:xfrm>
              <a:prstGeom prst="rect">
                <a:avLst/>
              </a:prstGeom>
              <a:noFill/>
            </p:spPr>
            <p:txBody>
              <a:bodyPr wrap="square" lIns="0" tIns="0" rIns="0" bIns="0" rtlCol="0" anchor="t"/>
              <a:lstStyle/>
              <a:p>
                <a:pPr marL="0" indent="0">
                  <a:lnSpc>
                    <a:spcPts val="1700"/>
                  </a:lnSpc>
                  <a:buNone/>
                </a:pPr>
                <a:r>
                  <a:rPr lang="en-US" sz="1300" dirty="0">
                    <a:solidFill>
                      <a:srgbClr val="3C464F"/>
                    </a:solidFill>
                    <a:latin typeface="Calibri" panose="020F0502020204030204" pitchFamily="34" charset="0"/>
                    <a:ea typeface="Calibri" panose="020F0502020204030204" pitchFamily="34" charset="-122"/>
                    <a:cs typeface="Calibri" panose="020F0502020204030204" pitchFamily="34" charset="-120"/>
                  </a:rPr>
                  <a:t>Suggest 2–3 detection rules based on what I found</a:t>
                </a:r>
                <a:endParaRPr lang="en-US" sz="1300" dirty="0"/>
              </a:p>
            </p:txBody>
          </p:sp>
        </p:grpSp>
      </p:grpSp>
      <p:sp>
        <p:nvSpPr>
          <p:cNvPr id="17" name="Text 15"/>
          <p:cNvSpPr/>
          <p:nvPr/>
        </p:nvSpPr>
        <p:spPr>
          <a:xfrm>
            <a:off x="6400800" y="1444752"/>
            <a:ext cx="5212080" cy="274320"/>
          </a:xfrm>
          <a:prstGeom prst="rect">
            <a:avLst/>
          </a:prstGeom>
          <a:noFill/>
        </p:spPr>
        <p:txBody>
          <a:bodyPr wrap="square" lIns="0" tIns="0" rIns="0" bIns="0" rtlCol="0" anchor="ctr"/>
          <a:lstStyle/>
          <a:p>
            <a:pPr marL="0" indent="0">
              <a:buNone/>
            </a:pPr>
            <a:r>
              <a:rPr lang="en-US" sz="1500" b="1" dirty="0">
                <a:solidFill>
                  <a:srgbClr val="12161A"/>
                </a:solidFill>
                <a:latin typeface="Arial" panose="020B0604020202020204" pitchFamily="34" charset="0"/>
                <a:ea typeface="Arial" panose="020B0604020202020204" pitchFamily="34" charset="-122"/>
                <a:cs typeface="Arial" panose="020B0604020202020204" pitchFamily="34" charset="-120"/>
              </a:rPr>
              <a:t>How I actually did it</a:t>
            </a:r>
            <a:endParaRPr lang="en-US" sz="1500" dirty="0"/>
          </a:p>
        </p:txBody>
      </p:sp>
      <p:sp>
        <p:nvSpPr>
          <p:cNvPr id="18" name="Shape 16"/>
          <p:cNvSpPr/>
          <p:nvPr/>
        </p:nvSpPr>
        <p:spPr>
          <a:xfrm>
            <a:off x="6400800" y="1828800"/>
            <a:ext cx="5221224" cy="1417320"/>
          </a:xfrm>
          <a:prstGeom prst="roundRect">
            <a:avLst>
              <a:gd name="adj" fmla="val 3226"/>
            </a:avLst>
          </a:prstGeom>
          <a:solidFill>
            <a:srgbClr val="F5F7F9"/>
          </a:solidFill>
          <a:ln w="12700">
            <a:solidFill>
              <a:srgbClr val="DDE3E8"/>
            </a:solidFill>
            <a:prstDash val="solid"/>
          </a:ln>
        </p:spPr>
      </p:sp>
      <p:sp>
        <p:nvSpPr>
          <p:cNvPr id="19" name="Text 17"/>
          <p:cNvSpPr/>
          <p:nvPr/>
        </p:nvSpPr>
        <p:spPr>
          <a:xfrm>
            <a:off x="6583680" y="1975104"/>
            <a:ext cx="4855464" cy="274320"/>
          </a:xfrm>
          <a:prstGeom prst="rect">
            <a:avLst/>
          </a:prstGeom>
          <a:noFill/>
        </p:spPr>
        <p:txBody>
          <a:bodyPr wrap="square" lIns="0" tIns="0" rIns="0" bIns="0" rtlCol="0" anchor="t"/>
          <a:lstStyle/>
          <a:p>
            <a:pPr marL="0" indent="0">
              <a:buNone/>
            </a:pPr>
            <a:r>
              <a:rPr lang="en-US" sz="1300" b="1" dirty="0">
                <a:solidFill>
                  <a:srgbClr val="2C6E9B"/>
                </a:solidFill>
                <a:latin typeface="Arial" panose="020B0604020202020204" pitchFamily="34" charset="0"/>
                <a:ea typeface="Arial" panose="020B0604020202020204" pitchFamily="34" charset="-122"/>
                <a:cs typeface="Arial" panose="020B0604020202020204" pitchFamily="34" charset="-120"/>
              </a:rPr>
              <a:t>PHASE 1  ·  Public sample log</a:t>
            </a:r>
            <a:endParaRPr lang="en-US" sz="1300" dirty="0"/>
          </a:p>
        </p:txBody>
      </p:sp>
      <p:sp>
        <p:nvSpPr>
          <p:cNvPr id="20" name="Text 18"/>
          <p:cNvSpPr/>
          <p:nvPr/>
        </p:nvSpPr>
        <p:spPr>
          <a:xfrm>
            <a:off x="6583680" y="2286000"/>
            <a:ext cx="4855464" cy="795528"/>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10,000-line Apache log from the Elastic examples repo. Real internet traffic from 2015 — good for practising grep and awk on data I didn't create.</a:t>
            </a:r>
            <a:endParaRPr lang="en-US" sz="1200" dirty="0"/>
          </a:p>
        </p:txBody>
      </p:sp>
      <p:sp>
        <p:nvSpPr>
          <p:cNvPr id="21" name="Shape 19"/>
          <p:cNvSpPr/>
          <p:nvPr/>
        </p:nvSpPr>
        <p:spPr>
          <a:xfrm>
            <a:off x="6400800" y="3383280"/>
            <a:ext cx="5221224" cy="1508760"/>
          </a:xfrm>
          <a:prstGeom prst="roundRect">
            <a:avLst>
              <a:gd name="adj" fmla="val 3030"/>
            </a:avLst>
          </a:prstGeom>
          <a:solidFill>
            <a:srgbClr val="F5F7F9"/>
          </a:solidFill>
          <a:ln w="12700">
            <a:solidFill>
              <a:srgbClr val="DDE3E8"/>
            </a:solidFill>
            <a:prstDash val="solid"/>
          </a:ln>
        </p:spPr>
      </p:sp>
      <p:sp>
        <p:nvSpPr>
          <p:cNvPr id="22" name="Text 20"/>
          <p:cNvSpPr/>
          <p:nvPr/>
        </p:nvSpPr>
        <p:spPr>
          <a:xfrm>
            <a:off x="6583680" y="3529584"/>
            <a:ext cx="4855464" cy="274320"/>
          </a:xfrm>
          <a:prstGeom prst="rect">
            <a:avLst/>
          </a:prstGeom>
          <a:noFill/>
        </p:spPr>
        <p:txBody>
          <a:bodyPr wrap="square" lIns="0" tIns="0" rIns="0" bIns="0" rtlCol="0" anchor="t"/>
          <a:lstStyle/>
          <a:p>
            <a:pPr marL="0" indent="0">
              <a:buNone/>
            </a:pPr>
            <a:r>
              <a:rPr lang="en-US" sz="1300" b="1" dirty="0">
                <a:solidFill>
                  <a:srgbClr val="2FA85D"/>
                </a:solidFill>
                <a:latin typeface="Arial" panose="020B0604020202020204" pitchFamily="34" charset="0"/>
                <a:ea typeface="Arial" panose="020B0604020202020204" pitchFamily="34" charset="-122"/>
                <a:cs typeface="Arial" panose="020B0604020202020204" pitchFamily="34" charset="-120"/>
              </a:rPr>
              <a:t>PHASE 2  ·  My own lab</a:t>
            </a:r>
            <a:endParaRPr lang="en-US" sz="1300" dirty="0"/>
          </a:p>
        </p:txBody>
      </p:sp>
      <p:sp>
        <p:nvSpPr>
          <p:cNvPr id="23" name="Text 21"/>
          <p:cNvSpPr/>
          <p:nvPr/>
        </p:nvSpPr>
        <p:spPr>
          <a:xfrm>
            <a:off x="6583680" y="3840480"/>
            <a:ext cx="4855464" cy="886968"/>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Apache + PHP + MariaDB + DVWA on Kali. I attacked it myself, so I knew exactly which attack produced which log line — then wrote Python to find them.</a:t>
            </a:r>
            <a:endParaRPr lang="en-US" sz="1200" dirty="0"/>
          </a:p>
        </p:txBody>
      </p:sp>
      <p:sp>
        <p:nvSpPr>
          <p:cNvPr id="24" name="Text 22"/>
          <p:cNvSpPr/>
          <p:nvPr/>
        </p:nvSpPr>
        <p:spPr>
          <a:xfrm>
            <a:off x="6400800" y="5047488"/>
            <a:ext cx="5221224" cy="457200"/>
          </a:xfrm>
          <a:prstGeom prst="rect">
            <a:avLst/>
          </a:prstGeom>
          <a:noFill/>
        </p:spPr>
        <p:txBody>
          <a:bodyPr wrap="square" lIns="0" tIns="0" rIns="0" bIns="0" rtlCol="0" anchor="t"/>
          <a:lstStyle/>
          <a:p>
            <a:pPr marL="0" indent="0">
              <a:buNone/>
            </a:pPr>
            <a:r>
              <a:rPr lang="en-US" sz="1200" i="1" dirty="0">
                <a:solidFill>
                  <a:srgbClr val="6B7680"/>
                </a:solidFill>
                <a:latin typeface="Calibri" panose="020F0502020204030204" pitchFamily="34" charset="0"/>
                <a:ea typeface="Calibri" panose="020F0502020204030204" pitchFamily="34" charset="-122"/>
                <a:cs typeface="Calibri" panose="020F0502020204030204" pitchFamily="34" charset="-120"/>
              </a:rPr>
              <a:t>Phase 1 taught me what to look for. Phase 2 let me check whether my rules actually fire.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PHASE 1 · STEP 1</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Getting a real log file to work on</a:t>
            </a:r>
            <a:endParaRPr lang="en-US" sz="3000" dirty="0"/>
          </a:p>
        </p:txBody>
      </p:sp>
      <p:sp>
        <p:nvSpPr>
          <p:cNvPr id="4" name="Text 2"/>
          <p:cNvSpPr/>
          <p:nvPr/>
        </p:nvSpPr>
        <p:spPr>
          <a:xfrm>
            <a:off x="566928" y="1207008"/>
            <a:ext cx="11055096" cy="365760"/>
          </a:xfrm>
          <a:prstGeom prst="rect">
            <a:avLst/>
          </a:prstGeom>
          <a:noFill/>
        </p:spPr>
        <p:txBody>
          <a:bodyPr wrap="square" lIns="0" tIns="0" rIns="0" bIns="0" rtlCol="0" anchor="t"/>
          <a:lstStyle/>
          <a:p>
            <a:pPr marL="0" indent="0">
              <a:buNone/>
            </a:pPr>
            <a:endParaRPr lang="en-US" sz="1400" dirty="0"/>
          </a:p>
        </p:txBody>
      </p:sp>
      <p:grpSp>
        <p:nvGrpSpPr>
          <p:cNvPr id="17" name="Group 16"/>
          <p:cNvGrpSpPr/>
          <p:nvPr/>
        </p:nvGrpSpPr>
        <p:grpSpPr>
          <a:xfrm>
            <a:off x="713740" y="2523490"/>
            <a:ext cx="6720840" cy="2185670"/>
            <a:chOff x="893" y="2808"/>
            <a:chExt cx="10584" cy="3442"/>
          </a:xfrm>
        </p:grpSpPr>
        <p:sp>
          <p:nvSpPr>
            <p:cNvPr id="5" name="Shape 3"/>
            <p:cNvSpPr/>
            <p:nvPr/>
          </p:nvSpPr>
          <p:spPr>
            <a:xfrm>
              <a:off x="893" y="2808"/>
              <a:ext cx="10584" cy="3442"/>
            </a:xfrm>
            <a:prstGeom prst="roundRect">
              <a:avLst>
                <a:gd name="adj" fmla="val 2510"/>
              </a:avLst>
            </a:prstGeom>
            <a:solidFill>
              <a:srgbClr val="1B2026"/>
            </a:solidFill>
            <a:ln w="12700">
              <a:solidFill>
                <a:srgbClr val="2C343C"/>
              </a:solidFill>
              <a:prstDash val="solid"/>
            </a:ln>
          </p:spPr>
        </p:sp>
        <p:sp>
          <p:nvSpPr>
            <p:cNvPr id="6" name="Text 4"/>
            <p:cNvSpPr/>
            <p:nvPr/>
          </p:nvSpPr>
          <p:spPr>
            <a:xfrm>
              <a:off x="1123" y="3024"/>
              <a:ext cx="10123" cy="3010"/>
            </a:xfrm>
            <a:prstGeom prst="rect">
              <a:avLst/>
            </a:prstGeom>
            <a:noFill/>
          </p:spPr>
          <p:txBody>
            <a:bodyPr wrap="square" lIns="0" tIns="0" rIns="0" bIns="0" rtlCol="0" anchor="t"/>
            <a:lstStyle/>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mkdir log-analysis &amp;&amp; cd log-analysis</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wget https://raw.githubusercontent.com/elastic/examples/</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master/Common%20Data%20Formats/apache_logs/apache_logs</a:t>
              </a:r>
              <a:endParaRPr lang="en-US" sz="1050" dirty="0"/>
            </a:p>
            <a:p>
              <a:pPr marL="0" indent="0">
                <a:lnSpc>
                  <a:spcPts val="1385"/>
                </a:lnSpc>
                <a:buNone/>
              </a:pPr>
              <a:r>
                <a:rPr lang="en-US" sz="105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Length: 2370709 (2.3M) [text/plain]</a:t>
              </a:r>
              <a:endParaRPr lang="en-US" sz="1050" dirty="0"/>
            </a:p>
            <a:p>
              <a:pPr marL="0" indent="0">
                <a:lnSpc>
                  <a:spcPts val="1385"/>
                </a:lnSpc>
                <a:buNone/>
              </a:pPr>
              <a:r>
                <a:rPr lang="en-US" sz="105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'apache_logs' saved [2370709/2370709]</a:t>
              </a:r>
              <a:endParaRPr lang="en-US" sz="1050" dirty="0"/>
            </a:p>
            <a:p>
              <a:pPr marL="0" indent="0">
                <a:lnSpc>
                  <a:spcPts val="1385"/>
                </a:lnSpc>
                <a:buNone/>
              </a:pP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wc -l apache_logs</a:t>
              </a:r>
              <a:endParaRPr lang="en-US" sz="1050" dirty="0"/>
            </a:p>
            <a:p>
              <a:pPr marL="0" indent="0">
                <a:lnSpc>
                  <a:spcPts val="1385"/>
                </a:lnSpc>
                <a:buNone/>
              </a:pPr>
              <a:r>
                <a:rPr lang="en-US" sz="105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10000 apache_logs</a:t>
              </a:r>
              <a:endParaRPr lang="en-US" sz="1050" dirty="0"/>
            </a:p>
            <a:p>
              <a:pPr marL="0" indent="0">
                <a:lnSpc>
                  <a:spcPts val="1385"/>
                </a:lnSpc>
                <a:buNone/>
              </a:pP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mv apache_logs access.log        # easier to type</a:t>
              </a:r>
              <a:endParaRPr lang="en-US" sz="1050" dirty="0"/>
            </a:p>
          </p:txBody>
        </p:sp>
      </p:grpSp>
      <p:sp>
        <p:nvSpPr>
          <p:cNvPr id="7" name="Text 5"/>
          <p:cNvSpPr/>
          <p:nvPr/>
        </p:nvSpPr>
        <p:spPr>
          <a:xfrm>
            <a:off x="7680960" y="1874520"/>
            <a:ext cx="1828800" cy="566928"/>
          </a:xfrm>
          <a:prstGeom prst="rect">
            <a:avLst/>
          </a:prstGeom>
          <a:noFill/>
        </p:spPr>
        <p:txBody>
          <a:bodyPr wrap="square" lIns="0" tIns="0" rIns="0" bIns="0" rtlCol="0" anchor="t"/>
          <a:lstStyle/>
          <a:p>
            <a:pPr marL="0" indent="0" algn="l">
              <a:buNone/>
            </a:pPr>
            <a:r>
              <a:rPr lang="en-US" sz="3600" b="1" dirty="0">
                <a:solidFill>
                  <a:srgbClr val="12161A"/>
                </a:solidFill>
                <a:latin typeface="Arial" panose="020B0604020202020204" pitchFamily="34" charset="0"/>
                <a:ea typeface="Arial" panose="020B0604020202020204" pitchFamily="34" charset="-122"/>
                <a:cs typeface="Arial" panose="020B0604020202020204" pitchFamily="34" charset="-120"/>
              </a:rPr>
              <a:t>10,000</a:t>
            </a:r>
            <a:endParaRPr lang="en-US" sz="3600" dirty="0"/>
          </a:p>
        </p:txBody>
      </p:sp>
      <p:sp>
        <p:nvSpPr>
          <p:cNvPr id="8" name="Text 6"/>
          <p:cNvSpPr/>
          <p:nvPr/>
        </p:nvSpPr>
        <p:spPr>
          <a:xfrm>
            <a:off x="7680960" y="2423160"/>
            <a:ext cx="1828800" cy="457200"/>
          </a:xfrm>
          <a:prstGeom prst="rect">
            <a:avLst/>
          </a:prstGeom>
          <a:noFill/>
        </p:spPr>
        <p:txBody>
          <a:bodyPr wrap="square" lIns="0" tIns="0" rIns="0" bIns="0" rtlCol="0" anchor="t"/>
          <a:lstStyle/>
          <a:p>
            <a:pPr marL="0" indent="0" algn="l">
              <a:buNone/>
            </a:pPr>
            <a:r>
              <a:rPr lang="en-US" sz="1200" dirty="0">
                <a:solidFill>
                  <a:srgbClr val="6B7680"/>
                </a:solidFill>
                <a:latin typeface="Calibri" panose="020F0502020204030204" pitchFamily="34" charset="0"/>
                <a:ea typeface="Calibri" panose="020F0502020204030204" pitchFamily="34" charset="-122"/>
                <a:cs typeface="Calibri" panose="020F0502020204030204" pitchFamily="34" charset="-120"/>
              </a:rPr>
              <a:t>lines of traffic</a:t>
            </a:r>
            <a:endParaRPr lang="en-US" sz="1200" dirty="0"/>
          </a:p>
        </p:txBody>
      </p:sp>
      <p:sp>
        <p:nvSpPr>
          <p:cNvPr id="9" name="Text 7"/>
          <p:cNvSpPr/>
          <p:nvPr/>
        </p:nvSpPr>
        <p:spPr>
          <a:xfrm>
            <a:off x="9784080" y="1874520"/>
            <a:ext cx="1828800" cy="566928"/>
          </a:xfrm>
          <a:prstGeom prst="rect">
            <a:avLst/>
          </a:prstGeom>
          <a:noFill/>
        </p:spPr>
        <p:txBody>
          <a:bodyPr wrap="square" lIns="0" tIns="0" rIns="0" bIns="0" rtlCol="0" anchor="t"/>
          <a:lstStyle/>
          <a:p>
            <a:pPr marL="0" indent="0" algn="l">
              <a:buNone/>
            </a:pPr>
            <a:r>
              <a:rPr lang="en-US" sz="3600" b="1" dirty="0">
                <a:solidFill>
                  <a:srgbClr val="12161A"/>
                </a:solidFill>
                <a:latin typeface="Arial" panose="020B0604020202020204" pitchFamily="34" charset="0"/>
                <a:ea typeface="Arial" panose="020B0604020202020204" pitchFamily="34" charset="-122"/>
                <a:cs typeface="Arial" panose="020B0604020202020204" pitchFamily="34" charset="-120"/>
              </a:rPr>
              <a:t>2.3 MB</a:t>
            </a:r>
            <a:endParaRPr lang="en-US" sz="3600" dirty="0"/>
          </a:p>
        </p:txBody>
      </p:sp>
      <p:sp>
        <p:nvSpPr>
          <p:cNvPr id="10" name="Text 8"/>
          <p:cNvSpPr/>
          <p:nvPr/>
        </p:nvSpPr>
        <p:spPr>
          <a:xfrm>
            <a:off x="9784080" y="2423160"/>
            <a:ext cx="1828800" cy="457200"/>
          </a:xfrm>
          <a:prstGeom prst="rect">
            <a:avLst/>
          </a:prstGeom>
          <a:noFill/>
        </p:spPr>
        <p:txBody>
          <a:bodyPr wrap="square" lIns="0" tIns="0" rIns="0" bIns="0" rtlCol="0" anchor="t"/>
          <a:lstStyle/>
          <a:p>
            <a:pPr marL="0" indent="0" algn="l">
              <a:buNone/>
            </a:pPr>
            <a:r>
              <a:rPr lang="en-US" sz="1200" dirty="0">
                <a:solidFill>
                  <a:srgbClr val="6B7680"/>
                </a:solidFill>
                <a:latin typeface="Calibri" panose="020F0502020204030204" pitchFamily="34" charset="0"/>
                <a:ea typeface="Calibri" panose="020F0502020204030204" pitchFamily="34" charset="-122"/>
                <a:cs typeface="Calibri" panose="020F0502020204030204" pitchFamily="34" charset="-120"/>
              </a:rPr>
              <a:t>raw file size</a:t>
            </a:r>
            <a:endParaRPr lang="en-US" sz="1200" dirty="0"/>
          </a:p>
        </p:txBody>
      </p:sp>
      <p:sp>
        <p:nvSpPr>
          <p:cNvPr id="11" name="Text 9"/>
          <p:cNvSpPr/>
          <p:nvPr/>
        </p:nvSpPr>
        <p:spPr>
          <a:xfrm>
            <a:off x="7680960" y="2971800"/>
            <a:ext cx="3931920" cy="566928"/>
          </a:xfrm>
          <a:prstGeom prst="rect">
            <a:avLst/>
          </a:prstGeom>
          <a:noFill/>
        </p:spPr>
        <p:txBody>
          <a:bodyPr wrap="square" lIns="0" tIns="0" rIns="0" bIns="0" rtlCol="0" anchor="t"/>
          <a:lstStyle/>
          <a:p>
            <a:pPr marL="0" indent="0" algn="l">
              <a:buNone/>
            </a:pPr>
            <a:r>
              <a:rPr lang="en-US" sz="3600" b="1" dirty="0">
                <a:solidFill>
                  <a:srgbClr val="12161A"/>
                </a:solidFill>
                <a:latin typeface="Arial" panose="020B0604020202020204" pitchFamily="34" charset="0"/>
                <a:ea typeface="Arial" panose="020B0604020202020204" pitchFamily="34" charset="-122"/>
                <a:cs typeface="Arial" panose="020B0604020202020204" pitchFamily="34" charset="-120"/>
              </a:rPr>
              <a:t>17 May 2015</a:t>
            </a:r>
            <a:endParaRPr lang="en-US" sz="3600" dirty="0"/>
          </a:p>
        </p:txBody>
      </p:sp>
      <p:sp>
        <p:nvSpPr>
          <p:cNvPr id="12" name="Text 10"/>
          <p:cNvSpPr/>
          <p:nvPr/>
        </p:nvSpPr>
        <p:spPr>
          <a:xfrm>
            <a:off x="7680960" y="3520440"/>
            <a:ext cx="3931920" cy="457200"/>
          </a:xfrm>
          <a:prstGeom prst="rect">
            <a:avLst/>
          </a:prstGeom>
          <a:noFill/>
        </p:spPr>
        <p:txBody>
          <a:bodyPr wrap="square" lIns="0" tIns="0" rIns="0" bIns="0" rtlCol="0" anchor="t"/>
          <a:lstStyle/>
          <a:p>
            <a:pPr marL="0" indent="0" algn="l">
              <a:buNone/>
            </a:pPr>
            <a:r>
              <a:rPr lang="en-US" sz="1200" dirty="0">
                <a:solidFill>
                  <a:srgbClr val="6B7680"/>
                </a:solidFill>
                <a:latin typeface="Calibri" panose="020F0502020204030204" pitchFamily="34" charset="0"/>
                <a:ea typeface="Calibri" panose="020F0502020204030204" pitchFamily="34" charset="-122"/>
                <a:cs typeface="Calibri" panose="020F0502020204030204" pitchFamily="34" charset="-120"/>
              </a:rPr>
              <a:t>single day of requests</a:t>
            </a:r>
            <a:endParaRPr lang="en-US" sz="1200" dirty="0"/>
          </a:p>
        </p:txBody>
      </p:sp>
      <p:sp>
        <p:nvSpPr>
          <p:cNvPr id="13" name="Shape 11"/>
          <p:cNvSpPr/>
          <p:nvPr/>
        </p:nvSpPr>
        <p:spPr>
          <a:xfrm>
            <a:off x="7680960" y="4114800"/>
            <a:ext cx="3941064" cy="1371600"/>
          </a:xfrm>
          <a:prstGeom prst="roundRect">
            <a:avLst>
              <a:gd name="adj" fmla="val 3333"/>
            </a:avLst>
          </a:prstGeom>
          <a:solidFill>
            <a:srgbClr val="F5F7F9"/>
          </a:solidFill>
          <a:ln w="12700">
            <a:solidFill>
              <a:srgbClr val="DDE3E8"/>
            </a:solidFill>
            <a:prstDash val="solid"/>
          </a:ln>
        </p:spPr>
      </p:sp>
      <p:sp>
        <p:nvSpPr>
          <p:cNvPr id="14" name="Text 12"/>
          <p:cNvSpPr/>
          <p:nvPr/>
        </p:nvSpPr>
        <p:spPr>
          <a:xfrm>
            <a:off x="7863840" y="4261104"/>
            <a:ext cx="3575304" cy="274320"/>
          </a:xfrm>
          <a:prstGeom prst="rect">
            <a:avLst/>
          </a:prstGeom>
          <a:noFill/>
        </p:spPr>
        <p:txBody>
          <a:bodyPr wrap="square" lIns="0" tIns="0" rIns="0" bIns="0" rtlCol="0" anchor="t"/>
          <a:lstStyle/>
          <a:p>
            <a:pPr marL="0" indent="0">
              <a:buNone/>
            </a:pPr>
            <a:r>
              <a:rPr lang="en-US" sz="1300" b="1" dirty="0">
                <a:solidFill>
                  <a:srgbClr val="2C6E9B"/>
                </a:solidFill>
                <a:latin typeface="Arial" panose="020B0604020202020204" pitchFamily="34" charset="0"/>
                <a:ea typeface="Arial" panose="020B0604020202020204" pitchFamily="34" charset="-122"/>
                <a:cs typeface="Arial" panose="020B0604020202020204" pitchFamily="34" charset="-120"/>
              </a:rPr>
              <a:t>Why this file</a:t>
            </a:r>
            <a:endParaRPr lang="en-US" sz="1300" dirty="0"/>
          </a:p>
        </p:txBody>
      </p:sp>
      <p:sp>
        <p:nvSpPr>
          <p:cNvPr id="15" name="Text 13"/>
          <p:cNvSpPr/>
          <p:nvPr/>
        </p:nvSpPr>
        <p:spPr>
          <a:xfrm>
            <a:off x="7863840" y="4572000"/>
            <a:ext cx="3575304" cy="749808"/>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It is a normal public web server log — mostly legitimate visitors, with a small amount of hostile traffic mixed in. That ratio is what makes it realistic.</a:t>
            </a:r>
            <a:endParaRPr lang="en-US" sz="1200" dirty="0"/>
          </a:p>
        </p:txBody>
      </p:sp>
      <p:sp>
        <p:nvSpPr>
          <p:cNvPr id="16" name="Text 14"/>
          <p:cNvSpPr/>
          <p:nvPr/>
        </p:nvSpPr>
        <p:spPr>
          <a:xfrm>
            <a:off x="566928" y="6309360"/>
            <a:ext cx="11055096" cy="274320"/>
          </a:xfrm>
          <a:prstGeom prst="rect">
            <a:avLst/>
          </a:prstGeom>
          <a:noFill/>
        </p:spPr>
        <p:txBody>
          <a:bodyPr wrap="square" lIns="0" tIns="0" rIns="0" bIns="0" rtlCol="0" anchor="ctr"/>
          <a:lstStyle/>
          <a:p>
            <a:pPr marL="0" indent="0">
              <a:buNone/>
            </a:pPr>
            <a:r>
              <a:rPr lang="en-US" sz="1050" i="1" dirty="0">
                <a:solidFill>
                  <a:srgbClr val="8A949C"/>
                </a:solidFill>
                <a:latin typeface="Calibri" panose="020F0502020204030204" pitchFamily="34" charset="0"/>
                <a:ea typeface="Calibri" panose="020F0502020204030204" pitchFamily="34" charset="-122"/>
                <a:cs typeface="Calibri" panose="020F0502020204030204" pitchFamily="34" charset="-120"/>
              </a:rPr>
              <a:t>Source: elastic/examples repository — Common Data Formats / apache_logs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PHASE 1 · STEP 2</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Understanding one line before analysing 10,000</a:t>
            </a:r>
            <a:endParaRPr lang="en-US" sz="3000" dirty="0"/>
          </a:p>
        </p:txBody>
      </p:sp>
      <p:sp>
        <p:nvSpPr>
          <p:cNvPr id="4" name="Text 2"/>
          <p:cNvSpPr/>
          <p:nvPr/>
        </p:nvSpPr>
        <p:spPr>
          <a:xfrm>
            <a:off x="566928" y="1207008"/>
            <a:ext cx="11055096" cy="365760"/>
          </a:xfrm>
          <a:prstGeom prst="rect">
            <a:avLst/>
          </a:prstGeom>
          <a:noFill/>
        </p:spPr>
        <p:txBody>
          <a:bodyPr wrap="square" lIns="0" tIns="0" rIns="0" bIns="0" rtlCol="0" anchor="t"/>
          <a:lstStyle/>
          <a:p>
            <a:pPr marL="0" indent="0">
              <a:buNone/>
            </a:pPr>
            <a:r>
              <a:rPr lang="en-US" sz="1400" i="1" dirty="0">
                <a:solidFill>
                  <a:srgbClr val="6B7680"/>
                </a:solidFill>
                <a:latin typeface="Calibri" panose="020F0502020204030204" pitchFamily="34" charset="0"/>
                <a:ea typeface="Calibri" panose="020F0502020204030204" pitchFamily="34" charset="-122"/>
                <a:cs typeface="Calibri" panose="020F0502020204030204" pitchFamily="34" charset="-120"/>
              </a:rPr>
              <a:t>Apache's combined format is space-separated, so every field has a fixed position — that is what makes awk useful.</a:t>
            </a:r>
            <a:endParaRPr lang="en-US" sz="1400" dirty="0"/>
          </a:p>
        </p:txBody>
      </p:sp>
      <p:sp>
        <p:nvSpPr>
          <p:cNvPr id="5" name="Shape 3"/>
          <p:cNvSpPr/>
          <p:nvPr/>
        </p:nvSpPr>
        <p:spPr>
          <a:xfrm>
            <a:off x="566928" y="1810512"/>
            <a:ext cx="11055096" cy="868680"/>
          </a:xfrm>
          <a:prstGeom prst="roundRect">
            <a:avLst>
              <a:gd name="adj" fmla="val 5263"/>
            </a:avLst>
          </a:prstGeom>
          <a:solidFill>
            <a:srgbClr val="1B2026"/>
          </a:solidFill>
          <a:ln w="12700">
            <a:solidFill>
              <a:srgbClr val="2C343C"/>
            </a:solidFill>
            <a:prstDash val="solid"/>
          </a:ln>
        </p:spPr>
      </p:sp>
      <p:sp>
        <p:nvSpPr>
          <p:cNvPr id="6" name="Text 4"/>
          <p:cNvSpPr/>
          <p:nvPr/>
        </p:nvSpPr>
        <p:spPr>
          <a:xfrm>
            <a:off x="713232" y="1938528"/>
            <a:ext cx="10762488" cy="640080"/>
          </a:xfrm>
          <a:prstGeom prst="rect">
            <a:avLst/>
          </a:prstGeom>
          <a:noFill/>
        </p:spPr>
        <p:txBody>
          <a:bodyPr wrap="square" lIns="0" tIns="0" rIns="0" bIns="0" rtlCol="0" anchor="t"/>
          <a:lstStyle/>
          <a:p>
            <a:pPr marL="0" indent="0">
              <a:lnSpc>
                <a:spcPts val="1600"/>
              </a:lnSpc>
              <a:buNone/>
            </a:pPr>
            <a:r>
              <a:rPr lang="en-US" sz="1100" b="1" dirty="0">
                <a:solidFill>
                  <a:srgbClr val="7FC9F5"/>
                </a:solidFill>
                <a:latin typeface="Courier New" panose="02070309020205020404" pitchFamily="34" charset="0"/>
                <a:ea typeface="Courier New" panose="02070309020205020404" pitchFamily="34" charset="-122"/>
                <a:cs typeface="Courier New" panose="02070309020205020404" pitchFamily="34" charset="-120"/>
              </a:rPr>
              <a:t>83.149.9.216</a:t>
            </a:r>
            <a:r>
              <a:rPr lang="en-US" sz="1100" dirty="0">
                <a:solidFill>
                  <a:srgbClr val="8A949C"/>
                </a:solidFill>
                <a:latin typeface="Courier New" panose="02070309020205020404" pitchFamily="34" charset="0"/>
                <a:ea typeface="Courier New" panose="02070309020205020404" pitchFamily="34" charset="-122"/>
                <a:cs typeface="Courier New" panose="02070309020205020404" pitchFamily="34" charset="-120"/>
              </a:rPr>
              <a:t> - - </a:t>
            </a:r>
            <a:r>
              <a:rPr lang="en-US" sz="1100" dirty="0">
                <a:solidFill>
                  <a:srgbClr val="C9A9E8"/>
                </a:solidFill>
                <a:latin typeface="Courier New" panose="02070309020205020404" pitchFamily="34" charset="0"/>
                <a:ea typeface="Courier New" panose="02070309020205020404" pitchFamily="34" charset="-122"/>
                <a:cs typeface="Courier New" panose="02070309020205020404" pitchFamily="34" charset="-120"/>
              </a:rPr>
              <a:t>[17/May/2015:10:05:03 +0000]</a:t>
            </a:r>
            <a:r>
              <a:rPr lang="en-US" sz="1100" dirty="0">
                <a:solidFill>
                  <a:srgbClr val="8A949C"/>
                </a:solidFill>
                <a:latin typeface="Courier New" panose="02070309020205020404" pitchFamily="34" charset="0"/>
                <a:ea typeface="Courier New" panose="02070309020205020404" pitchFamily="34" charset="-122"/>
                <a:cs typeface="Courier New" panose="02070309020205020404" pitchFamily="34" charset="-120"/>
              </a:rPr>
              <a:t> "GET </a:t>
            </a:r>
            <a:r>
              <a:rPr lang="en-US" sz="1100" b="1"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/presentations/.../kibana-search.png</a:t>
            </a:r>
            <a:r>
              <a:rPr lang="en-US" sz="1100" dirty="0">
                <a:solidFill>
                  <a:srgbClr val="8A949C"/>
                </a:solidFill>
                <a:latin typeface="Courier New" panose="02070309020205020404" pitchFamily="34" charset="0"/>
                <a:ea typeface="Courier New" panose="02070309020205020404" pitchFamily="34" charset="-122"/>
                <a:cs typeface="Courier New" panose="02070309020205020404" pitchFamily="34" charset="-120"/>
              </a:rPr>
              <a:t> HTTP/1.1" </a:t>
            </a:r>
            <a:r>
              <a:rPr lang="en-US" sz="1100" b="1"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200</a:t>
            </a:r>
            <a:r>
              <a:rPr lang="en-US" sz="1100" dirty="0">
                <a:solidFill>
                  <a:srgbClr val="8A949C"/>
                </a:solidFill>
                <a:latin typeface="Courier New" panose="02070309020205020404" pitchFamily="34" charset="0"/>
                <a:ea typeface="Courier New" panose="02070309020205020404" pitchFamily="34" charset="-122"/>
                <a:cs typeface="Courier New" panose="02070309020205020404" pitchFamily="34" charset="-120"/>
              </a:rPr>
              <a:t> 203023 "..." </a:t>
            </a:r>
            <a:r>
              <a:rPr lang="en-US" sz="1100" b="1" dirty="0">
                <a:solidFill>
                  <a:srgbClr val="F08A80"/>
                </a:solidFill>
                <a:latin typeface="Courier New" panose="02070309020205020404" pitchFamily="34" charset="0"/>
                <a:ea typeface="Courier New" panose="02070309020205020404" pitchFamily="34" charset="-122"/>
                <a:cs typeface="Courier New" panose="02070309020205020404" pitchFamily="34" charset="-120"/>
              </a:rPr>
              <a:t>"Mozilla/5.0 ... Chrome/32.0"</a:t>
            </a:r>
            <a:endParaRPr lang="en-US" sz="1100" dirty="0"/>
          </a:p>
        </p:txBody>
      </p:sp>
      <p:sp>
        <p:nvSpPr>
          <p:cNvPr id="7" name="Shape 5"/>
          <p:cNvSpPr/>
          <p:nvPr/>
        </p:nvSpPr>
        <p:spPr>
          <a:xfrm>
            <a:off x="566928" y="3063240"/>
            <a:ext cx="658368" cy="384048"/>
          </a:xfrm>
          <a:prstGeom prst="roundRect">
            <a:avLst>
              <a:gd name="adj" fmla="val 11905"/>
            </a:avLst>
          </a:prstGeom>
          <a:solidFill>
            <a:srgbClr val="7FC9F5"/>
          </a:solidFill>
          <a:ln w="12700">
            <a:solidFill>
              <a:srgbClr val="7FC9F5"/>
            </a:solidFill>
            <a:prstDash val="solid"/>
          </a:ln>
        </p:spPr>
      </p:sp>
      <p:sp>
        <p:nvSpPr>
          <p:cNvPr id="8" name="Text 6"/>
          <p:cNvSpPr/>
          <p:nvPr/>
        </p:nvSpPr>
        <p:spPr>
          <a:xfrm>
            <a:off x="566928" y="3063240"/>
            <a:ext cx="658368" cy="384048"/>
          </a:xfrm>
          <a:prstGeom prst="rect">
            <a:avLst/>
          </a:prstGeom>
          <a:noFill/>
        </p:spPr>
        <p:txBody>
          <a:bodyPr wrap="square" lIns="0" tIns="0" rIns="0" bIns="0" rtlCol="0" anchor="ctr"/>
          <a:lstStyle/>
          <a:p>
            <a:pPr marL="0" indent="0" algn="ctr">
              <a:buNone/>
            </a:pPr>
            <a:r>
              <a:rPr lang="en-US" sz="1200" b="1" dirty="0">
                <a:solidFill>
                  <a:srgbClr val="12161A"/>
                </a:solidFill>
                <a:latin typeface="Courier New" panose="02070309020205020404" pitchFamily="34" charset="0"/>
                <a:ea typeface="Courier New" panose="02070309020205020404" pitchFamily="34" charset="-122"/>
                <a:cs typeface="Courier New" panose="02070309020205020404" pitchFamily="34" charset="-120"/>
              </a:rPr>
              <a:t>$1</a:t>
            </a:r>
            <a:endParaRPr lang="en-US" sz="1200" dirty="0"/>
          </a:p>
        </p:txBody>
      </p:sp>
      <p:sp>
        <p:nvSpPr>
          <p:cNvPr id="9" name="Text 7"/>
          <p:cNvSpPr/>
          <p:nvPr/>
        </p:nvSpPr>
        <p:spPr>
          <a:xfrm>
            <a:off x="1408176" y="3081528"/>
            <a:ext cx="2103120" cy="320040"/>
          </a:xfrm>
          <a:prstGeom prst="rect">
            <a:avLst/>
          </a:prstGeom>
          <a:noFill/>
        </p:spPr>
        <p:txBody>
          <a:bodyPr wrap="square" lIns="0" tIns="0" rIns="0" bIns="0" rtlCol="0" anchor="t"/>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Client IP</a:t>
            </a:r>
            <a:endParaRPr lang="en-US" sz="1300" dirty="0"/>
          </a:p>
        </p:txBody>
      </p:sp>
      <p:sp>
        <p:nvSpPr>
          <p:cNvPr id="10" name="Text 8"/>
          <p:cNvSpPr/>
          <p:nvPr/>
        </p:nvSpPr>
        <p:spPr>
          <a:xfrm>
            <a:off x="3584448" y="3099816"/>
            <a:ext cx="7772400" cy="320040"/>
          </a:xfrm>
          <a:prstGeom prst="rect">
            <a:avLst/>
          </a:prstGeom>
          <a:noFill/>
        </p:spPr>
        <p:txBody>
          <a:bodyPr wrap="square" lIns="0" tIns="0" rIns="0" bIns="0" rtlCol="0" anchor="t"/>
          <a:lstStyle/>
          <a:p>
            <a:pPr marL="0" indent="0">
              <a:buNone/>
            </a:pPr>
            <a:r>
              <a:rPr lang="en-US" sz="1300" dirty="0">
                <a:solidFill>
                  <a:srgbClr val="3C464F"/>
                </a:solidFill>
                <a:latin typeface="Calibri" panose="020F0502020204030204" pitchFamily="34" charset="0"/>
                <a:ea typeface="Calibri" panose="020F0502020204030204" pitchFamily="34" charset="-122"/>
                <a:cs typeface="Calibri" panose="020F0502020204030204" pitchFamily="34" charset="-120"/>
              </a:rPr>
              <a:t>Who is talking to the server</a:t>
            </a:r>
            <a:endParaRPr lang="en-US" sz="1300" dirty="0"/>
          </a:p>
        </p:txBody>
      </p:sp>
      <p:sp>
        <p:nvSpPr>
          <p:cNvPr id="11" name="Shape 9"/>
          <p:cNvSpPr/>
          <p:nvPr/>
        </p:nvSpPr>
        <p:spPr>
          <a:xfrm>
            <a:off x="566928" y="3666744"/>
            <a:ext cx="658368" cy="384048"/>
          </a:xfrm>
          <a:prstGeom prst="roundRect">
            <a:avLst>
              <a:gd name="adj" fmla="val 11905"/>
            </a:avLst>
          </a:prstGeom>
          <a:solidFill>
            <a:srgbClr val="C9A9E8"/>
          </a:solidFill>
          <a:ln w="12700">
            <a:solidFill>
              <a:srgbClr val="C9A9E8"/>
            </a:solidFill>
            <a:prstDash val="solid"/>
          </a:ln>
        </p:spPr>
      </p:sp>
      <p:sp>
        <p:nvSpPr>
          <p:cNvPr id="12" name="Text 10"/>
          <p:cNvSpPr/>
          <p:nvPr/>
        </p:nvSpPr>
        <p:spPr>
          <a:xfrm>
            <a:off x="566928" y="3666744"/>
            <a:ext cx="658368" cy="384048"/>
          </a:xfrm>
          <a:prstGeom prst="rect">
            <a:avLst/>
          </a:prstGeom>
          <a:noFill/>
        </p:spPr>
        <p:txBody>
          <a:bodyPr wrap="square" lIns="0" tIns="0" rIns="0" bIns="0" rtlCol="0" anchor="ctr"/>
          <a:lstStyle/>
          <a:p>
            <a:pPr marL="0" indent="0" algn="ctr">
              <a:buNone/>
            </a:pPr>
            <a:r>
              <a:rPr lang="en-US" sz="1200" b="1" dirty="0">
                <a:solidFill>
                  <a:srgbClr val="12161A"/>
                </a:solidFill>
                <a:latin typeface="Courier New" panose="02070309020205020404" pitchFamily="34" charset="0"/>
                <a:ea typeface="Courier New" panose="02070309020205020404" pitchFamily="34" charset="-122"/>
                <a:cs typeface="Courier New" panose="02070309020205020404" pitchFamily="34" charset="-120"/>
              </a:rPr>
              <a:t>$4</a:t>
            </a:r>
            <a:endParaRPr lang="en-US" sz="1200" dirty="0"/>
          </a:p>
        </p:txBody>
      </p:sp>
      <p:sp>
        <p:nvSpPr>
          <p:cNvPr id="13" name="Text 11"/>
          <p:cNvSpPr/>
          <p:nvPr/>
        </p:nvSpPr>
        <p:spPr>
          <a:xfrm>
            <a:off x="1408176" y="3685032"/>
            <a:ext cx="2103120" cy="320040"/>
          </a:xfrm>
          <a:prstGeom prst="rect">
            <a:avLst/>
          </a:prstGeom>
          <a:noFill/>
        </p:spPr>
        <p:txBody>
          <a:bodyPr wrap="square" lIns="0" tIns="0" rIns="0" bIns="0" rtlCol="0" anchor="t"/>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Timestamp</a:t>
            </a:r>
            <a:endParaRPr lang="en-US" sz="1300" dirty="0"/>
          </a:p>
        </p:txBody>
      </p:sp>
      <p:sp>
        <p:nvSpPr>
          <p:cNvPr id="14" name="Text 12"/>
          <p:cNvSpPr/>
          <p:nvPr/>
        </p:nvSpPr>
        <p:spPr>
          <a:xfrm>
            <a:off x="3584448" y="3703320"/>
            <a:ext cx="7772400" cy="320040"/>
          </a:xfrm>
          <a:prstGeom prst="rect">
            <a:avLst/>
          </a:prstGeom>
          <a:noFill/>
        </p:spPr>
        <p:txBody>
          <a:bodyPr wrap="square" lIns="0" tIns="0" rIns="0" bIns="0" rtlCol="0" anchor="t"/>
          <a:lstStyle/>
          <a:p>
            <a:pPr marL="0" indent="0">
              <a:buNone/>
            </a:pPr>
            <a:r>
              <a:rPr lang="en-US" sz="1300" dirty="0">
                <a:solidFill>
                  <a:srgbClr val="3C464F"/>
                </a:solidFill>
                <a:latin typeface="Calibri" panose="020F0502020204030204" pitchFamily="34" charset="0"/>
                <a:ea typeface="Calibri" panose="020F0502020204030204" pitchFamily="34" charset="-122"/>
                <a:cs typeface="Calibri" panose="020F0502020204030204" pitchFamily="34" charset="-120"/>
              </a:rPr>
              <a:t>How fast requests are coming in</a:t>
            </a:r>
            <a:endParaRPr lang="en-US" sz="1300" dirty="0"/>
          </a:p>
        </p:txBody>
      </p:sp>
      <p:sp>
        <p:nvSpPr>
          <p:cNvPr id="15" name="Shape 13"/>
          <p:cNvSpPr/>
          <p:nvPr/>
        </p:nvSpPr>
        <p:spPr>
          <a:xfrm>
            <a:off x="566928" y="4270248"/>
            <a:ext cx="658368" cy="384048"/>
          </a:xfrm>
          <a:prstGeom prst="roundRect">
            <a:avLst>
              <a:gd name="adj" fmla="val 11905"/>
            </a:avLst>
          </a:prstGeom>
          <a:solidFill>
            <a:srgbClr val="8FD6A8"/>
          </a:solidFill>
          <a:ln w="12700">
            <a:solidFill>
              <a:srgbClr val="8FD6A8"/>
            </a:solidFill>
            <a:prstDash val="solid"/>
          </a:ln>
        </p:spPr>
      </p:sp>
      <p:sp>
        <p:nvSpPr>
          <p:cNvPr id="16" name="Text 14"/>
          <p:cNvSpPr/>
          <p:nvPr/>
        </p:nvSpPr>
        <p:spPr>
          <a:xfrm>
            <a:off x="566928" y="4270248"/>
            <a:ext cx="658368" cy="384048"/>
          </a:xfrm>
          <a:prstGeom prst="rect">
            <a:avLst/>
          </a:prstGeom>
          <a:noFill/>
        </p:spPr>
        <p:txBody>
          <a:bodyPr wrap="square" lIns="0" tIns="0" rIns="0" bIns="0" rtlCol="0" anchor="ctr"/>
          <a:lstStyle/>
          <a:p>
            <a:pPr marL="0" indent="0" algn="ctr">
              <a:buNone/>
            </a:pPr>
            <a:r>
              <a:rPr lang="en-US" sz="1200" b="1" dirty="0">
                <a:solidFill>
                  <a:srgbClr val="12161A"/>
                </a:solidFill>
                <a:latin typeface="Courier New" panose="02070309020205020404" pitchFamily="34" charset="0"/>
                <a:ea typeface="Courier New" panose="02070309020205020404" pitchFamily="34" charset="-122"/>
                <a:cs typeface="Courier New" panose="02070309020205020404" pitchFamily="34" charset="-120"/>
              </a:rPr>
              <a:t>$7</a:t>
            </a:r>
            <a:endParaRPr lang="en-US" sz="1200" dirty="0"/>
          </a:p>
        </p:txBody>
      </p:sp>
      <p:sp>
        <p:nvSpPr>
          <p:cNvPr id="17" name="Text 15"/>
          <p:cNvSpPr/>
          <p:nvPr/>
        </p:nvSpPr>
        <p:spPr>
          <a:xfrm>
            <a:off x="1408176" y="4288536"/>
            <a:ext cx="2103120" cy="320040"/>
          </a:xfrm>
          <a:prstGeom prst="rect">
            <a:avLst/>
          </a:prstGeom>
          <a:noFill/>
        </p:spPr>
        <p:txBody>
          <a:bodyPr wrap="square" lIns="0" tIns="0" rIns="0" bIns="0" rtlCol="0" anchor="t"/>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Requested URL</a:t>
            </a:r>
            <a:endParaRPr lang="en-US" sz="1300" dirty="0"/>
          </a:p>
        </p:txBody>
      </p:sp>
      <p:sp>
        <p:nvSpPr>
          <p:cNvPr id="18" name="Text 16"/>
          <p:cNvSpPr/>
          <p:nvPr/>
        </p:nvSpPr>
        <p:spPr>
          <a:xfrm>
            <a:off x="3584448" y="4306824"/>
            <a:ext cx="7772400" cy="320040"/>
          </a:xfrm>
          <a:prstGeom prst="rect">
            <a:avLst/>
          </a:prstGeom>
          <a:noFill/>
        </p:spPr>
        <p:txBody>
          <a:bodyPr wrap="square" lIns="0" tIns="0" rIns="0" bIns="0" rtlCol="0" anchor="t"/>
          <a:lstStyle/>
          <a:p>
            <a:pPr marL="0" indent="0">
              <a:buNone/>
            </a:pPr>
            <a:r>
              <a:rPr lang="en-US" sz="1300" dirty="0">
                <a:solidFill>
                  <a:srgbClr val="3C464F"/>
                </a:solidFill>
                <a:latin typeface="Calibri" panose="020F0502020204030204" pitchFamily="34" charset="0"/>
                <a:ea typeface="Calibri" panose="020F0502020204030204" pitchFamily="34" charset="-122"/>
                <a:cs typeface="Calibri" panose="020F0502020204030204" pitchFamily="34" charset="-120"/>
              </a:rPr>
              <a:t>What they are looking for</a:t>
            </a:r>
            <a:endParaRPr lang="en-US" sz="1300" dirty="0"/>
          </a:p>
        </p:txBody>
      </p:sp>
      <p:sp>
        <p:nvSpPr>
          <p:cNvPr id="19" name="Shape 17"/>
          <p:cNvSpPr/>
          <p:nvPr/>
        </p:nvSpPr>
        <p:spPr>
          <a:xfrm>
            <a:off x="566928" y="4873752"/>
            <a:ext cx="658368" cy="384048"/>
          </a:xfrm>
          <a:prstGeom prst="roundRect">
            <a:avLst>
              <a:gd name="adj" fmla="val 11905"/>
            </a:avLst>
          </a:prstGeom>
          <a:solidFill>
            <a:srgbClr val="E8A44A"/>
          </a:solidFill>
          <a:ln w="12700">
            <a:solidFill>
              <a:srgbClr val="E8A44A"/>
            </a:solidFill>
            <a:prstDash val="solid"/>
          </a:ln>
        </p:spPr>
      </p:sp>
      <p:sp>
        <p:nvSpPr>
          <p:cNvPr id="20" name="Text 18"/>
          <p:cNvSpPr/>
          <p:nvPr/>
        </p:nvSpPr>
        <p:spPr>
          <a:xfrm>
            <a:off x="566928" y="4873752"/>
            <a:ext cx="658368" cy="384048"/>
          </a:xfrm>
          <a:prstGeom prst="rect">
            <a:avLst/>
          </a:prstGeom>
          <a:noFill/>
        </p:spPr>
        <p:txBody>
          <a:bodyPr wrap="square" lIns="0" tIns="0" rIns="0" bIns="0" rtlCol="0" anchor="ctr"/>
          <a:lstStyle/>
          <a:p>
            <a:pPr marL="0" indent="0" algn="ctr">
              <a:buNone/>
            </a:pPr>
            <a:r>
              <a:rPr lang="en-US" sz="1200" b="1" dirty="0">
                <a:solidFill>
                  <a:srgbClr val="12161A"/>
                </a:solidFill>
                <a:latin typeface="Courier New" panose="02070309020205020404" pitchFamily="34" charset="0"/>
                <a:ea typeface="Courier New" panose="02070309020205020404" pitchFamily="34" charset="-122"/>
                <a:cs typeface="Courier New" panose="02070309020205020404" pitchFamily="34" charset="-120"/>
              </a:rPr>
              <a:t>$9</a:t>
            </a:r>
            <a:endParaRPr lang="en-US" sz="1200" dirty="0"/>
          </a:p>
        </p:txBody>
      </p:sp>
      <p:sp>
        <p:nvSpPr>
          <p:cNvPr id="21" name="Text 19"/>
          <p:cNvSpPr/>
          <p:nvPr/>
        </p:nvSpPr>
        <p:spPr>
          <a:xfrm>
            <a:off x="1408176" y="4892040"/>
            <a:ext cx="2103120" cy="320040"/>
          </a:xfrm>
          <a:prstGeom prst="rect">
            <a:avLst/>
          </a:prstGeom>
          <a:noFill/>
        </p:spPr>
        <p:txBody>
          <a:bodyPr wrap="square" lIns="0" tIns="0" rIns="0" bIns="0" rtlCol="0" anchor="t"/>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Status code</a:t>
            </a:r>
            <a:endParaRPr lang="en-US" sz="1300" dirty="0"/>
          </a:p>
        </p:txBody>
      </p:sp>
      <p:sp>
        <p:nvSpPr>
          <p:cNvPr id="22" name="Text 20"/>
          <p:cNvSpPr/>
          <p:nvPr/>
        </p:nvSpPr>
        <p:spPr>
          <a:xfrm>
            <a:off x="3584448" y="4910328"/>
            <a:ext cx="7772400" cy="320040"/>
          </a:xfrm>
          <a:prstGeom prst="rect">
            <a:avLst/>
          </a:prstGeom>
          <a:noFill/>
        </p:spPr>
        <p:txBody>
          <a:bodyPr wrap="square" lIns="0" tIns="0" rIns="0" bIns="0" rtlCol="0" anchor="t"/>
          <a:lstStyle/>
          <a:p>
            <a:pPr marL="0" indent="0">
              <a:buNone/>
            </a:pPr>
            <a:r>
              <a:rPr lang="en-US" sz="1300" dirty="0">
                <a:solidFill>
                  <a:srgbClr val="3C464F"/>
                </a:solidFill>
                <a:latin typeface="Calibri" panose="020F0502020204030204" pitchFamily="34" charset="0"/>
                <a:ea typeface="Calibri" panose="020F0502020204030204" pitchFamily="34" charset="-122"/>
                <a:cs typeface="Calibri" panose="020F0502020204030204" pitchFamily="34" charset="-120"/>
              </a:rPr>
              <a:t>Did it work — 200, 302, 401, 404</a:t>
            </a:r>
            <a:endParaRPr lang="en-US" sz="1300" dirty="0"/>
          </a:p>
        </p:txBody>
      </p:sp>
      <p:sp>
        <p:nvSpPr>
          <p:cNvPr id="23" name="Shape 21"/>
          <p:cNvSpPr/>
          <p:nvPr/>
        </p:nvSpPr>
        <p:spPr>
          <a:xfrm>
            <a:off x="566928" y="5477256"/>
            <a:ext cx="658368" cy="384048"/>
          </a:xfrm>
          <a:prstGeom prst="roundRect">
            <a:avLst>
              <a:gd name="adj" fmla="val 11905"/>
            </a:avLst>
          </a:prstGeom>
          <a:solidFill>
            <a:srgbClr val="F08A80"/>
          </a:solidFill>
          <a:ln w="12700">
            <a:solidFill>
              <a:srgbClr val="F08A80"/>
            </a:solidFill>
            <a:prstDash val="solid"/>
          </a:ln>
        </p:spPr>
      </p:sp>
      <p:sp>
        <p:nvSpPr>
          <p:cNvPr id="24" name="Text 22"/>
          <p:cNvSpPr/>
          <p:nvPr/>
        </p:nvSpPr>
        <p:spPr>
          <a:xfrm>
            <a:off x="566928" y="5477256"/>
            <a:ext cx="658368" cy="384048"/>
          </a:xfrm>
          <a:prstGeom prst="rect">
            <a:avLst/>
          </a:prstGeom>
          <a:noFill/>
        </p:spPr>
        <p:txBody>
          <a:bodyPr wrap="square" lIns="0" tIns="0" rIns="0" bIns="0" rtlCol="0" anchor="ctr"/>
          <a:lstStyle/>
          <a:p>
            <a:pPr marL="0" indent="0" algn="ctr">
              <a:buNone/>
            </a:pPr>
            <a:r>
              <a:rPr lang="en-US" sz="1200" b="1" dirty="0">
                <a:solidFill>
                  <a:srgbClr val="12161A"/>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200" dirty="0"/>
          </a:p>
        </p:txBody>
      </p:sp>
      <p:sp>
        <p:nvSpPr>
          <p:cNvPr id="25" name="Text 23"/>
          <p:cNvSpPr/>
          <p:nvPr/>
        </p:nvSpPr>
        <p:spPr>
          <a:xfrm>
            <a:off x="1408176" y="5495544"/>
            <a:ext cx="2103120" cy="320040"/>
          </a:xfrm>
          <a:prstGeom prst="rect">
            <a:avLst/>
          </a:prstGeom>
          <a:noFill/>
        </p:spPr>
        <p:txBody>
          <a:bodyPr wrap="square" lIns="0" tIns="0" rIns="0" bIns="0" rtlCol="0" anchor="t"/>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User agent</a:t>
            </a:r>
            <a:endParaRPr lang="en-US" sz="1300" dirty="0"/>
          </a:p>
        </p:txBody>
      </p:sp>
      <p:sp>
        <p:nvSpPr>
          <p:cNvPr id="26" name="Text 24"/>
          <p:cNvSpPr/>
          <p:nvPr/>
        </p:nvSpPr>
        <p:spPr>
          <a:xfrm>
            <a:off x="3584448" y="5513832"/>
            <a:ext cx="7772400" cy="320040"/>
          </a:xfrm>
          <a:prstGeom prst="rect">
            <a:avLst/>
          </a:prstGeom>
          <a:noFill/>
        </p:spPr>
        <p:txBody>
          <a:bodyPr wrap="square" lIns="0" tIns="0" rIns="0" bIns="0" rtlCol="0" anchor="t"/>
          <a:lstStyle/>
          <a:p>
            <a:pPr marL="0" indent="0">
              <a:buNone/>
            </a:pPr>
            <a:r>
              <a:rPr lang="en-US" sz="1300" dirty="0">
                <a:solidFill>
                  <a:srgbClr val="3C464F"/>
                </a:solidFill>
                <a:latin typeface="Calibri" panose="020F0502020204030204" pitchFamily="34" charset="0"/>
                <a:ea typeface="Calibri" panose="020F0502020204030204" pitchFamily="34" charset="-122"/>
                <a:cs typeface="Calibri" panose="020F0502020204030204" pitchFamily="34" charset="-120"/>
              </a:rPr>
              <a:t>Browser, or a tool pretending to be one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PHASE 1 · STEP 3</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First pass: how many requests actually failed?</a:t>
            </a:r>
            <a:endParaRPr lang="en-US" sz="3000" dirty="0"/>
          </a:p>
        </p:txBody>
      </p:sp>
      <p:sp>
        <p:nvSpPr>
          <p:cNvPr id="4" name="Shape 2"/>
          <p:cNvSpPr/>
          <p:nvPr/>
        </p:nvSpPr>
        <p:spPr>
          <a:xfrm>
            <a:off x="566928" y="1572768"/>
            <a:ext cx="6492240" cy="1408176"/>
          </a:xfrm>
          <a:prstGeom prst="roundRect">
            <a:avLst>
              <a:gd name="adj" fmla="val 3896"/>
            </a:avLst>
          </a:prstGeom>
          <a:solidFill>
            <a:srgbClr val="1B2026"/>
          </a:solidFill>
          <a:ln w="12700">
            <a:solidFill>
              <a:srgbClr val="2C343C"/>
            </a:solidFill>
            <a:prstDash val="solid"/>
          </a:ln>
        </p:spPr>
      </p:sp>
      <p:sp>
        <p:nvSpPr>
          <p:cNvPr id="5" name="Text 3"/>
          <p:cNvSpPr/>
          <p:nvPr/>
        </p:nvSpPr>
        <p:spPr>
          <a:xfrm>
            <a:off x="713232" y="1709928"/>
            <a:ext cx="6199632" cy="1133856"/>
          </a:xfrm>
          <a:prstGeom prst="rect">
            <a:avLst/>
          </a:prstGeom>
          <a:noFill/>
        </p:spPr>
        <p:txBody>
          <a:bodyPr wrap="square" lIns="0" tIns="0" rIns="0" bIns="0" rtlCol="0" anchor="t"/>
          <a:lstStyle/>
          <a:p>
            <a:pPr marL="0" indent="0">
              <a:lnSpc>
                <a:spcPts val="1520"/>
              </a:lnSpc>
              <a:buNone/>
            </a:pPr>
            <a:r>
              <a:rPr lang="en-US" sz="11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grep ' 404 ' access.log | wc -l</a:t>
            </a:r>
            <a:endParaRPr lang="en-US" sz="1150" dirty="0"/>
          </a:p>
          <a:p>
            <a:pPr marL="0" indent="0">
              <a:lnSpc>
                <a:spcPts val="1520"/>
              </a:lnSpc>
              <a:buNone/>
            </a:pPr>
            <a:r>
              <a:rPr lang="en-US" sz="115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213</a:t>
            </a:r>
            <a:endParaRPr lang="en-US" sz="1150" dirty="0"/>
          </a:p>
          <a:p>
            <a:pPr marL="0" indent="0">
              <a:lnSpc>
                <a:spcPts val="1520"/>
              </a:lnSpc>
              <a:buNone/>
            </a:pPr>
            <a:endParaRPr lang="en-US" sz="1150" dirty="0"/>
          </a:p>
          <a:p>
            <a:pPr marL="0" indent="0">
              <a:lnSpc>
                <a:spcPts val="1520"/>
              </a:lnSpc>
              <a:buNone/>
            </a:pPr>
            <a:r>
              <a:rPr lang="en-US" sz="11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grep ' 401 ' access.log | wc -l</a:t>
            </a:r>
            <a:endParaRPr lang="en-US" sz="1150" dirty="0"/>
          </a:p>
          <a:p>
            <a:pPr marL="0" indent="0">
              <a:lnSpc>
                <a:spcPts val="1520"/>
              </a:lnSpc>
              <a:buNone/>
            </a:pPr>
            <a:r>
              <a:rPr lang="en-US" sz="115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0</a:t>
            </a:r>
            <a:endParaRPr lang="en-US" sz="1150" dirty="0"/>
          </a:p>
        </p:txBody>
      </p:sp>
      <p:sp>
        <p:nvSpPr>
          <p:cNvPr id="6" name="Text 4"/>
          <p:cNvSpPr/>
          <p:nvPr/>
        </p:nvSpPr>
        <p:spPr>
          <a:xfrm>
            <a:off x="7498080" y="1627632"/>
            <a:ext cx="1920240" cy="566928"/>
          </a:xfrm>
          <a:prstGeom prst="rect">
            <a:avLst/>
          </a:prstGeom>
          <a:noFill/>
        </p:spPr>
        <p:txBody>
          <a:bodyPr wrap="square" lIns="0" tIns="0" rIns="0" bIns="0" rtlCol="0" anchor="t"/>
          <a:lstStyle/>
          <a:p>
            <a:pPr marL="0" indent="0" algn="l">
              <a:buNone/>
            </a:pPr>
            <a:r>
              <a:rPr lang="en-US" sz="3600" b="1" dirty="0">
                <a:solidFill>
                  <a:srgbClr val="C43F35"/>
                </a:solidFill>
                <a:latin typeface="Arial" panose="020B0604020202020204" pitchFamily="34" charset="0"/>
                <a:ea typeface="Arial" panose="020B0604020202020204" pitchFamily="34" charset="-122"/>
                <a:cs typeface="Arial" panose="020B0604020202020204" pitchFamily="34" charset="-120"/>
              </a:rPr>
              <a:t>213</a:t>
            </a:r>
            <a:endParaRPr lang="en-US" sz="3600" dirty="0"/>
          </a:p>
        </p:txBody>
      </p:sp>
      <p:sp>
        <p:nvSpPr>
          <p:cNvPr id="7" name="Text 5"/>
          <p:cNvSpPr/>
          <p:nvPr/>
        </p:nvSpPr>
        <p:spPr>
          <a:xfrm>
            <a:off x="7498080" y="2176272"/>
            <a:ext cx="1920240" cy="457200"/>
          </a:xfrm>
          <a:prstGeom prst="rect">
            <a:avLst/>
          </a:prstGeom>
          <a:noFill/>
        </p:spPr>
        <p:txBody>
          <a:bodyPr wrap="square" lIns="0" tIns="0" rIns="0" bIns="0" rtlCol="0" anchor="t"/>
          <a:lstStyle/>
          <a:p>
            <a:pPr marL="0" indent="0" algn="l">
              <a:buNone/>
            </a:pPr>
            <a:r>
              <a:rPr lang="en-US" sz="1200" dirty="0">
                <a:solidFill>
                  <a:srgbClr val="6B7680"/>
                </a:solidFill>
                <a:latin typeface="Calibri" panose="020F0502020204030204" pitchFamily="34" charset="0"/>
                <a:ea typeface="Calibri" panose="020F0502020204030204" pitchFamily="34" charset="-122"/>
                <a:cs typeface="Calibri" panose="020F0502020204030204" pitchFamily="34" charset="-120"/>
              </a:rPr>
              <a:t>requests returned 404</a:t>
            </a:r>
            <a:endParaRPr lang="en-US" sz="1200" dirty="0"/>
          </a:p>
        </p:txBody>
      </p:sp>
      <p:sp>
        <p:nvSpPr>
          <p:cNvPr id="8" name="Text 6"/>
          <p:cNvSpPr/>
          <p:nvPr/>
        </p:nvSpPr>
        <p:spPr>
          <a:xfrm>
            <a:off x="9646920" y="1627632"/>
            <a:ext cx="1920240" cy="566928"/>
          </a:xfrm>
          <a:prstGeom prst="rect">
            <a:avLst/>
          </a:prstGeom>
          <a:noFill/>
        </p:spPr>
        <p:txBody>
          <a:bodyPr wrap="square" lIns="0" tIns="0" rIns="0" bIns="0" rtlCol="0" anchor="t"/>
          <a:lstStyle/>
          <a:p>
            <a:pPr marL="0" indent="0" algn="l">
              <a:buNone/>
            </a:pPr>
            <a:r>
              <a:rPr lang="en-US" sz="3600" b="1" dirty="0">
                <a:solidFill>
                  <a:srgbClr val="6B7680"/>
                </a:solidFill>
                <a:latin typeface="Arial" panose="020B0604020202020204" pitchFamily="34" charset="0"/>
                <a:ea typeface="Arial" panose="020B0604020202020204" pitchFamily="34" charset="-122"/>
                <a:cs typeface="Arial" panose="020B0604020202020204" pitchFamily="34" charset="-120"/>
              </a:rPr>
              <a:t>0</a:t>
            </a:r>
            <a:endParaRPr lang="en-US" sz="3600" dirty="0"/>
          </a:p>
        </p:txBody>
      </p:sp>
      <p:sp>
        <p:nvSpPr>
          <p:cNvPr id="9" name="Text 7"/>
          <p:cNvSpPr/>
          <p:nvPr/>
        </p:nvSpPr>
        <p:spPr>
          <a:xfrm>
            <a:off x="9646920" y="2176272"/>
            <a:ext cx="1920240" cy="457200"/>
          </a:xfrm>
          <a:prstGeom prst="rect">
            <a:avLst/>
          </a:prstGeom>
          <a:noFill/>
        </p:spPr>
        <p:txBody>
          <a:bodyPr wrap="square" lIns="0" tIns="0" rIns="0" bIns="0" rtlCol="0" anchor="t"/>
          <a:lstStyle/>
          <a:p>
            <a:pPr marL="0" indent="0" algn="l">
              <a:buNone/>
            </a:pPr>
            <a:r>
              <a:rPr lang="en-US" sz="1200" dirty="0">
                <a:solidFill>
                  <a:srgbClr val="6B7680"/>
                </a:solidFill>
                <a:latin typeface="Calibri" panose="020F0502020204030204" pitchFamily="34" charset="0"/>
                <a:ea typeface="Calibri" panose="020F0502020204030204" pitchFamily="34" charset="-122"/>
                <a:cs typeface="Calibri" panose="020F0502020204030204" pitchFamily="34" charset="-120"/>
              </a:rPr>
              <a:t>returned 401</a:t>
            </a:r>
            <a:endParaRPr lang="en-US" sz="1200" dirty="0"/>
          </a:p>
        </p:txBody>
      </p:sp>
      <p:sp>
        <p:nvSpPr>
          <p:cNvPr id="10" name="Shape 8"/>
          <p:cNvSpPr/>
          <p:nvPr/>
        </p:nvSpPr>
        <p:spPr>
          <a:xfrm>
            <a:off x="566928" y="3246120"/>
            <a:ext cx="5486400" cy="1463040"/>
          </a:xfrm>
          <a:prstGeom prst="roundRect">
            <a:avLst>
              <a:gd name="adj" fmla="val 3125"/>
            </a:avLst>
          </a:prstGeom>
          <a:solidFill>
            <a:srgbClr val="F5F7F9"/>
          </a:solidFill>
          <a:ln w="12700">
            <a:solidFill>
              <a:srgbClr val="DDE3E8"/>
            </a:solidFill>
            <a:prstDash val="solid"/>
          </a:ln>
        </p:spPr>
      </p:sp>
      <p:sp>
        <p:nvSpPr>
          <p:cNvPr id="11" name="Text 9"/>
          <p:cNvSpPr/>
          <p:nvPr/>
        </p:nvSpPr>
        <p:spPr>
          <a:xfrm>
            <a:off x="749808" y="3392424"/>
            <a:ext cx="5120640" cy="274320"/>
          </a:xfrm>
          <a:prstGeom prst="rect">
            <a:avLst/>
          </a:prstGeom>
          <a:noFill/>
        </p:spPr>
        <p:txBody>
          <a:bodyPr wrap="square" lIns="0" tIns="0" rIns="0" bIns="0" rtlCol="0" anchor="t"/>
          <a:lstStyle/>
          <a:p>
            <a:pPr marL="0" indent="0">
              <a:buNone/>
            </a:pPr>
            <a:r>
              <a:rPr lang="en-US" sz="1300" b="1" dirty="0">
                <a:solidFill>
                  <a:srgbClr val="D9942B"/>
                </a:solidFill>
                <a:latin typeface="Arial" panose="020B0604020202020204" pitchFamily="34" charset="0"/>
                <a:ea typeface="Arial" panose="020B0604020202020204" pitchFamily="34" charset="-122"/>
                <a:cs typeface="Arial" panose="020B0604020202020204" pitchFamily="34" charset="-120"/>
              </a:rPr>
              <a:t>What 213 x 404 tells me</a:t>
            </a:r>
            <a:endParaRPr lang="en-US" sz="1300" dirty="0"/>
          </a:p>
        </p:txBody>
      </p:sp>
      <p:sp>
        <p:nvSpPr>
          <p:cNvPr id="12" name="Text 10"/>
          <p:cNvSpPr/>
          <p:nvPr/>
        </p:nvSpPr>
        <p:spPr>
          <a:xfrm>
            <a:off x="749808" y="3703320"/>
            <a:ext cx="5120640" cy="841248"/>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About 2% of all traffic asked for something that doesn't exist. Some of that is broken links — but a burst of 404s from one IP usually means someone is guessing paths.</a:t>
            </a:r>
            <a:endParaRPr lang="en-US" sz="1200" dirty="0"/>
          </a:p>
        </p:txBody>
      </p:sp>
      <p:sp>
        <p:nvSpPr>
          <p:cNvPr id="13" name="Shape 11"/>
          <p:cNvSpPr/>
          <p:nvPr/>
        </p:nvSpPr>
        <p:spPr>
          <a:xfrm>
            <a:off x="6281928" y="3246120"/>
            <a:ext cx="5340096" cy="1463040"/>
          </a:xfrm>
          <a:prstGeom prst="roundRect">
            <a:avLst>
              <a:gd name="adj" fmla="val 3125"/>
            </a:avLst>
          </a:prstGeom>
          <a:solidFill>
            <a:srgbClr val="F5F7F9"/>
          </a:solidFill>
          <a:ln w="12700">
            <a:solidFill>
              <a:srgbClr val="DDE3E8"/>
            </a:solidFill>
            <a:prstDash val="solid"/>
          </a:ln>
        </p:spPr>
      </p:sp>
      <p:sp>
        <p:nvSpPr>
          <p:cNvPr id="14" name="Text 12"/>
          <p:cNvSpPr/>
          <p:nvPr/>
        </p:nvSpPr>
        <p:spPr>
          <a:xfrm>
            <a:off x="6464808" y="3392424"/>
            <a:ext cx="4974336" cy="274320"/>
          </a:xfrm>
          <a:prstGeom prst="rect">
            <a:avLst/>
          </a:prstGeom>
          <a:noFill/>
        </p:spPr>
        <p:txBody>
          <a:bodyPr wrap="square" lIns="0" tIns="0" rIns="0" bIns="0" rtlCol="0" anchor="t"/>
          <a:lstStyle/>
          <a:p>
            <a:pPr marL="0" indent="0">
              <a:buNone/>
            </a:pPr>
            <a:r>
              <a:rPr lang="en-US" sz="1300" b="1" dirty="0">
                <a:solidFill>
                  <a:srgbClr val="C43F35"/>
                </a:solidFill>
                <a:latin typeface="Arial" panose="020B0604020202020204" pitchFamily="34" charset="0"/>
                <a:ea typeface="Arial" panose="020B0604020202020204" pitchFamily="34" charset="-122"/>
                <a:cs typeface="Arial" panose="020B0604020202020204" pitchFamily="34" charset="-120"/>
              </a:rPr>
              <a:t>What 0 x 401 tells me</a:t>
            </a:r>
            <a:endParaRPr lang="en-US" sz="1300" dirty="0"/>
          </a:p>
        </p:txBody>
      </p:sp>
      <p:sp>
        <p:nvSpPr>
          <p:cNvPr id="15" name="Text 13"/>
          <p:cNvSpPr/>
          <p:nvPr/>
        </p:nvSpPr>
        <p:spPr>
          <a:xfrm>
            <a:off x="6464808" y="3703320"/>
            <a:ext cx="4974336" cy="841248"/>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This server has nothing password-protected, so there are no failed logins here at all. Real gap — the task asks specifically about repeated failed logins.</a:t>
            </a:r>
            <a:endParaRPr lang="en-US" sz="1200" dirty="0"/>
          </a:p>
        </p:txBody>
      </p:sp>
      <p:sp>
        <p:nvSpPr>
          <p:cNvPr id="16" name="Text 14"/>
          <p:cNvSpPr/>
          <p:nvPr/>
        </p:nvSpPr>
        <p:spPr>
          <a:xfrm>
            <a:off x="566928" y="4956048"/>
            <a:ext cx="11055096" cy="365760"/>
          </a:xfrm>
          <a:prstGeom prst="rect">
            <a:avLst/>
          </a:prstGeom>
          <a:noFill/>
        </p:spPr>
        <p:txBody>
          <a:bodyPr wrap="square" lIns="0" tIns="0" rIns="0" bIns="0" rtlCol="0" anchor="t"/>
          <a:lstStyle/>
          <a:p>
            <a:pPr marL="0" indent="0">
              <a:buNone/>
            </a:pPr>
            <a:r>
              <a:rPr lang="en-US" sz="1350" i="1" dirty="0">
                <a:solidFill>
                  <a:srgbClr val="12161A"/>
                </a:solidFill>
                <a:latin typeface="Calibri" panose="020F0502020204030204" pitchFamily="34" charset="0"/>
                <a:ea typeface="Calibri" panose="020F0502020204030204" pitchFamily="34" charset="-122"/>
                <a:cs typeface="Calibri" panose="020F0502020204030204" pitchFamily="34" charset="-120"/>
              </a:rPr>
              <a:t>This is the exact gap that pushed me into Phase 2: I needed a log that contains login failures.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PHASE 1 · FINDING</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The 404s were not random</a:t>
            </a:r>
            <a:endParaRPr lang="en-US" sz="3000" dirty="0"/>
          </a:p>
        </p:txBody>
      </p:sp>
      <p:sp>
        <p:nvSpPr>
          <p:cNvPr id="4" name="Text 2"/>
          <p:cNvSpPr/>
          <p:nvPr/>
        </p:nvSpPr>
        <p:spPr>
          <a:xfrm>
            <a:off x="566928" y="1207008"/>
            <a:ext cx="11055096" cy="365760"/>
          </a:xfrm>
          <a:prstGeom prst="rect">
            <a:avLst/>
          </a:prstGeom>
          <a:noFill/>
        </p:spPr>
        <p:txBody>
          <a:bodyPr wrap="square" lIns="0" tIns="0" rIns="0" bIns="0" rtlCol="0" anchor="t"/>
          <a:lstStyle/>
          <a:p>
            <a:pPr marL="0" indent="0">
              <a:buNone/>
            </a:pPr>
            <a:r>
              <a:rPr lang="en-US" sz="1400" i="1" dirty="0">
                <a:solidFill>
                  <a:srgbClr val="6B7680"/>
                </a:solidFill>
                <a:latin typeface="Calibri" panose="020F0502020204030204" pitchFamily="34" charset="0"/>
                <a:ea typeface="Calibri" panose="020F0502020204030204" pitchFamily="34" charset="-122"/>
                <a:cs typeface="Calibri" panose="020F0502020204030204" pitchFamily="34" charset="-120"/>
              </a:rPr>
              <a:t>Instead of counting failures, I counted what they were asking for — and a pattern fell straight out.</a:t>
            </a:r>
            <a:endParaRPr lang="en-US" sz="1400" dirty="0"/>
          </a:p>
        </p:txBody>
      </p:sp>
      <p:sp>
        <p:nvSpPr>
          <p:cNvPr id="5" name="Shape 3"/>
          <p:cNvSpPr/>
          <p:nvPr/>
        </p:nvSpPr>
        <p:spPr>
          <a:xfrm>
            <a:off x="566928" y="1627632"/>
            <a:ext cx="11055096" cy="475488"/>
          </a:xfrm>
          <a:prstGeom prst="roundRect">
            <a:avLst>
              <a:gd name="adj" fmla="val 11538"/>
            </a:avLst>
          </a:prstGeom>
          <a:solidFill>
            <a:srgbClr val="1B2026"/>
          </a:solidFill>
          <a:ln w="12700">
            <a:solidFill>
              <a:srgbClr val="2C343C"/>
            </a:solidFill>
            <a:prstDash val="solid"/>
          </a:ln>
        </p:spPr>
      </p:sp>
      <p:sp>
        <p:nvSpPr>
          <p:cNvPr id="6" name="Text 4"/>
          <p:cNvSpPr/>
          <p:nvPr/>
        </p:nvSpPr>
        <p:spPr>
          <a:xfrm>
            <a:off x="713232" y="1764792"/>
            <a:ext cx="10762488" cy="201168"/>
          </a:xfrm>
          <a:prstGeom prst="rect">
            <a:avLst/>
          </a:prstGeom>
          <a:noFill/>
        </p:spPr>
        <p:txBody>
          <a:bodyPr wrap="square" lIns="0" tIns="0" rIns="0" bIns="0" rtlCol="0" anchor="t"/>
          <a:lstStyle/>
          <a:p>
            <a:pPr marL="0" indent="0">
              <a:lnSpc>
                <a:spcPts val="1450"/>
              </a:lnSpc>
              <a:buNone/>
            </a:pPr>
            <a:r>
              <a:rPr lang="en-US" sz="11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grep ' 404 ' access.log | awk -F'"' '{print $2}' | sort | uniq -c | sort -nr</a:t>
            </a:r>
            <a:endParaRPr lang="en-US" sz="1100" dirty="0"/>
          </a:p>
        </p:txBody>
      </p:sp>
      <p:graphicFrame>
        <p:nvGraphicFramePr>
          <p:cNvPr id="7" name="Chart 0"/>
          <p:cNvGraphicFramePr/>
          <p:nvPr/>
        </p:nvGraphicFramePr>
        <p:xfrm>
          <a:off x="475488" y="2240280"/>
          <a:ext cx="6858000" cy="3611880"/>
        </p:xfrm>
        <a:graphic>
          <a:graphicData uri="http://schemas.openxmlformats.org/drawingml/2006/chart">
            <c:chart xmlns:c="http://schemas.openxmlformats.org/drawingml/2006/chart" xmlns:r="http://schemas.openxmlformats.org/officeDocument/2006/relationships" r:id="rId1"/>
          </a:graphicData>
        </a:graphic>
      </p:graphicFrame>
      <p:sp>
        <p:nvSpPr>
          <p:cNvPr id="8" name="Shape 5"/>
          <p:cNvSpPr/>
          <p:nvPr/>
        </p:nvSpPr>
        <p:spPr>
          <a:xfrm>
            <a:off x="7589520" y="2331720"/>
            <a:ext cx="4032504" cy="1371600"/>
          </a:xfrm>
          <a:prstGeom prst="roundRect">
            <a:avLst>
              <a:gd name="adj" fmla="val 3333"/>
            </a:avLst>
          </a:prstGeom>
          <a:solidFill>
            <a:srgbClr val="F5F7F9"/>
          </a:solidFill>
          <a:ln w="12700">
            <a:solidFill>
              <a:srgbClr val="DDE3E8"/>
            </a:solidFill>
            <a:prstDash val="solid"/>
          </a:ln>
        </p:spPr>
      </p:sp>
      <p:sp>
        <p:nvSpPr>
          <p:cNvPr id="9" name="Text 6"/>
          <p:cNvSpPr/>
          <p:nvPr/>
        </p:nvSpPr>
        <p:spPr>
          <a:xfrm>
            <a:off x="7772400" y="2478024"/>
            <a:ext cx="3666744" cy="274320"/>
          </a:xfrm>
          <a:prstGeom prst="rect">
            <a:avLst/>
          </a:prstGeom>
          <a:noFill/>
        </p:spPr>
        <p:txBody>
          <a:bodyPr wrap="square" lIns="0" tIns="0" rIns="0" bIns="0" rtlCol="0" anchor="t"/>
          <a:lstStyle/>
          <a:p>
            <a:pPr marL="0" indent="0">
              <a:buNone/>
            </a:pPr>
            <a:r>
              <a:rPr lang="en-US" sz="1300" b="1" dirty="0">
                <a:solidFill>
                  <a:srgbClr val="6B7680"/>
                </a:solidFill>
                <a:latin typeface="Arial" panose="020B0604020202020204" pitchFamily="34" charset="0"/>
                <a:ea typeface="Arial" panose="020B0604020202020204" pitchFamily="34" charset="-122"/>
                <a:cs typeface="Arial" panose="020B0604020202020204" pitchFamily="34" charset="-120"/>
              </a:rPr>
              <a:t>The top two are just broken links</a:t>
            </a:r>
            <a:endParaRPr lang="en-US" sz="1300" dirty="0"/>
          </a:p>
        </p:txBody>
      </p:sp>
      <p:sp>
        <p:nvSpPr>
          <p:cNvPr id="10" name="Text 7"/>
          <p:cNvSpPr/>
          <p:nvPr/>
        </p:nvSpPr>
        <p:spPr>
          <a:xfrm>
            <a:off x="7772400" y="2788920"/>
            <a:ext cx="3666744" cy="749808"/>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A missing .jar download and a missing GIF, requested over and over by ordinary visitors. High count, zero threat.</a:t>
            </a:r>
            <a:endParaRPr lang="en-US" sz="1200" dirty="0"/>
          </a:p>
        </p:txBody>
      </p:sp>
      <p:sp>
        <p:nvSpPr>
          <p:cNvPr id="11" name="Shape 8"/>
          <p:cNvSpPr/>
          <p:nvPr/>
        </p:nvSpPr>
        <p:spPr>
          <a:xfrm>
            <a:off x="7589520" y="3749040"/>
            <a:ext cx="4032504" cy="2103120"/>
          </a:xfrm>
          <a:prstGeom prst="roundRect">
            <a:avLst>
              <a:gd name="adj" fmla="val 2174"/>
            </a:avLst>
          </a:prstGeom>
          <a:solidFill>
            <a:srgbClr val="F5F7F9"/>
          </a:solidFill>
          <a:ln w="12700">
            <a:solidFill>
              <a:srgbClr val="DDE3E8"/>
            </a:solidFill>
            <a:prstDash val="solid"/>
          </a:ln>
        </p:spPr>
      </p:sp>
      <p:sp>
        <p:nvSpPr>
          <p:cNvPr id="12" name="Text 9"/>
          <p:cNvSpPr/>
          <p:nvPr/>
        </p:nvSpPr>
        <p:spPr>
          <a:xfrm>
            <a:off x="7772400" y="3895344"/>
            <a:ext cx="3666744" cy="274320"/>
          </a:xfrm>
          <a:prstGeom prst="rect">
            <a:avLst/>
          </a:prstGeom>
          <a:noFill/>
        </p:spPr>
        <p:txBody>
          <a:bodyPr wrap="square" lIns="0" tIns="0" rIns="0" bIns="0" rtlCol="0" anchor="t"/>
          <a:lstStyle/>
          <a:p>
            <a:pPr marL="0" indent="0">
              <a:buNone/>
            </a:pPr>
            <a:r>
              <a:rPr lang="en-US" sz="1300" b="1" dirty="0">
                <a:solidFill>
                  <a:srgbClr val="C43F35"/>
                </a:solidFill>
                <a:latin typeface="Arial" panose="020B0604020202020204" pitchFamily="34" charset="0"/>
                <a:ea typeface="Arial" panose="020B0604020202020204" pitchFamily="34" charset="-122"/>
                <a:cs typeface="Arial" panose="020B0604020202020204" pitchFamily="34" charset="-120"/>
              </a:rPr>
              <a:t>The rest is a scanner</a:t>
            </a:r>
            <a:endParaRPr lang="en-US" sz="1300" dirty="0"/>
          </a:p>
        </p:txBody>
      </p:sp>
      <p:sp>
        <p:nvSpPr>
          <p:cNvPr id="13" name="Text 10"/>
          <p:cNvSpPr/>
          <p:nvPr/>
        </p:nvSpPr>
        <p:spPr>
          <a:xfrm>
            <a:off x="7772400" y="4206240"/>
            <a:ext cx="3666744" cy="1481328"/>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/wp-admin/, /wordpress/wp-admin/, /blog/wp-admin/, /wp-login.php, /admin.php, /administrator/ — someone walking a list of common admin panels on a site that does not even run WordPress. Low counts each, but the pattern is unmistakable.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61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PHASE 1 · FINDING</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Two IPs were behind most of the noise</a:t>
            </a:r>
            <a:endParaRPr lang="en-US" sz="3000" dirty="0"/>
          </a:p>
        </p:txBody>
      </p:sp>
      <p:sp>
        <p:nvSpPr>
          <p:cNvPr id="4" name="Shape 2"/>
          <p:cNvSpPr/>
          <p:nvPr/>
        </p:nvSpPr>
        <p:spPr>
          <a:xfrm>
            <a:off x="566928" y="1481328"/>
            <a:ext cx="6583680" cy="1408176"/>
          </a:xfrm>
          <a:prstGeom prst="roundRect">
            <a:avLst>
              <a:gd name="adj" fmla="val 3896"/>
            </a:avLst>
          </a:prstGeom>
          <a:solidFill>
            <a:srgbClr val="1B2026"/>
          </a:solidFill>
          <a:ln w="12700">
            <a:solidFill>
              <a:srgbClr val="2C343C"/>
            </a:solidFill>
            <a:prstDash val="solid"/>
          </a:ln>
        </p:spPr>
      </p:sp>
      <p:sp>
        <p:nvSpPr>
          <p:cNvPr id="5" name="Text 3"/>
          <p:cNvSpPr/>
          <p:nvPr/>
        </p:nvSpPr>
        <p:spPr>
          <a:xfrm>
            <a:off x="713232" y="1618488"/>
            <a:ext cx="6291072" cy="1133856"/>
          </a:xfrm>
          <a:prstGeom prst="rect">
            <a:avLst/>
          </a:prstGeom>
          <a:noFill/>
        </p:spPr>
        <p:txBody>
          <a:bodyPr wrap="square" lIns="0" tIns="0" rIns="0" bIns="0" rtlCol="0" anchor="t"/>
          <a:lstStyle/>
          <a:p>
            <a:pPr marL="0" indent="0">
              <a:lnSpc>
                <a:spcPts val="1520"/>
              </a:lnSpc>
              <a:buNone/>
            </a:pPr>
            <a:r>
              <a:rPr lang="en-US" sz="11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awk '$9==404 {print $1}' access.log \</a:t>
            </a:r>
            <a:endParaRPr lang="en-US" sz="1150" dirty="0"/>
          </a:p>
          <a:p>
            <a:pPr marL="0" indent="0">
              <a:lnSpc>
                <a:spcPts val="1520"/>
              </a:lnSpc>
              <a:buNone/>
            </a:pPr>
            <a:r>
              <a:rPr lang="en-US" sz="11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 sort | uniq -c | awk '$1&gt;10'</a:t>
            </a:r>
            <a:endParaRPr lang="en-US" sz="1150" dirty="0"/>
          </a:p>
          <a:p>
            <a:pPr marL="0" indent="0">
              <a:lnSpc>
                <a:spcPts val="1520"/>
              </a:lnSpc>
              <a:buNone/>
            </a:pPr>
            <a:endParaRPr lang="en-US" sz="1150" dirty="0"/>
          </a:p>
          <a:p>
            <a:pPr marL="0" indent="0">
              <a:lnSpc>
                <a:spcPts val="1520"/>
              </a:lnSpc>
              <a:buNone/>
            </a:pPr>
            <a:r>
              <a:rPr lang="en-US" sz="1150"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    14 144.76.95.39</a:t>
            </a:r>
            <a:endParaRPr lang="en-US" sz="1150" dirty="0"/>
          </a:p>
          <a:p>
            <a:pPr marL="0" indent="0">
              <a:lnSpc>
                <a:spcPts val="1520"/>
              </a:lnSpc>
              <a:buNone/>
            </a:pPr>
            <a:r>
              <a:rPr lang="en-US" sz="1150" dirty="0">
                <a:solidFill>
                  <a:srgbClr val="F08A80"/>
                </a:solidFill>
                <a:latin typeface="Courier New" panose="02070309020205020404" pitchFamily="34" charset="0"/>
                <a:ea typeface="Courier New" panose="02070309020205020404" pitchFamily="34" charset="-122"/>
                <a:cs typeface="Courier New" panose="02070309020205020404" pitchFamily="34" charset="-120"/>
              </a:rPr>
              <a:t>    60 208.91.156.11</a:t>
            </a:r>
            <a:endParaRPr lang="en-US" sz="1150" dirty="0"/>
          </a:p>
        </p:txBody>
      </p:sp>
      <p:sp>
        <p:nvSpPr>
          <p:cNvPr id="6" name="Text 4"/>
          <p:cNvSpPr/>
          <p:nvPr/>
        </p:nvSpPr>
        <p:spPr>
          <a:xfrm>
            <a:off x="566928" y="3063240"/>
            <a:ext cx="6583680" cy="822960"/>
          </a:xfrm>
          <a:prstGeom prst="rect">
            <a:avLst/>
          </a:prstGeom>
          <a:noFill/>
        </p:spPr>
        <p:txBody>
          <a:bodyPr wrap="square" lIns="0" tIns="0" rIns="0" bIns="0" rtlCol="0" anchor="t"/>
          <a:lstStyle/>
          <a:p>
            <a:pPr marL="0" indent="0">
              <a:lnSpc>
                <a:spcPts val="1800"/>
              </a:lnSpc>
              <a:buNone/>
            </a:pPr>
            <a:r>
              <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rPr>
              <a:t>Reading it in plain English: take field 9 (the status), keep the lines where it equals 404, print field 1 (the IP), count each IP, and only show me the ones with more than ten.</a:t>
            </a:r>
            <a:endPar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18" name="Group 17"/>
          <p:cNvGrpSpPr/>
          <p:nvPr/>
        </p:nvGrpSpPr>
        <p:grpSpPr>
          <a:xfrm>
            <a:off x="7452360" y="2117090"/>
            <a:ext cx="4169410" cy="2697480"/>
            <a:chOff x="11736" y="2333"/>
            <a:chExt cx="6566" cy="4248"/>
          </a:xfrm>
        </p:grpSpPr>
        <p:sp>
          <p:nvSpPr>
            <p:cNvPr id="7" name="Shape 5"/>
            <p:cNvSpPr/>
            <p:nvPr/>
          </p:nvSpPr>
          <p:spPr>
            <a:xfrm>
              <a:off x="11736" y="2333"/>
              <a:ext cx="6566" cy="2088"/>
            </a:xfrm>
            <a:prstGeom prst="roundRect">
              <a:avLst>
                <a:gd name="adj" fmla="val 3448"/>
              </a:avLst>
            </a:prstGeom>
            <a:solidFill>
              <a:srgbClr val="1B2026"/>
            </a:solidFill>
            <a:ln w="12700">
              <a:solidFill>
                <a:srgbClr val="2C343C"/>
              </a:solidFill>
              <a:prstDash val="solid"/>
            </a:ln>
          </p:spPr>
        </p:sp>
        <p:sp>
          <p:nvSpPr>
            <p:cNvPr id="10" name="Shape 8"/>
            <p:cNvSpPr/>
            <p:nvPr/>
          </p:nvSpPr>
          <p:spPr>
            <a:xfrm>
              <a:off x="11736" y="4637"/>
              <a:ext cx="6566" cy="1944"/>
            </a:xfrm>
            <a:prstGeom prst="roundRect">
              <a:avLst>
                <a:gd name="adj" fmla="val 3704"/>
              </a:avLst>
            </a:prstGeom>
            <a:solidFill>
              <a:srgbClr val="1B2026"/>
            </a:solidFill>
            <a:ln w="12700">
              <a:solidFill>
                <a:srgbClr val="2C343C"/>
              </a:solidFill>
              <a:prstDash val="solid"/>
            </a:ln>
          </p:spPr>
        </p:sp>
        <p:grpSp>
          <p:nvGrpSpPr>
            <p:cNvPr id="17" name="Group 16"/>
            <p:cNvGrpSpPr/>
            <p:nvPr/>
          </p:nvGrpSpPr>
          <p:grpSpPr>
            <a:xfrm>
              <a:off x="12024" y="2563"/>
              <a:ext cx="5990" cy="3758"/>
              <a:chOff x="12024" y="2563"/>
              <a:chExt cx="5990" cy="3758"/>
            </a:xfrm>
          </p:grpSpPr>
          <p:sp>
            <p:nvSpPr>
              <p:cNvPr id="8" name="Text 6"/>
              <p:cNvSpPr/>
              <p:nvPr/>
            </p:nvSpPr>
            <p:spPr>
              <a:xfrm>
                <a:off x="12024" y="2563"/>
                <a:ext cx="5990" cy="432"/>
              </a:xfrm>
              <a:prstGeom prst="rect">
                <a:avLst/>
              </a:prstGeom>
              <a:noFill/>
            </p:spPr>
            <p:txBody>
              <a:bodyPr wrap="square" lIns="0" tIns="0" rIns="0" bIns="0" rtlCol="0" anchor="t"/>
              <a:lstStyle/>
              <a:p>
                <a:pPr marL="0" indent="0">
                  <a:buNone/>
                </a:pPr>
                <a:r>
                  <a:rPr lang="en-US" sz="1300" b="1" dirty="0">
                    <a:solidFill>
                      <a:srgbClr val="C43F35"/>
                    </a:solidFill>
                    <a:latin typeface="Arial" panose="020B0604020202020204" pitchFamily="34" charset="0"/>
                    <a:ea typeface="Arial" panose="020B0604020202020204" pitchFamily="34" charset="-122"/>
                    <a:cs typeface="Arial" panose="020B0604020202020204" pitchFamily="34" charset="-120"/>
                  </a:rPr>
                  <a:t>208.91.156.11  —  60 x 404</a:t>
                </a:r>
                <a:endParaRPr lang="en-US" sz="1300" dirty="0"/>
              </a:p>
            </p:txBody>
          </p:sp>
          <p:sp>
            <p:nvSpPr>
              <p:cNvPr id="9" name="Text 7"/>
              <p:cNvSpPr/>
              <p:nvPr/>
            </p:nvSpPr>
            <p:spPr>
              <a:xfrm>
                <a:off x="12024" y="3053"/>
                <a:ext cx="5990" cy="1109"/>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Roughly a quarter of every failed request in the file came from this single address.</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nvSpPr>
            <p:spPr>
              <a:xfrm>
                <a:off x="12024" y="4867"/>
                <a:ext cx="5990" cy="432"/>
              </a:xfrm>
              <a:prstGeom prst="rect">
                <a:avLst/>
              </a:prstGeom>
              <a:noFill/>
            </p:spPr>
            <p:txBody>
              <a:bodyPr wrap="square" lIns="0" tIns="0" rIns="0" bIns="0" rtlCol="0" anchor="t"/>
              <a:lstStyle/>
              <a:p>
                <a:pPr marL="0" indent="0">
                  <a:buNone/>
                </a:pPr>
                <a:r>
                  <a:rPr lang="en-US" sz="1300" b="1" dirty="0">
                    <a:solidFill>
                      <a:srgbClr val="D9942B"/>
                    </a:solidFill>
                    <a:latin typeface="Arial" panose="020B0604020202020204" pitchFamily="34" charset="0"/>
                    <a:ea typeface="Arial" panose="020B0604020202020204" pitchFamily="34" charset="-122"/>
                    <a:cs typeface="Arial" panose="020B0604020202020204" pitchFamily="34" charset="-120"/>
                  </a:rPr>
                  <a:t>144.76.95.39  —  14 x 404</a:t>
                </a:r>
                <a:endParaRPr lang="en-US" sz="1300" dirty="0"/>
              </a:p>
            </p:txBody>
          </p:sp>
          <p:sp>
            <p:nvSpPr>
              <p:cNvPr id="12" name="Text 10"/>
              <p:cNvSpPr/>
              <p:nvPr/>
            </p:nvSpPr>
            <p:spPr>
              <a:xfrm>
                <a:off x="12024" y="5357"/>
                <a:ext cx="5990" cy="965"/>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Lower volume, same behaviour — worth flagging, not worth panicking about.</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grpSp>
      </p:grpSp>
      <p:grpSp>
        <p:nvGrpSpPr>
          <p:cNvPr id="16" name="Group 15"/>
          <p:cNvGrpSpPr/>
          <p:nvPr/>
        </p:nvGrpSpPr>
        <p:grpSpPr>
          <a:xfrm>
            <a:off x="530225" y="3914140"/>
            <a:ext cx="6583680" cy="1508760"/>
            <a:chOff x="893" y="6624"/>
            <a:chExt cx="10368" cy="2376"/>
          </a:xfrm>
        </p:grpSpPr>
        <p:sp>
          <p:nvSpPr>
            <p:cNvPr id="13" name="Shape 11"/>
            <p:cNvSpPr/>
            <p:nvPr/>
          </p:nvSpPr>
          <p:spPr>
            <a:xfrm>
              <a:off x="893" y="6624"/>
              <a:ext cx="10368" cy="2376"/>
            </a:xfrm>
            <a:prstGeom prst="roundRect">
              <a:avLst>
                <a:gd name="adj" fmla="val 3030"/>
              </a:avLst>
            </a:prstGeom>
            <a:solidFill>
              <a:srgbClr val="17352A"/>
            </a:solidFill>
            <a:ln w="12700">
              <a:solidFill>
                <a:srgbClr val="2A5A45"/>
              </a:solidFill>
              <a:prstDash val="solid"/>
            </a:ln>
          </p:spPr>
        </p:sp>
        <p:sp>
          <p:nvSpPr>
            <p:cNvPr id="14" name="Text 12"/>
            <p:cNvSpPr/>
            <p:nvPr/>
          </p:nvSpPr>
          <p:spPr>
            <a:xfrm>
              <a:off x="1181" y="6854"/>
              <a:ext cx="9792" cy="432"/>
            </a:xfrm>
            <a:prstGeom prst="rect">
              <a:avLst/>
            </a:prstGeom>
            <a:noFill/>
          </p:spPr>
          <p:txBody>
            <a:bodyPr wrap="square" lIns="0" tIns="0" rIns="0" bIns="0" rtlCol="0" anchor="t"/>
            <a:lstStyle/>
            <a:p>
              <a:pPr marL="0" indent="0">
                <a:buNone/>
              </a:pPr>
              <a:r>
                <a:rPr lang="en-US" sz="1300" b="1" dirty="0">
                  <a:solidFill>
                    <a:srgbClr val="7FE0A6"/>
                  </a:solidFill>
                  <a:latin typeface="Arial" panose="020B0604020202020204" pitchFamily="34" charset="0"/>
                  <a:ea typeface="Arial" panose="020B0604020202020204" pitchFamily="34" charset="-122"/>
                  <a:cs typeface="Arial" panose="020B0604020202020204" pitchFamily="34" charset="-120"/>
                </a:rPr>
                <a:t>I saved this as detect_404.sh</a:t>
              </a:r>
              <a:endParaRPr lang="en-US" sz="1300" dirty="0"/>
            </a:p>
          </p:txBody>
        </p:sp>
        <p:sp>
          <p:nvSpPr>
            <p:cNvPr id="15" name="Text 13"/>
            <p:cNvSpPr/>
            <p:nvPr/>
          </p:nvSpPr>
          <p:spPr>
            <a:xfrm>
              <a:off x="1181" y="7344"/>
              <a:ext cx="9792" cy="1440"/>
            </a:xfrm>
            <a:prstGeom prst="rect">
              <a:avLst/>
            </a:prstGeom>
            <a:noFill/>
          </p:spPr>
          <p:txBody>
            <a:bodyPr wrap="square" lIns="0" tIns="0" rIns="0" bIns="0" rtlCol="0" anchor="t"/>
            <a:lstStyle/>
            <a:p>
              <a:pPr marL="0" indent="0">
                <a:lnSpc>
                  <a:spcPts val="1700"/>
                </a:lnSpc>
                <a:buNone/>
              </a:pPr>
              <a:r>
                <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rPr>
                <a:t>Once a one-liner is useful you should not have to remember it. Wrapping it in a shell script with chmod +x turned my first piece of analysis into my first reusable detection rule.</a:t>
              </a:r>
              <a:endPar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BRIDGE TO PHASE 2</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What the public log could not show me</a:t>
            </a:r>
            <a:endParaRPr lang="en-US" sz="3000" dirty="0"/>
          </a:p>
        </p:txBody>
      </p:sp>
      <p:sp>
        <p:nvSpPr>
          <p:cNvPr id="4" name="Text 2"/>
          <p:cNvSpPr/>
          <p:nvPr/>
        </p:nvSpPr>
        <p:spPr>
          <a:xfrm>
            <a:off x="566928" y="1481328"/>
            <a:ext cx="5394960" cy="274320"/>
          </a:xfrm>
          <a:prstGeom prst="rect">
            <a:avLst/>
          </a:prstGeom>
          <a:noFill/>
        </p:spPr>
        <p:txBody>
          <a:bodyPr wrap="square" lIns="0" tIns="0" rIns="0" bIns="0" rtlCol="0" anchor="ctr"/>
          <a:lstStyle/>
          <a:p>
            <a:pPr marL="0" indent="0">
              <a:buNone/>
            </a:pPr>
            <a:r>
              <a:rPr lang="en-US" sz="1500" b="1" dirty="0">
                <a:solidFill>
                  <a:srgbClr val="C43F35"/>
                </a:solidFill>
                <a:latin typeface="Arial" panose="020B0604020202020204" pitchFamily="34" charset="0"/>
                <a:ea typeface="Arial" panose="020B0604020202020204" pitchFamily="34" charset="-122"/>
                <a:cs typeface="Arial" panose="020B0604020202020204" pitchFamily="34" charset="-120"/>
              </a:rPr>
              <a:t>Missing from the 2015 sample</a:t>
            </a:r>
            <a:endParaRPr lang="en-US" sz="1500" dirty="0"/>
          </a:p>
        </p:txBody>
      </p:sp>
      <p:sp>
        <p:nvSpPr>
          <p:cNvPr id="5" name="Text 3"/>
          <p:cNvSpPr/>
          <p:nvPr/>
        </p:nvSpPr>
        <p:spPr>
          <a:xfrm>
            <a:off x="567055" y="2656205"/>
            <a:ext cx="5394960" cy="1618615"/>
          </a:xfrm>
          <a:prstGeom prst="rect">
            <a:avLst/>
          </a:prstGeom>
          <a:noFill/>
        </p:spPr>
        <p:txBody>
          <a:bodyPr wrap="square" lIns="0" tIns="0" rIns="0" bIns="0" rtlCol="0" anchor="t"/>
          <a:lstStyle/>
          <a:p>
            <a:pPr marL="342900" indent="-342900">
              <a:spcAft>
                <a:spcPts val="700"/>
              </a:spcAft>
              <a:buSzPct val="100000"/>
              <a:buFont typeface="Arial" panose="020B0604020202020204" pitchFamily="34" charset="0"/>
              <a:buChar char="•"/>
            </a:pPr>
            <a:r>
              <a:rPr lang="en-US" sz="1350" dirty="0">
                <a:solidFill>
                  <a:srgbClr val="3C464F"/>
                </a:solidFill>
                <a:latin typeface="Calibri" panose="020F0502020204030204" pitchFamily="34" charset="0"/>
                <a:ea typeface="Calibri" panose="020F0502020204030204" pitchFamily="34" charset="-122"/>
                <a:cs typeface="Calibri" panose="020F0502020204030204" pitchFamily="34" charset="-120"/>
              </a:rPr>
              <a:t>No failed logins at all — zero 401 responses</a:t>
            </a:r>
            <a:endParaRPr lang="en-US" sz="1350" dirty="0"/>
          </a:p>
          <a:p>
            <a:pPr marL="342900" indent="-342900">
              <a:spcAft>
                <a:spcPts val="700"/>
              </a:spcAft>
              <a:buSzPct val="100000"/>
              <a:buFont typeface="Arial" panose="020B0604020202020204" pitchFamily="34" charset="0"/>
              <a:buChar char="•"/>
            </a:pPr>
            <a:r>
              <a:rPr lang="en-US" sz="1350" dirty="0">
                <a:solidFill>
                  <a:srgbClr val="3C464F"/>
                </a:solidFill>
                <a:latin typeface="Calibri" panose="020F0502020204030204" pitchFamily="34" charset="0"/>
                <a:ea typeface="Calibri" panose="020F0502020204030204" pitchFamily="34" charset="-122"/>
                <a:cs typeface="Calibri" panose="020F0502020204030204" pitchFamily="34" charset="-120"/>
              </a:rPr>
              <a:t>No SQL injection or XSS payloads in the URLs</a:t>
            </a:r>
            <a:endParaRPr lang="en-US" sz="1350" dirty="0"/>
          </a:p>
          <a:p>
            <a:pPr marL="342900" indent="-342900">
              <a:spcAft>
                <a:spcPts val="700"/>
              </a:spcAft>
              <a:buSzPct val="100000"/>
              <a:buFont typeface="Arial" panose="020B0604020202020204" pitchFamily="34" charset="0"/>
              <a:buChar char="•"/>
            </a:pPr>
            <a:r>
              <a:rPr lang="en-US" sz="1350" dirty="0">
                <a:solidFill>
                  <a:srgbClr val="3C464F"/>
                </a:solidFill>
                <a:latin typeface="Calibri" panose="020F0502020204030204" pitchFamily="34" charset="0"/>
                <a:ea typeface="Calibri" panose="020F0502020204030204" pitchFamily="34" charset="-122"/>
                <a:cs typeface="Calibri" panose="020F0502020204030204" pitchFamily="34" charset="-120"/>
              </a:rPr>
              <a:t>No tool user agents — everything claimed to be a browser</a:t>
            </a:r>
            <a:endParaRPr lang="en-US" sz="1350" dirty="0"/>
          </a:p>
          <a:p>
            <a:pPr marL="342900" indent="-342900">
              <a:spcAft>
                <a:spcPts val="700"/>
              </a:spcAft>
              <a:buSzPct val="100000"/>
              <a:buFont typeface="Arial" panose="020B0604020202020204" pitchFamily="34" charset="0"/>
              <a:buChar char="•"/>
            </a:pPr>
            <a:r>
              <a:rPr lang="en-US" sz="1350" dirty="0">
                <a:solidFill>
                  <a:srgbClr val="3C464F"/>
                </a:solidFill>
                <a:latin typeface="Calibri" panose="020F0502020204030204" pitchFamily="34" charset="0"/>
                <a:ea typeface="Calibri" panose="020F0502020204030204" pitchFamily="34" charset="-122"/>
                <a:cs typeface="Calibri" panose="020F0502020204030204" pitchFamily="34" charset="-120"/>
              </a:rPr>
              <a:t>Ten years old, so no modern scanner behaviour</a:t>
            </a:r>
            <a:endParaRPr lang="en-US" sz="1350" dirty="0"/>
          </a:p>
          <a:p>
            <a:pPr marL="342900" indent="-342900">
              <a:spcAft>
                <a:spcPts val="700"/>
              </a:spcAft>
              <a:buSzPct val="100000"/>
              <a:buFont typeface="Arial" panose="020B0604020202020204" pitchFamily="34" charset="0"/>
              <a:buChar char="•"/>
            </a:pPr>
            <a:r>
              <a:rPr lang="en-US" sz="1350" dirty="0">
                <a:solidFill>
                  <a:srgbClr val="3C464F"/>
                </a:solidFill>
                <a:latin typeface="Calibri" panose="020F0502020204030204" pitchFamily="34" charset="0"/>
                <a:ea typeface="Calibri" panose="020F0502020204030204" pitchFamily="34" charset="-122"/>
                <a:cs typeface="Calibri" panose="020F0502020204030204" pitchFamily="34" charset="-120"/>
              </a:rPr>
              <a:t>And I could never verify my rules: I had no way of knowing what really happened on that server</a:t>
            </a:r>
            <a:endParaRPr lang="en-US" sz="1350" dirty="0"/>
          </a:p>
        </p:txBody>
      </p:sp>
      <p:sp>
        <p:nvSpPr>
          <p:cNvPr id="6" name="Shape 4"/>
          <p:cNvSpPr/>
          <p:nvPr/>
        </p:nvSpPr>
        <p:spPr>
          <a:xfrm>
            <a:off x="6355080" y="1463040"/>
            <a:ext cx="5266944" cy="4160520"/>
          </a:xfrm>
          <a:prstGeom prst="roundRect">
            <a:avLst>
              <a:gd name="adj" fmla="val 1099"/>
            </a:avLst>
          </a:prstGeom>
          <a:solidFill>
            <a:srgbClr val="F5F7F9"/>
          </a:solidFill>
          <a:ln w="12700">
            <a:solidFill>
              <a:srgbClr val="DDE3E8"/>
            </a:solidFill>
            <a:prstDash val="solid"/>
          </a:ln>
        </p:spPr>
      </p:sp>
      <p:sp>
        <p:nvSpPr>
          <p:cNvPr id="7" name="Text 5"/>
          <p:cNvSpPr/>
          <p:nvPr/>
        </p:nvSpPr>
        <p:spPr>
          <a:xfrm>
            <a:off x="6537960" y="1627632"/>
            <a:ext cx="4937760" cy="310896"/>
          </a:xfrm>
          <a:prstGeom prst="rect">
            <a:avLst/>
          </a:prstGeom>
          <a:noFill/>
        </p:spPr>
        <p:txBody>
          <a:bodyPr wrap="square" lIns="0" tIns="0" rIns="0" bIns="0" rtlCol="0" anchor="ctr"/>
          <a:lstStyle/>
          <a:p>
            <a:pPr marL="0" indent="0">
              <a:buNone/>
            </a:pPr>
            <a:r>
              <a:rPr lang="en-US" sz="1500" b="1" dirty="0">
                <a:solidFill>
                  <a:srgbClr val="2FA85D"/>
                </a:solidFill>
                <a:latin typeface="Arial" panose="020B0604020202020204" pitchFamily="34" charset="0"/>
                <a:ea typeface="Arial" panose="020B0604020202020204" pitchFamily="34" charset="-122"/>
                <a:cs typeface="Arial" panose="020B0604020202020204" pitchFamily="34" charset="-120"/>
              </a:rPr>
              <a:t>So I built a target of my own</a:t>
            </a:r>
            <a:endParaRPr lang="en-US" sz="1500" dirty="0"/>
          </a:p>
        </p:txBody>
      </p:sp>
      <p:sp>
        <p:nvSpPr>
          <p:cNvPr id="8" name="Text 6"/>
          <p:cNvSpPr/>
          <p:nvPr/>
        </p:nvSpPr>
        <p:spPr>
          <a:xfrm>
            <a:off x="6537960" y="1975104"/>
            <a:ext cx="4937760" cy="274320"/>
          </a:xfrm>
          <a:prstGeom prst="rect">
            <a:avLst/>
          </a:prstGeom>
          <a:noFill/>
        </p:spPr>
        <p:txBody>
          <a:bodyPr wrap="square" lIns="0" tIns="0" rIns="0" bIns="0" rtlCol="0" anchor="t"/>
          <a:lstStyle/>
          <a:p>
            <a:pPr marL="0" indent="0">
              <a:buNone/>
            </a:pPr>
            <a:r>
              <a:rPr lang="en-US" sz="1250" dirty="0">
                <a:solidFill>
                  <a:srgbClr val="3C464F"/>
                </a:solidFill>
                <a:latin typeface="Calibri" panose="020F0502020204030204" pitchFamily="34" charset="0"/>
                <a:ea typeface="Calibri" panose="020F0502020204030204" pitchFamily="34" charset="-122"/>
                <a:cs typeface="Calibri" panose="020F0502020204030204" pitchFamily="34" charset="-120"/>
              </a:rPr>
              <a:t>On Kali Linux, so every log line has a known cause:</a:t>
            </a:r>
            <a:endParaRPr lang="en-US" sz="1250" dirty="0"/>
          </a:p>
        </p:txBody>
      </p:sp>
      <p:sp>
        <p:nvSpPr>
          <p:cNvPr id="9" name="Shape 7"/>
          <p:cNvSpPr/>
          <p:nvPr/>
        </p:nvSpPr>
        <p:spPr>
          <a:xfrm>
            <a:off x="6537960" y="2450592"/>
            <a:ext cx="146304" cy="146304"/>
          </a:xfrm>
          <a:prstGeom prst="ellipse">
            <a:avLst/>
          </a:prstGeom>
          <a:solidFill>
            <a:srgbClr val="2FA85D"/>
          </a:solidFill>
          <a:ln w="12700">
            <a:solidFill>
              <a:srgbClr val="2FA85D"/>
            </a:solidFill>
            <a:prstDash val="solid"/>
          </a:ln>
        </p:spPr>
      </p:sp>
      <p:sp>
        <p:nvSpPr>
          <p:cNvPr id="10" name="Text 8"/>
          <p:cNvSpPr/>
          <p:nvPr/>
        </p:nvSpPr>
        <p:spPr>
          <a:xfrm>
            <a:off x="6812280" y="2395728"/>
            <a:ext cx="2286000" cy="274320"/>
          </a:xfrm>
          <a:prstGeom prst="rect">
            <a:avLst/>
          </a:prstGeom>
          <a:noFill/>
        </p:spPr>
        <p:txBody>
          <a:bodyPr wrap="square" lIns="0" tIns="0" rIns="0" bIns="0" rtlCol="0" anchor="t"/>
          <a:lstStyle/>
          <a:p>
            <a:pPr marL="0" indent="0">
              <a:buNone/>
            </a:pPr>
            <a:r>
              <a:rPr lang="en-US" sz="1250" b="1" dirty="0">
                <a:solidFill>
                  <a:srgbClr val="12161A"/>
                </a:solidFill>
                <a:latin typeface="Arial" panose="020B0604020202020204" pitchFamily="34" charset="0"/>
                <a:ea typeface="Arial" panose="020B0604020202020204" pitchFamily="34" charset="-122"/>
                <a:cs typeface="Arial" panose="020B0604020202020204" pitchFamily="34" charset="-120"/>
              </a:rPr>
              <a:t>Apache 2.4.68</a:t>
            </a:r>
            <a:endParaRPr lang="en-US" sz="1250" dirty="0"/>
          </a:p>
        </p:txBody>
      </p:sp>
      <p:sp>
        <p:nvSpPr>
          <p:cNvPr id="11" name="Text 9"/>
          <p:cNvSpPr/>
          <p:nvPr/>
        </p:nvSpPr>
        <p:spPr>
          <a:xfrm>
            <a:off x="9098280" y="2414016"/>
            <a:ext cx="2377440" cy="457200"/>
          </a:xfrm>
          <a:prstGeom prst="rect">
            <a:avLst/>
          </a:prstGeom>
          <a:noFill/>
        </p:spPr>
        <p:txBody>
          <a:bodyPr wrap="square" lIns="0" tIns="0" rIns="0" bIns="0" rtlCol="0" anchor="t"/>
          <a:lstStyle/>
          <a:p>
            <a:pPr marL="0" indent="0">
              <a:buNone/>
            </a:pPr>
            <a:r>
              <a:rPr lang="en-US" sz="1150" dirty="0">
                <a:solidFill>
                  <a:srgbClr val="6B7680"/>
                </a:solidFill>
                <a:latin typeface="Calibri" panose="020F0502020204030204" pitchFamily="34" charset="0"/>
                <a:ea typeface="Calibri" panose="020F0502020204030204" pitchFamily="34" charset="-122"/>
                <a:cs typeface="Calibri" panose="020F0502020204030204" pitchFamily="34" charset="-120"/>
              </a:rPr>
              <a:t>the web server writing the logs</a:t>
            </a:r>
            <a:endParaRPr lang="en-US" sz="1150" dirty="0"/>
          </a:p>
        </p:txBody>
      </p:sp>
      <p:sp>
        <p:nvSpPr>
          <p:cNvPr id="12" name="Shape 10"/>
          <p:cNvSpPr/>
          <p:nvPr/>
        </p:nvSpPr>
        <p:spPr>
          <a:xfrm>
            <a:off x="6537960" y="3072384"/>
            <a:ext cx="146304" cy="146304"/>
          </a:xfrm>
          <a:prstGeom prst="ellipse">
            <a:avLst/>
          </a:prstGeom>
          <a:solidFill>
            <a:srgbClr val="2FA85D"/>
          </a:solidFill>
          <a:ln w="12700">
            <a:solidFill>
              <a:srgbClr val="2FA85D"/>
            </a:solidFill>
            <a:prstDash val="solid"/>
          </a:ln>
        </p:spPr>
      </p:sp>
      <p:sp>
        <p:nvSpPr>
          <p:cNvPr id="13" name="Text 11"/>
          <p:cNvSpPr/>
          <p:nvPr/>
        </p:nvSpPr>
        <p:spPr>
          <a:xfrm>
            <a:off x="6812280" y="3017520"/>
            <a:ext cx="2286000" cy="274320"/>
          </a:xfrm>
          <a:prstGeom prst="rect">
            <a:avLst/>
          </a:prstGeom>
          <a:noFill/>
        </p:spPr>
        <p:txBody>
          <a:bodyPr wrap="square" lIns="0" tIns="0" rIns="0" bIns="0" rtlCol="0" anchor="t"/>
          <a:lstStyle/>
          <a:p>
            <a:pPr marL="0" indent="0">
              <a:buNone/>
            </a:pPr>
            <a:r>
              <a:rPr lang="en-US" sz="1250" b="1" dirty="0">
                <a:solidFill>
                  <a:srgbClr val="12161A"/>
                </a:solidFill>
                <a:latin typeface="Arial" panose="020B0604020202020204" pitchFamily="34" charset="0"/>
                <a:ea typeface="Arial" panose="020B0604020202020204" pitchFamily="34" charset="-122"/>
                <a:cs typeface="Arial" panose="020B0604020202020204" pitchFamily="34" charset="-120"/>
              </a:rPr>
              <a:t>PHP 8.4 + modules</a:t>
            </a:r>
            <a:endParaRPr lang="en-US" sz="1250" dirty="0"/>
          </a:p>
        </p:txBody>
      </p:sp>
      <p:sp>
        <p:nvSpPr>
          <p:cNvPr id="14" name="Text 12"/>
          <p:cNvSpPr/>
          <p:nvPr/>
        </p:nvSpPr>
        <p:spPr>
          <a:xfrm>
            <a:off x="9098280" y="3035808"/>
            <a:ext cx="2377440" cy="457200"/>
          </a:xfrm>
          <a:prstGeom prst="rect">
            <a:avLst/>
          </a:prstGeom>
          <a:noFill/>
        </p:spPr>
        <p:txBody>
          <a:bodyPr wrap="square" lIns="0" tIns="0" rIns="0" bIns="0" rtlCol="0" anchor="t"/>
          <a:lstStyle/>
          <a:p>
            <a:pPr marL="0" indent="0">
              <a:buNone/>
            </a:pPr>
            <a:r>
              <a:rPr lang="en-US" sz="1150" dirty="0">
                <a:solidFill>
                  <a:srgbClr val="6B7680"/>
                </a:solidFill>
                <a:latin typeface="Calibri" panose="020F0502020204030204" pitchFamily="34" charset="0"/>
                <a:ea typeface="Calibri" panose="020F0502020204030204" pitchFamily="34" charset="-122"/>
                <a:cs typeface="Calibri" panose="020F0502020204030204" pitchFamily="34" charset="-120"/>
              </a:rPr>
              <a:t>so the app actually runs</a:t>
            </a:r>
            <a:endParaRPr lang="en-US" sz="1150" dirty="0"/>
          </a:p>
        </p:txBody>
      </p:sp>
      <p:sp>
        <p:nvSpPr>
          <p:cNvPr id="15" name="Shape 13"/>
          <p:cNvSpPr/>
          <p:nvPr/>
        </p:nvSpPr>
        <p:spPr>
          <a:xfrm>
            <a:off x="6537960" y="3694176"/>
            <a:ext cx="146304" cy="146304"/>
          </a:xfrm>
          <a:prstGeom prst="ellipse">
            <a:avLst/>
          </a:prstGeom>
          <a:solidFill>
            <a:srgbClr val="2FA85D"/>
          </a:solidFill>
          <a:ln w="12700">
            <a:solidFill>
              <a:srgbClr val="2FA85D"/>
            </a:solidFill>
            <a:prstDash val="solid"/>
          </a:ln>
        </p:spPr>
      </p:sp>
      <p:sp>
        <p:nvSpPr>
          <p:cNvPr id="16" name="Text 14"/>
          <p:cNvSpPr/>
          <p:nvPr/>
        </p:nvSpPr>
        <p:spPr>
          <a:xfrm>
            <a:off x="6812280" y="3639312"/>
            <a:ext cx="2286000" cy="274320"/>
          </a:xfrm>
          <a:prstGeom prst="rect">
            <a:avLst/>
          </a:prstGeom>
          <a:noFill/>
        </p:spPr>
        <p:txBody>
          <a:bodyPr wrap="square" lIns="0" tIns="0" rIns="0" bIns="0" rtlCol="0" anchor="t"/>
          <a:lstStyle/>
          <a:p>
            <a:pPr marL="0" indent="0">
              <a:buNone/>
            </a:pPr>
            <a:r>
              <a:rPr lang="en-US" sz="1250" b="1" dirty="0">
                <a:solidFill>
                  <a:srgbClr val="12161A"/>
                </a:solidFill>
                <a:latin typeface="Arial" panose="020B0604020202020204" pitchFamily="34" charset="0"/>
                <a:ea typeface="Arial" panose="020B0604020202020204" pitchFamily="34" charset="-122"/>
                <a:cs typeface="Arial" panose="020B0604020202020204" pitchFamily="34" charset="-120"/>
              </a:rPr>
              <a:t>MariaDB 11.8</a:t>
            </a:r>
            <a:endParaRPr lang="en-US" sz="1250" dirty="0"/>
          </a:p>
        </p:txBody>
      </p:sp>
      <p:sp>
        <p:nvSpPr>
          <p:cNvPr id="17" name="Text 15"/>
          <p:cNvSpPr/>
          <p:nvPr/>
        </p:nvSpPr>
        <p:spPr>
          <a:xfrm>
            <a:off x="9098280" y="3657600"/>
            <a:ext cx="2377440" cy="457200"/>
          </a:xfrm>
          <a:prstGeom prst="rect">
            <a:avLst/>
          </a:prstGeom>
          <a:noFill/>
        </p:spPr>
        <p:txBody>
          <a:bodyPr wrap="square" lIns="0" tIns="0" rIns="0" bIns="0" rtlCol="0" anchor="t"/>
          <a:lstStyle/>
          <a:p>
            <a:pPr marL="0" indent="0">
              <a:buNone/>
            </a:pPr>
            <a:r>
              <a:rPr lang="en-US" sz="1150" dirty="0">
                <a:solidFill>
                  <a:srgbClr val="6B7680"/>
                </a:solidFill>
                <a:latin typeface="Calibri" panose="020F0502020204030204" pitchFamily="34" charset="0"/>
                <a:ea typeface="Calibri" panose="020F0502020204030204" pitchFamily="34" charset="-122"/>
                <a:cs typeface="Calibri" panose="020F0502020204030204" pitchFamily="34" charset="-120"/>
              </a:rPr>
              <a:t>database behind the app</a:t>
            </a:r>
            <a:endParaRPr lang="en-US" sz="1150" dirty="0"/>
          </a:p>
        </p:txBody>
      </p:sp>
      <p:sp>
        <p:nvSpPr>
          <p:cNvPr id="18" name="Shape 16"/>
          <p:cNvSpPr/>
          <p:nvPr/>
        </p:nvSpPr>
        <p:spPr>
          <a:xfrm>
            <a:off x="6537960" y="4315968"/>
            <a:ext cx="146304" cy="146304"/>
          </a:xfrm>
          <a:prstGeom prst="ellipse">
            <a:avLst/>
          </a:prstGeom>
          <a:solidFill>
            <a:srgbClr val="2FA85D"/>
          </a:solidFill>
          <a:ln w="12700">
            <a:solidFill>
              <a:srgbClr val="2FA85D"/>
            </a:solidFill>
            <a:prstDash val="solid"/>
          </a:ln>
        </p:spPr>
      </p:sp>
      <p:sp>
        <p:nvSpPr>
          <p:cNvPr id="19" name="Text 17"/>
          <p:cNvSpPr/>
          <p:nvPr/>
        </p:nvSpPr>
        <p:spPr>
          <a:xfrm>
            <a:off x="6812280" y="4261104"/>
            <a:ext cx="2286000" cy="274320"/>
          </a:xfrm>
          <a:prstGeom prst="rect">
            <a:avLst/>
          </a:prstGeom>
          <a:noFill/>
        </p:spPr>
        <p:txBody>
          <a:bodyPr wrap="square" lIns="0" tIns="0" rIns="0" bIns="0" rtlCol="0" anchor="t"/>
          <a:lstStyle/>
          <a:p>
            <a:pPr marL="0" indent="0">
              <a:buNone/>
            </a:pPr>
            <a:r>
              <a:rPr lang="en-US" sz="1250" b="1" dirty="0">
                <a:solidFill>
                  <a:srgbClr val="12161A"/>
                </a:solidFill>
                <a:latin typeface="Arial" panose="020B0604020202020204" pitchFamily="34" charset="0"/>
                <a:ea typeface="Arial" panose="020B0604020202020204" pitchFamily="34" charset="-122"/>
                <a:cs typeface="Arial" panose="020B0604020202020204" pitchFamily="34" charset="-120"/>
              </a:rPr>
              <a:t>DVWA</a:t>
            </a:r>
            <a:endParaRPr lang="en-US" sz="1250" dirty="0"/>
          </a:p>
        </p:txBody>
      </p:sp>
      <p:sp>
        <p:nvSpPr>
          <p:cNvPr id="20" name="Text 18"/>
          <p:cNvSpPr/>
          <p:nvPr/>
        </p:nvSpPr>
        <p:spPr>
          <a:xfrm>
            <a:off x="9098280" y="4279392"/>
            <a:ext cx="2377440" cy="457200"/>
          </a:xfrm>
          <a:prstGeom prst="rect">
            <a:avLst/>
          </a:prstGeom>
          <a:noFill/>
        </p:spPr>
        <p:txBody>
          <a:bodyPr wrap="square" lIns="0" tIns="0" rIns="0" bIns="0" rtlCol="0" anchor="t"/>
          <a:lstStyle/>
          <a:p>
            <a:pPr marL="0" indent="0">
              <a:buNone/>
            </a:pPr>
            <a:r>
              <a:rPr lang="en-US" sz="1150" dirty="0">
                <a:solidFill>
                  <a:srgbClr val="6B7680"/>
                </a:solidFill>
                <a:latin typeface="Calibri" panose="020F0502020204030204" pitchFamily="34" charset="0"/>
                <a:ea typeface="Calibri" panose="020F0502020204030204" pitchFamily="34" charset="-122"/>
                <a:cs typeface="Calibri" panose="020F0502020204030204" pitchFamily="34" charset="-120"/>
              </a:rPr>
              <a:t>deliberately vulnerable web app</a:t>
            </a:r>
            <a:endParaRPr lang="en-US" sz="1150" dirty="0"/>
          </a:p>
        </p:txBody>
      </p:sp>
      <p:sp>
        <p:nvSpPr>
          <p:cNvPr id="21" name="Shape 19"/>
          <p:cNvSpPr/>
          <p:nvPr/>
        </p:nvSpPr>
        <p:spPr>
          <a:xfrm>
            <a:off x="6537960" y="4937760"/>
            <a:ext cx="146304" cy="146304"/>
          </a:xfrm>
          <a:prstGeom prst="ellipse">
            <a:avLst/>
          </a:prstGeom>
          <a:solidFill>
            <a:srgbClr val="2FA85D"/>
          </a:solidFill>
          <a:ln w="12700">
            <a:solidFill>
              <a:srgbClr val="2FA85D"/>
            </a:solidFill>
            <a:prstDash val="solid"/>
          </a:ln>
        </p:spPr>
      </p:sp>
      <p:sp>
        <p:nvSpPr>
          <p:cNvPr id="22" name="Text 20"/>
          <p:cNvSpPr/>
          <p:nvPr/>
        </p:nvSpPr>
        <p:spPr>
          <a:xfrm>
            <a:off x="6812280" y="4882896"/>
            <a:ext cx="2286000" cy="274320"/>
          </a:xfrm>
          <a:prstGeom prst="rect">
            <a:avLst/>
          </a:prstGeom>
          <a:noFill/>
        </p:spPr>
        <p:txBody>
          <a:bodyPr wrap="square" lIns="0" tIns="0" rIns="0" bIns="0" rtlCol="0" anchor="t"/>
          <a:lstStyle/>
          <a:p>
            <a:pPr marL="0" indent="0">
              <a:buNone/>
            </a:pPr>
            <a:r>
              <a:rPr lang="en-US" sz="1250" b="1" dirty="0">
                <a:solidFill>
                  <a:srgbClr val="12161A"/>
                </a:solidFill>
                <a:latin typeface="Arial" panose="020B0604020202020204" pitchFamily="34" charset="0"/>
                <a:ea typeface="Arial" panose="020B0604020202020204" pitchFamily="34" charset="-122"/>
                <a:cs typeface="Arial" panose="020B0604020202020204" pitchFamily="34" charset="-120"/>
              </a:rPr>
              <a:t>curl</a:t>
            </a:r>
            <a:endParaRPr lang="en-US" sz="1250" dirty="0"/>
          </a:p>
        </p:txBody>
      </p:sp>
      <p:sp>
        <p:nvSpPr>
          <p:cNvPr id="23" name="Text 21"/>
          <p:cNvSpPr/>
          <p:nvPr/>
        </p:nvSpPr>
        <p:spPr>
          <a:xfrm>
            <a:off x="9098280" y="4901184"/>
            <a:ext cx="2377440" cy="457200"/>
          </a:xfrm>
          <a:prstGeom prst="rect">
            <a:avLst/>
          </a:prstGeom>
          <a:noFill/>
        </p:spPr>
        <p:txBody>
          <a:bodyPr wrap="square" lIns="0" tIns="0" rIns="0" bIns="0" rtlCol="0" anchor="t"/>
          <a:lstStyle/>
          <a:p>
            <a:pPr marL="0" indent="0">
              <a:buNone/>
            </a:pPr>
            <a:r>
              <a:rPr lang="en-US" sz="1150" dirty="0">
                <a:solidFill>
                  <a:srgbClr val="6B7680"/>
                </a:solidFill>
                <a:latin typeface="Calibri" panose="020F0502020204030204" pitchFamily="34" charset="0"/>
                <a:ea typeface="Calibri" panose="020F0502020204030204" pitchFamily="34" charset="-122"/>
                <a:cs typeface="Calibri" panose="020F0502020204030204" pitchFamily="34" charset="-120"/>
              </a:rPr>
              <a:t>to generate scanner-style traffic</a:t>
            </a:r>
            <a:endParaRPr lang="en-US" sz="1150" dirty="0"/>
          </a:p>
        </p:txBody>
      </p:sp>
      <p:sp>
        <p:nvSpPr>
          <p:cNvPr id="24" name="Text 22"/>
          <p:cNvSpPr/>
          <p:nvPr/>
        </p:nvSpPr>
        <p:spPr>
          <a:xfrm>
            <a:off x="566928" y="6309360"/>
            <a:ext cx="11055096" cy="274320"/>
          </a:xfrm>
          <a:prstGeom prst="rect">
            <a:avLst/>
          </a:prstGeom>
          <a:noFill/>
        </p:spPr>
        <p:txBody>
          <a:bodyPr wrap="square" lIns="0" tIns="0" rIns="0" bIns="0" rtlCol="0" anchor="ctr"/>
          <a:lstStyle/>
          <a:p>
            <a:pPr marL="0" indent="0">
              <a:buNone/>
            </a:pPr>
            <a:r>
              <a:rPr lang="en-US" sz="1050" i="1" dirty="0">
                <a:solidFill>
                  <a:srgbClr val="8A949C"/>
                </a:solidFill>
                <a:latin typeface="Calibri" panose="020F0502020204030204" pitchFamily="34" charset="0"/>
                <a:ea typeface="Calibri" panose="020F0502020204030204" pitchFamily="34" charset="-122"/>
                <a:cs typeface="Calibri" panose="020F0502020204030204" pitchFamily="34" charset="-120"/>
              </a:rPr>
              <a:t>DVWA was kept on localhost only — never exposed to a network. That warning is on DVWA's own home page.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PHASE 2 · SETUP</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Building the lab in six steps</a:t>
            </a:r>
            <a:endParaRPr lang="en-US" sz="3000" dirty="0"/>
          </a:p>
        </p:txBody>
      </p:sp>
      <p:sp>
        <p:nvSpPr>
          <p:cNvPr id="4" name="Shape 2"/>
          <p:cNvSpPr/>
          <p:nvPr/>
        </p:nvSpPr>
        <p:spPr>
          <a:xfrm>
            <a:off x="566928" y="1572768"/>
            <a:ext cx="310896" cy="310896"/>
          </a:xfrm>
          <a:prstGeom prst="ellipse">
            <a:avLst/>
          </a:prstGeom>
          <a:solidFill>
            <a:srgbClr val="12161A"/>
          </a:solidFill>
          <a:ln w="12700">
            <a:solidFill>
              <a:srgbClr val="12161A"/>
            </a:solidFill>
            <a:prstDash val="solid"/>
          </a:ln>
        </p:spPr>
      </p:sp>
      <p:sp>
        <p:nvSpPr>
          <p:cNvPr id="5" name="Text 3"/>
          <p:cNvSpPr/>
          <p:nvPr/>
        </p:nvSpPr>
        <p:spPr>
          <a:xfrm>
            <a:off x="566928" y="1572768"/>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200" dirty="0"/>
          </a:p>
        </p:txBody>
      </p:sp>
      <p:sp>
        <p:nvSpPr>
          <p:cNvPr id="6" name="Text 4"/>
          <p:cNvSpPr/>
          <p:nvPr/>
        </p:nvSpPr>
        <p:spPr>
          <a:xfrm>
            <a:off x="1024128" y="1554480"/>
            <a:ext cx="4846320" cy="310896"/>
          </a:xfrm>
          <a:prstGeom prst="rect">
            <a:avLst/>
          </a:prstGeom>
          <a:noFill/>
        </p:spPr>
        <p:txBody>
          <a:bodyPr wrap="square" lIns="0" tIns="0" rIns="0" bIns="0" rtlCol="0" anchor="t"/>
          <a:lstStyle/>
          <a:p>
            <a:pPr marL="0" indent="0">
              <a:buNone/>
            </a:pPr>
            <a:r>
              <a:rPr lang="en-US" sz="1350" b="1" dirty="0">
                <a:solidFill>
                  <a:srgbClr val="12161A"/>
                </a:solidFill>
                <a:latin typeface="Arial" panose="020B0604020202020204" pitchFamily="34" charset="0"/>
                <a:ea typeface="Arial" panose="020B0604020202020204" pitchFamily="34" charset="-122"/>
                <a:cs typeface="Arial" panose="020B0604020202020204" pitchFamily="34" charset="-120"/>
              </a:rPr>
              <a:t>Install and start Apache</a:t>
            </a:r>
            <a:endParaRPr lang="en-US" sz="1350" dirty="0"/>
          </a:p>
        </p:txBody>
      </p:sp>
      <p:sp>
        <p:nvSpPr>
          <p:cNvPr id="7" name="Text 5"/>
          <p:cNvSpPr/>
          <p:nvPr/>
        </p:nvSpPr>
        <p:spPr>
          <a:xfrm>
            <a:off x="1024128" y="1883664"/>
            <a:ext cx="4846320" cy="960120"/>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sudo apt install apache2 -y, then systemctl enable and start. Confirmed with systemctl status — active (running).</a:t>
            </a:r>
            <a:endParaRPr lang="en-US" sz="1200" dirty="0"/>
          </a:p>
        </p:txBody>
      </p:sp>
      <p:sp>
        <p:nvSpPr>
          <p:cNvPr id="8" name="Shape 6"/>
          <p:cNvSpPr/>
          <p:nvPr/>
        </p:nvSpPr>
        <p:spPr>
          <a:xfrm>
            <a:off x="6309360" y="1572768"/>
            <a:ext cx="310896" cy="310896"/>
          </a:xfrm>
          <a:prstGeom prst="ellipse">
            <a:avLst/>
          </a:prstGeom>
          <a:solidFill>
            <a:srgbClr val="12161A"/>
          </a:solidFill>
          <a:ln w="12700">
            <a:solidFill>
              <a:srgbClr val="12161A"/>
            </a:solidFill>
            <a:prstDash val="solid"/>
          </a:ln>
        </p:spPr>
      </p:sp>
      <p:sp>
        <p:nvSpPr>
          <p:cNvPr id="9" name="Text 7"/>
          <p:cNvSpPr/>
          <p:nvPr/>
        </p:nvSpPr>
        <p:spPr>
          <a:xfrm>
            <a:off x="6309360" y="1572768"/>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200" dirty="0"/>
          </a:p>
        </p:txBody>
      </p:sp>
      <p:sp>
        <p:nvSpPr>
          <p:cNvPr id="10" name="Text 8"/>
          <p:cNvSpPr/>
          <p:nvPr/>
        </p:nvSpPr>
        <p:spPr>
          <a:xfrm>
            <a:off x="6766560" y="1554480"/>
            <a:ext cx="4846320" cy="310896"/>
          </a:xfrm>
          <a:prstGeom prst="rect">
            <a:avLst/>
          </a:prstGeom>
          <a:noFill/>
        </p:spPr>
        <p:txBody>
          <a:bodyPr wrap="square" lIns="0" tIns="0" rIns="0" bIns="0" rtlCol="0" anchor="t"/>
          <a:lstStyle/>
          <a:p>
            <a:pPr marL="0" indent="0">
              <a:buNone/>
            </a:pPr>
            <a:r>
              <a:rPr lang="en-US" sz="1350" b="1" dirty="0">
                <a:solidFill>
                  <a:srgbClr val="12161A"/>
                </a:solidFill>
                <a:latin typeface="Arial" panose="020B0604020202020204" pitchFamily="34" charset="0"/>
                <a:ea typeface="Arial" panose="020B0604020202020204" pitchFamily="34" charset="-122"/>
                <a:cs typeface="Arial" panose="020B0604020202020204" pitchFamily="34" charset="-120"/>
              </a:rPr>
              <a:t>Add PHP and its modules</a:t>
            </a:r>
            <a:endParaRPr lang="en-US" sz="1350" dirty="0"/>
          </a:p>
        </p:txBody>
      </p:sp>
      <p:sp>
        <p:nvSpPr>
          <p:cNvPr id="11" name="Text 9"/>
          <p:cNvSpPr/>
          <p:nvPr/>
        </p:nvSpPr>
        <p:spPr>
          <a:xfrm>
            <a:off x="6766560" y="1883664"/>
            <a:ext cx="4846320" cy="960120"/>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php, php-mysqli, php-gd, php-curl, php-xml, php-mbstring and libapache2-mod-php so the app can run.</a:t>
            </a:r>
            <a:endParaRPr lang="en-US" sz="1200" dirty="0"/>
          </a:p>
        </p:txBody>
      </p:sp>
      <p:sp>
        <p:nvSpPr>
          <p:cNvPr id="12" name="Shape 10"/>
          <p:cNvSpPr/>
          <p:nvPr/>
        </p:nvSpPr>
        <p:spPr>
          <a:xfrm>
            <a:off x="566928" y="3054096"/>
            <a:ext cx="310896" cy="310896"/>
          </a:xfrm>
          <a:prstGeom prst="ellipse">
            <a:avLst/>
          </a:prstGeom>
          <a:solidFill>
            <a:srgbClr val="12161A"/>
          </a:solidFill>
          <a:ln w="12700">
            <a:solidFill>
              <a:srgbClr val="12161A"/>
            </a:solidFill>
            <a:prstDash val="solid"/>
          </a:ln>
        </p:spPr>
      </p:sp>
      <p:sp>
        <p:nvSpPr>
          <p:cNvPr id="13" name="Text 11"/>
          <p:cNvSpPr/>
          <p:nvPr/>
        </p:nvSpPr>
        <p:spPr>
          <a:xfrm>
            <a:off x="566928" y="3054096"/>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200" dirty="0"/>
          </a:p>
        </p:txBody>
      </p:sp>
      <p:sp>
        <p:nvSpPr>
          <p:cNvPr id="14" name="Text 12"/>
          <p:cNvSpPr/>
          <p:nvPr/>
        </p:nvSpPr>
        <p:spPr>
          <a:xfrm>
            <a:off x="1024128" y="3035808"/>
            <a:ext cx="4846320" cy="310896"/>
          </a:xfrm>
          <a:prstGeom prst="rect">
            <a:avLst/>
          </a:prstGeom>
          <a:noFill/>
        </p:spPr>
        <p:txBody>
          <a:bodyPr wrap="square" lIns="0" tIns="0" rIns="0" bIns="0" rtlCol="0" anchor="t"/>
          <a:lstStyle/>
          <a:p>
            <a:pPr marL="0" indent="0">
              <a:buNone/>
            </a:pPr>
            <a:r>
              <a:rPr lang="en-US" sz="1350" b="1" dirty="0">
                <a:solidFill>
                  <a:srgbClr val="12161A"/>
                </a:solidFill>
                <a:latin typeface="Arial" panose="020B0604020202020204" pitchFamily="34" charset="0"/>
                <a:ea typeface="Arial" panose="020B0604020202020204" pitchFamily="34" charset="-122"/>
                <a:cs typeface="Arial" panose="020B0604020202020204" pitchFamily="34" charset="-120"/>
              </a:rPr>
              <a:t>Create the database</a:t>
            </a:r>
            <a:endParaRPr lang="en-US" sz="1350" dirty="0"/>
          </a:p>
        </p:txBody>
      </p:sp>
      <p:sp>
        <p:nvSpPr>
          <p:cNvPr id="15" name="Text 13"/>
          <p:cNvSpPr/>
          <p:nvPr/>
        </p:nvSpPr>
        <p:spPr>
          <a:xfrm>
            <a:off x="1024128" y="3364992"/>
            <a:ext cx="4846320" cy="960120"/>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In MariaDB: CREATE DATABASE dvwa, create a dedicated dvwa user, grant privileges, flush.</a:t>
            </a:r>
            <a:endParaRPr lang="en-US" sz="1200" dirty="0"/>
          </a:p>
        </p:txBody>
      </p:sp>
      <p:sp>
        <p:nvSpPr>
          <p:cNvPr id="16" name="Shape 14"/>
          <p:cNvSpPr/>
          <p:nvPr/>
        </p:nvSpPr>
        <p:spPr>
          <a:xfrm>
            <a:off x="6309360" y="3054096"/>
            <a:ext cx="310896" cy="310896"/>
          </a:xfrm>
          <a:prstGeom prst="ellipse">
            <a:avLst/>
          </a:prstGeom>
          <a:solidFill>
            <a:srgbClr val="12161A"/>
          </a:solidFill>
          <a:ln w="12700">
            <a:solidFill>
              <a:srgbClr val="12161A"/>
            </a:solidFill>
            <a:prstDash val="solid"/>
          </a:ln>
        </p:spPr>
      </p:sp>
      <p:sp>
        <p:nvSpPr>
          <p:cNvPr id="17" name="Text 15"/>
          <p:cNvSpPr/>
          <p:nvPr/>
        </p:nvSpPr>
        <p:spPr>
          <a:xfrm>
            <a:off x="6309360" y="3054096"/>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200" dirty="0"/>
          </a:p>
        </p:txBody>
      </p:sp>
      <p:sp>
        <p:nvSpPr>
          <p:cNvPr id="18" name="Text 16"/>
          <p:cNvSpPr/>
          <p:nvPr/>
        </p:nvSpPr>
        <p:spPr>
          <a:xfrm>
            <a:off x="6766560" y="3035808"/>
            <a:ext cx="4846320" cy="310896"/>
          </a:xfrm>
          <a:prstGeom prst="rect">
            <a:avLst/>
          </a:prstGeom>
          <a:noFill/>
        </p:spPr>
        <p:txBody>
          <a:bodyPr wrap="square" lIns="0" tIns="0" rIns="0" bIns="0" rtlCol="0" anchor="t"/>
          <a:lstStyle/>
          <a:p>
            <a:pPr marL="0" indent="0">
              <a:buNone/>
            </a:pPr>
            <a:r>
              <a:rPr lang="en-US" sz="1350" b="1" dirty="0">
                <a:solidFill>
                  <a:srgbClr val="12161A"/>
                </a:solidFill>
                <a:latin typeface="Arial" panose="020B0604020202020204" pitchFamily="34" charset="0"/>
                <a:ea typeface="Arial" panose="020B0604020202020204" pitchFamily="34" charset="-122"/>
                <a:cs typeface="Arial" panose="020B0604020202020204" pitchFamily="34" charset="-120"/>
              </a:rPr>
              <a:t>Clone DVWA into the web root</a:t>
            </a:r>
            <a:endParaRPr lang="en-US" sz="1350" dirty="0"/>
          </a:p>
        </p:txBody>
      </p:sp>
      <p:sp>
        <p:nvSpPr>
          <p:cNvPr id="19" name="Text 17"/>
          <p:cNvSpPr/>
          <p:nvPr/>
        </p:nvSpPr>
        <p:spPr>
          <a:xfrm>
            <a:off x="6766560" y="3364992"/>
            <a:ext cx="4846320" cy="960120"/>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git clone into /var/www/html, then chown to www-data and chmod 755 so Apache can serve it.</a:t>
            </a:r>
            <a:endParaRPr lang="en-US" sz="1200" dirty="0"/>
          </a:p>
        </p:txBody>
      </p:sp>
      <p:sp>
        <p:nvSpPr>
          <p:cNvPr id="20" name="Shape 18"/>
          <p:cNvSpPr/>
          <p:nvPr/>
        </p:nvSpPr>
        <p:spPr>
          <a:xfrm>
            <a:off x="566928" y="4535424"/>
            <a:ext cx="310896" cy="310896"/>
          </a:xfrm>
          <a:prstGeom prst="ellipse">
            <a:avLst/>
          </a:prstGeom>
          <a:solidFill>
            <a:srgbClr val="12161A"/>
          </a:solidFill>
          <a:ln w="12700">
            <a:solidFill>
              <a:srgbClr val="12161A"/>
            </a:solidFill>
            <a:prstDash val="solid"/>
          </a:ln>
        </p:spPr>
      </p:sp>
      <p:sp>
        <p:nvSpPr>
          <p:cNvPr id="21" name="Text 19"/>
          <p:cNvSpPr/>
          <p:nvPr/>
        </p:nvSpPr>
        <p:spPr>
          <a:xfrm>
            <a:off x="566928" y="4535424"/>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1200" dirty="0"/>
          </a:p>
        </p:txBody>
      </p:sp>
      <p:sp>
        <p:nvSpPr>
          <p:cNvPr id="22" name="Text 20"/>
          <p:cNvSpPr/>
          <p:nvPr/>
        </p:nvSpPr>
        <p:spPr>
          <a:xfrm>
            <a:off x="1024128" y="4517136"/>
            <a:ext cx="4846320" cy="310896"/>
          </a:xfrm>
          <a:prstGeom prst="rect">
            <a:avLst/>
          </a:prstGeom>
          <a:noFill/>
        </p:spPr>
        <p:txBody>
          <a:bodyPr wrap="square" lIns="0" tIns="0" rIns="0" bIns="0" rtlCol="0" anchor="t"/>
          <a:lstStyle/>
          <a:p>
            <a:pPr marL="0" indent="0">
              <a:buNone/>
            </a:pPr>
            <a:r>
              <a:rPr lang="en-US" sz="1350" b="1" dirty="0">
                <a:solidFill>
                  <a:srgbClr val="12161A"/>
                </a:solidFill>
                <a:latin typeface="Arial" panose="020B0604020202020204" pitchFamily="34" charset="0"/>
                <a:ea typeface="Arial" panose="020B0604020202020204" pitchFamily="34" charset="-122"/>
                <a:cs typeface="Arial" panose="020B0604020202020204" pitchFamily="34" charset="-120"/>
              </a:rPr>
              <a:t>Point DVWA at the database</a:t>
            </a:r>
            <a:endParaRPr lang="en-US" sz="1350" dirty="0"/>
          </a:p>
        </p:txBody>
      </p:sp>
      <p:sp>
        <p:nvSpPr>
          <p:cNvPr id="23" name="Text 21"/>
          <p:cNvSpPr/>
          <p:nvPr/>
        </p:nvSpPr>
        <p:spPr>
          <a:xfrm>
            <a:off x="1024128" y="4846320"/>
            <a:ext cx="4846320" cy="960120"/>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Copy config.inc.php.dist to config.inc.php, fill in the db user and password, restart Apache.</a:t>
            </a:r>
            <a:endParaRPr lang="en-US" sz="1200" dirty="0"/>
          </a:p>
        </p:txBody>
      </p:sp>
      <p:sp>
        <p:nvSpPr>
          <p:cNvPr id="24" name="Shape 22"/>
          <p:cNvSpPr/>
          <p:nvPr/>
        </p:nvSpPr>
        <p:spPr>
          <a:xfrm>
            <a:off x="6309360" y="4535424"/>
            <a:ext cx="310896" cy="310896"/>
          </a:xfrm>
          <a:prstGeom prst="ellipse">
            <a:avLst/>
          </a:prstGeom>
          <a:solidFill>
            <a:srgbClr val="12161A"/>
          </a:solidFill>
          <a:ln w="12700">
            <a:solidFill>
              <a:srgbClr val="12161A"/>
            </a:solidFill>
            <a:prstDash val="solid"/>
          </a:ln>
        </p:spPr>
      </p:sp>
      <p:sp>
        <p:nvSpPr>
          <p:cNvPr id="25" name="Text 23"/>
          <p:cNvSpPr/>
          <p:nvPr/>
        </p:nvSpPr>
        <p:spPr>
          <a:xfrm>
            <a:off x="6309360" y="4535424"/>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6</a:t>
            </a:r>
            <a:endParaRPr lang="en-US" sz="1200" dirty="0"/>
          </a:p>
        </p:txBody>
      </p:sp>
      <p:sp>
        <p:nvSpPr>
          <p:cNvPr id="26" name="Text 24"/>
          <p:cNvSpPr/>
          <p:nvPr/>
        </p:nvSpPr>
        <p:spPr>
          <a:xfrm>
            <a:off x="6766560" y="4517136"/>
            <a:ext cx="4846320" cy="310896"/>
          </a:xfrm>
          <a:prstGeom prst="rect">
            <a:avLst/>
          </a:prstGeom>
          <a:noFill/>
        </p:spPr>
        <p:txBody>
          <a:bodyPr wrap="square" lIns="0" tIns="0" rIns="0" bIns="0" rtlCol="0" anchor="t"/>
          <a:lstStyle/>
          <a:p>
            <a:pPr marL="0" indent="0">
              <a:buNone/>
            </a:pPr>
            <a:r>
              <a:rPr lang="en-US" sz="1350" b="1" dirty="0">
                <a:solidFill>
                  <a:srgbClr val="12161A"/>
                </a:solidFill>
                <a:latin typeface="Arial" panose="020B0604020202020204" pitchFamily="34" charset="0"/>
                <a:ea typeface="Arial" panose="020B0604020202020204" pitchFamily="34" charset="-122"/>
                <a:cs typeface="Arial" panose="020B0604020202020204" pitchFamily="34" charset="-120"/>
              </a:rPr>
              <a:t>Log in and set security to Low</a:t>
            </a:r>
            <a:endParaRPr lang="en-US" sz="1350" dirty="0"/>
          </a:p>
        </p:txBody>
      </p:sp>
      <p:sp>
        <p:nvSpPr>
          <p:cNvPr id="27" name="Text 25"/>
          <p:cNvSpPr/>
          <p:nvPr/>
        </p:nvSpPr>
        <p:spPr>
          <a:xfrm>
            <a:off x="6766560" y="4846320"/>
            <a:ext cx="4846320" cy="960120"/>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admin / password, then Security → Low, so the vulnerabilities are actually reachable.</a:t>
            </a:r>
            <a:endParaRPr lang="en-US" sz="1200" dirty="0"/>
          </a:p>
        </p:txBody>
      </p:sp>
      <p:sp>
        <p:nvSpPr>
          <p:cNvPr id="28" name="Text 26"/>
          <p:cNvSpPr/>
          <p:nvPr/>
        </p:nvSpPr>
        <p:spPr>
          <a:xfrm>
            <a:off x="566928" y="5943600"/>
            <a:ext cx="11055096" cy="365760"/>
          </a:xfrm>
          <a:prstGeom prst="rect">
            <a:avLst/>
          </a:prstGeom>
          <a:noFill/>
        </p:spPr>
        <p:txBody>
          <a:bodyPr wrap="square" lIns="0" tIns="0" rIns="0" bIns="0" rtlCol="0" anchor="t"/>
          <a:lstStyle/>
          <a:p>
            <a:pPr marL="0" indent="0">
              <a:buNone/>
            </a:pPr>
            <a:r>
              <a:rPr lang="en-US" sz="1300" i="1" dirty="0">
                <a:solidFill>
                  <a:srgbClr val="2FA85D"/>
                </a:solidFill>
                <a:latin typeface="Calibri" panose="020F0502020204030204" pitchFamily="34" charset="0"/>
                <a:ea typeface="Calibri" panose="020F0502020204030204" pitchFamily="34" charset="-122"/>
                <a:cs typeface="Calibri" panose="020F0502020204030204" pitchFamily="34" charset="-120"/>
              </a:rPr>
              <a:t>Result: a working web app at http://localhost/DVWA/ writing every request to /var/log/apache2/access.log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PHASE 2 · GENERATING THE EVIDENCE</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Five attacks against my own server</a:t>
            </a:r>
            <a:endParaRPr lang="en-US" sz="3000" dirty="0"/>
          </a:p>
        </p:txBody>
      </p:sp>
      <p:sp>
        <p:nvSpPr>
          <p:cNvPr id="4" name="Text 2"/>
          <p:cNvSpPr/>
          <p:nvPr/>
        </p:nvSpPr>
        <p:spPr>
          <a:xfrm>
            <a:off x="566928" y="1207008"/>
            <a:ext cx="11055096" cy="365760"/>
          </a:xfrm>
          <a:prstGeom prst="rect">
            <a:avLst/>
          </a:prstGeom>
          <a:noFill/>
        </p:spPr>
        <p:txBody>
          <a:bodyPr wrap="square" lIns="0" tIns="0" rIns="0" bIns="0" rtlCol="0" anchor="t"/>
          <a:lstStyle/>
          <a:p>
            <a:pPr marL="0" indent="0">
              <a:buNone/>
            </a:pPr>
            <a:r>
              <a:rPr lang="en-US" sz="1400" i="1" dirty="0">
                <a:solidFill>
                  <a:srgbClr val="6B7680"/>
                </a:solidFill>
                <a:latin typeface="Calibri" panose="020F0502020204030204" pitchFamily="34" charset="0"/>
                <a:ea typeface="Calibri" panose="020F0502020204030204" pitchFamily="34" charset="-122"/>
                <a:cs typeface="Calibri" panose="020F0502020204030204" pitchFamily="34" charset="-120"/>
              </a:rPr>
              <a:t>The point was not to break DVWA — it is already broken. The point was to see what each attack looks like in the log.</a:t>
            </a:r>
            <a:endParaRPr lang="en-US" sz="1400" dirty="0"/>
          </a:p>
        </p:txBody>
      </p:sp>
      <p:sp>
        <p:nvSpPr>
          <p:cNvPr id="5" name="Shape 3"/>
          <p:cNvSpPr/>
          <p:nvPr/>
        </p:nvSpPr>
        <p:spPr>
          <a:xfrm>
            <a:off x="566928" y="1965960"/>
            <a:ext cx="11055096" cy="713232"/>
          </a:xfrm>
          <a:prstGeom prst="roundRect">
            <a:avLst>
              <a:gd name="adj" fmla="val 6410"/>
            </a:avLst>
          </a:prstGeom>
          <a:solidFill>
            <a:srgbClr val="F5F7F9"/>
          </a:solidFill>
          <a:ln w="12700">
            <a:solidFill>
              <a:srgbClr val="DDE3E8"/>
            </a:solidFill>
            <a:prstDash val="solid"/>
          </a:ln>
        </p:spPr>
      </p:sp>
      <p:sp>
        <p:nvSpPr>
          <p:cNvPr id="6" name="Shape 4"/>
          <p:cNvSpPr/>
          <p:nvPr/>
        </p:nvSpPr>
        <p:spPr>
          <a:xfrm>
            <a:off x="768096" y="2231136"/>
            <a:ext cx="182880" cy="182880"/>
          </a:xfrm>
          <a:prstGeom prst="ellipse">
            <a:avLst/>
          </a:prstGeom>
          <a:solidFill>
            <a:srgbClr val="C43F35"/>
          </a:solidFill>
          <a:ln w="12700">
            <a:solidFill>
              <a:srgbClr val="C43F35"/>
            </a:solidFill>
            <a:prstDash val="solid"/>
          </a:ln>
        </p:spPr>
      </p:sp>
      <p:sp>
        <p:nvSpPr>
          <p:cNvPr id="7" name="Text 5"/>
          <p:cNvSpPr/>
          <p:nvPr/>
        </p:nvSpPr>
        <p:spPr>
          <a:xfrm>
            <a:off x="1115568" y="2048256"/>
            <a:ext cx="2286000" cy="548640"/>
          </a:xfrm>
          <a:prstGeom prst="rect">
            <a:avLst/>
          </a:prstGeom>
          <a:noFill/>
        </p:spPr>
        <p:txBody>
          <a:bodyPr wrap="square" lIns="0" tIns="0" rIns="0" bIns="0" rtlCol="0" anchor="ctr"/>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Brute force login</a:t>
            </a:r>
            <a:endParaRPr lang="en-US" sz="1300" dirty="0"/>
          </a:p>
        </p:txBody>
      </p:sp>
      <p:sp>
        <p:nvSpPr>
          <p:cNvPr id="8" name="Text 6"/>
          <p:cNvSpPr/>
          <p:nvPr/>
        </p:nvSpPr>
        <p:spPr>
          <a:xfrm>
            <a:off x="3447288" y="2048256"/>
            <a:ext cx="4937760" cy="548640"/>
          </a:xfrm>
          <a:prstGeom prst="rect">
            <a:avLst/>
          </a:prstGeom>
          <a:noFill/>
        </p:spPr>
        <p:txBody>
          <a:bodyPr wrap="square" lIns="0" tIns="0" rIns="0" bIns="0" rtlCol="0" anchor="ctr"/>
          <a:lstStyle/>
          <a:p>
            <a:pPr marL="0" indent="0">
              <a:lnSpc>
                <a:spcPts val="15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Repeated wrong passwords on the Brute Force page until the account locked, then the correct one.</a:t>
            </a:r>
            <a:endParaRPr lang="en-US" sz="1200" dirty="0"/>
          </a:p>
        </p:txBody>
      </p:sp>
      <p:sp>
        <p:nvSpPr>
          <p:cNvPr id="9" name="Text 7"/>
          <p:cNvSpPr/>
          <p:nvPr/>
        </p:nvSpPr>
        <p:spPr>
          <a:xfrm>
            <a:off x="8522208" y="2048256"/>
            <a:ext cx="2926080" cy="548640"/>
          </a:xfrm>
          <a:prstGeom prst="rect">
            <a:avLst/>
          </a:prstGeom>
          <a:noFill/>
        </p:spPr>
        <p:txBody>
          <a:bodyPr wrap="square" lIns="0" tIns="0" rIns="0" bIns="0" rtlCol="0" anchor="ctr"/>
          <a:lstStyle/>
          <a:p>
            <a:pPr marL="0" indent="0">
              <a:buNone/>
            </a:pPr>
            <a:r>
              <a:rPr lang="en-US" sz="1100" dirty="0">
                <a:solidFill>
                  <a:srgbClr val="C43F35"/>
                </a:solidFill>
                <a:latin typeface="Courier New" panose="02070309020205020404" pitchFamily="34" charset="0"/>
                <a:ea typeface="Courier New" panose="02070309020205020404" pitchFamily="34" charset="-122"/>
                <a:cs typeface="Courier New" panose="02070309020205020404" pitchFamily="34" charset="-120"/>
              </a:rPr>
              <a:t>admin / password</a:t>
            </a:r>
            <a:endParaRPr lang="en-US" sz="1100" dirty="0"/>
          </a:p>
        </p:txBody>
      </p:sp>
      <p:sp>
        <p:nvSpPr>
          <p:cNvPr id="10" name="Shape 8"/>
          <p:cNvSpPr/>
          <p:nvPr/>
        </p:nvSpPr>
        <p:spPr>
          <a:xfrm>
            <a:off x="566928" y="2807208"/>
            <a:ext cx="11055096" cy="713232"/>
          </a:xfrm>
          <a:prstGeom prst="roundRect">
            <a:avLst>
              <a:gd name="adj" fmla="val 6410"/>
            </a:avLst>
          </a:prstGeom>
          <a:solidFill>
            <a:srgbClr val="F5F7F9"/>
          </a:solidFill>
          <a:ln w="12700">
            <a:solidFill>
              <a:srgbClr val="DDE3E8"/>
            </a:solidFill>
            <a:prstDash val="solid"/>
          </a:ln>
        </p:spPr>
      </p:sp>
      <p:sp>
        <p:nvSpPr>
          <p:cNvPr id="11" name="Shape 9"/>
          <p:cNvSpPr/>
          <p:nvPr/>
        </p:nvSpPr>
        <p:spPr>
          <a:xfrm>
            <a:off x="768096" y="3072384"/>
            <a:ext cx="182880" cy="182880"/>
          </a:xfrm>
          <a:prstGeom prst="ellipse">
            <a:avLst/>
          </a:prstGeom>
          <a:solidFill>
            <a:srgbClr val="C43F35"/>
          </a:solidFill>
          <a:ln w="12700">
            <a:solidFill>
              <a:srgbClr val="C43F35"/>
            </a:solidFill>
            <a:prstDash val="solid"/>
          </a:ln>
        </p:spPr>
      </p:sp>
      <p:sp>
        <p:nvSpPr>
          <p:cNvPr id="12" name="Text 10"/>
          <p:cNvSpPr/>
          <p:nvPr/>
        </p:nvSpPr>
        <p:spPr>
          <a:xfrm>
            <a:off x="1115568" y="2889504"/>
            <a:ext cx="2286000" cy="548640"/>
          </a:xfrm>
          <a:prstGeom prst="rect">
            <a:avLst/>
          </a:prstGeom>
          <a:noFill/>
        </p:spPr>
        <p:txBody>
          <a:bodyPr wrap="square" lIns="0" tIns="0" rIns="0" bIns="0" rtlCol="0" anchor="ctr"/>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SQL injection</a:t>
            </a:r>
            <a:endParaRPr lang="en-US" sz="1300" dirty="0"/>
          </a:p>
        </p:txBody>
      </p:sp>
      <p:sp>
        <p:nvSpPr>
          <p:cNvPr id="13" name="Text 11"/>
          <p:cNvSpPr/>
          <p:nvPr/>
        </p:nvSpPr>
        <p:spPr>
          <a:xfrm>
            <a:off x="3447288" y="2889504"/>
            <a:ext cx="4937760" cy="548640"/>
          </a:xfrm>
          <a:prstGeom prst="rect">
            <a:avLst/>
          </a:prstGeom>
          <a:noFill/>
        </p:spPr>
        <p:txBody>
          <a:bodyPr wrap="square" lIns="0" tIns="0" rIns="0" bIns="0" rtlCol="0" anchor="ctr"/>
          <a:lstStyle/>
          <a:p>
            <a:pPr marL="0" indent="0">
              <a:lnSpc>
                <a:spcPts val="15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Classic always-true condition in the User ID box on the SQL Injection page.</a:t>
            </a:r>
            <a:endParaRPr lang="en-US" sz="1200" dirty="0"/>
          </a:p>
        </p:txBody>
      </p:sp>
      <p:sp>
        <p:nvSpPr>
          <p:cNvPr id="14" name="Text 12"/>
          <p:cNvSpPr/>
          <p:nvPr/>
        </p:nvSpPr>
        <p:spPr>
          <a:xfrm>
            <a:off x="8522208" y="2889504"/>
            <a:ext cx="2926080" cy="548640"/>
          </a:xfrm>
          <a:prstGeom prst="rect">
            <a:avLst/>
          </a:prstGeom>
          <a:noFill/>
        </p:spPr>
        <p:txBody>
          <a:bodyPr wrap="square" lIns="0" tIns="0" rIns="0" bIns="0" rtlCol="0" anchor="ctr"/>
          <a:lstStyle/>
          <a:p>
            <a:pPr marL="0" indent="0">
              <a:buNone/>
            </a:pPr>
            <a:r>
              <a:rPr lang="en-US" sz="1100" dirty="0">
                <a:solidFill>
                  <a:srgbClr val="C43F35"/>
                </a:solidFill>
                <a:latin typeface="Courier New" panose="02070309020205020404" pitchFamily="34" charset="0"/>
                <a:ea typeface="Courier New" panose="02070309020205020404" pitchFamily="34" charset="-122"/>
                <a:cs typeface="Courier New" panose="02070309020205020404" pitchFamily="34" charset="-120"/>
              </a:rPr>
              <a:t>1' OR '1'='1</a:t>
            </a:r>
            <a:endParaRPr lang="en-US" sz="1100" dirty="0"/>
          </a:p>
        </p:txBody>
      </p:sp>
      <p:sp>
        <p:nvSpPr>
          <p:cNvPr id="15" name="Shape 13"/>
          <p:cNvSpPr/>
          <p:nvPr/>
        </p:nvSpPr>
        <p:spPr>
          <a:xfrm>
            <a:off x="566928" y="3648456"/>
            <a:ext cx="11055096" cy="713232"/>
          </a:xfrm>
          <a:prstGeom prst="roundRect">
            <a:avLst>
              <a:gd name="adj" fmla="val 6410"/>
            </a:avLst>
          </a:prstGeom>
          <a:solidFill>
            <a:srgbClr val="F5F7F9"/>
          </a:solidFill>
          <a:ln w="12700">
            <a:solidFill>
              <a:srgbClr val="DDE3E8"/>
            </a:solidFill>
            <a:prstDash val="solid"/>
          </a:ln>
        </p:spPr>
      </p:sp>
      <p:sp>
        <p:nvSpPr>
          <p:cNvPr id="16" name="Shape 14"/>
          <p:cNvSpPr/>
          <p:nvPr/>
        </p:nvSpPr>
        <p:spPr>
          <a:xfrm>
            <a:off x="768096" y="3913632"/>
            <a:ext cx="182880" cy="182880"/>
          </a:xfrm>
          <a:prstGeom prst="ellipse">
            <a:avLst/>
          </a:prstGeom>
          <a:solidFill>
            <a:srgbClr val="D9942B"/>
          </a:solidFill>
          <a:ln w="12700">
            <a:solidFill>
              <a:srgbClr val="D9942B"/>
            </a:solidFill>
            <a:prstDash val="solid"/>
          </a:ln>
        </p:spPr>
      </p:sp>
      <p:sp>
        <p:nvSpPr>
          <p:cNvPr id="17" name="Text 15"/>
          <p:cNvSpPr/>
          <p:nvPr/>
        </p:nvSpPr>
        <p:spPr>
          <a:xfrm>
            <a:off x="1115568" y="3730752"/>
            <a:ext cx="2286000" cy="548640"/>
          </a:xfrm>
          <a:prstGeom prst="rect">
            <a:avLst/>
          </a:prstGeom>
          <a:noFill/>
        </p:spPr>
        <p:txBody>
          <a:bodyPr wrap="square" lIns="0" tIns="0" rIns="0" bIns="0" rtlCol="0" anchor="ctr"/>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Reflected XSS</a:t>
            </a:r>
            <a:endParaRPr lang="en-US" sz="1300" dirty="0"/>
          </a:p>
        </p:txBody>
      </p:sp>
      <p:sp>
        <p:nvSpPr>
          <p:cNvPr id="18" name="Text 16"/>
          <p:cNvSpPr/>
          <p:nvPr/>
        </p:nvSpPr>
        <p:spPr>
          <a:xfrm>
            <a:off x="3447288" y="3730752"/>
            <a:ext cx="4937760" cy="548640"/>
          </a:xfrm>
          <a:prstGeom prst="rect">
            <a:avLst/>
          </a:prstGeom>
          <a:noFill/>
        </p:spPr>
        <p:txBody>
          <a:bodyPr wrap="square" lIns="0" tIns="0" rIns="0" bIns="0" rtlCol="0" anchor="ctr"/>
          <a:lstStyle/>
          <a:p>
            <a:pPr marL="0" indent="0">
              <a:lnSpc>
                <a:spcPts val="15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Script tag typed into the name box; the page echoed it straight back.</a:t>
            </a:r>
            <a:endParaRPr lang="en-US" sz="1200" dirty="0"/>
          </a:p>
        </p:txBody>
      </p:sp>
      <p:sp>
        <p:nvSpPr>
          <p:cNvPr id="19" name="Text 17"/>
          <p:cNvSpPr/>
          <p:nvPr/>
        </p:nvSpPr>
        <p:spPr>
          <a:xfrm>
            <a:off x="8522208" y="3730752"/>
            <a:ext cx="2926080" cy="548640"/>
          </a:xfrm>
          <a:prstGeom prst="rect">
            <a:avLst/>
          </a:prstGeom>
          <a:noFill/>
        </p:spPr>
        <p:txBody>
          <a:bodyPr wrap="square" lIns="0" tIns="0" rIns="0" bIns="0" rtlCol="0" anchor="ctr"/>
          <a:lstStyle/>
          <a:p>
            <a:pPr marL="0" indent="0">
              <a:buNone/>
            </a:pPr>
            <a:r>
              <a:rPr lang="en-US" sz="1100" dirty="0">
                <a:solidFill>
                  <a:srgbClr val="D9942B"/>
                </a:solidFill>
                <a:latin typeface="Courier New" panose="02070309020205020404" pitchFamily="34" charset="0"/>
                <a:ea typeface="Courier New" panose="02070309020205020404" pitchFamily="34" charset="-122"/>
                <a:cs typeface="Courier New" panose="02070309020205020404" pitchFamily="34" charset="-120"/>
              </a:rPr>
              <a:t>&lt;script&gt;alert(1)&lt;/script&gt;</a:t>
            </a:r>
            <a:endParaRPr lang="en-US" sz="1100" dirty="0"/>
          </a:p>
        </p:txBody>
      </p:sp>
      <p:sp>
        <p:nvSpPr>
          <p:cNvPr id="20" name="Shape 18"/>
          <p:cNvSpPr/>
          <p:nvPr/>
        </p:nvSpPr>
        <p:spPr>
          <a:xfrm>
            <a:off x="566928" y="4489704"/>
            <a:ext cx="11055096" cy="713232"/>
          </a:xfrm>
          <a:prstGeom prst="roundRect">
            <a:avLst>
              <a:gd name="adj" fmla="val 6410"/>
            </a:avLst>
          </a:prstGeom>
          <a:solidFill>
            <a:srgbClr val="F5F7F9"/>
          </a:solidFill>
          <a:ln w="12700">
            <a:solidFill>
              <a:srgbClr val="DDE3E8"/>
            </a:solidFill>
            <a:prstDash val="solid"/>
          </a:ln>
        </p:spPr>
      </p:sp>
      <p:sp>
        <p:nvSpPr>
          <p:cNvPr id="21" name="Shape 19"/>
          <p:cNvSpPr/>
          <p:nvPr/>
        </p:nvSpPr>
        <p:spPr>
          <a:xfrm>
            <a:off x="768096" y="4754880"/>
            <a:ext cx="182880" cy="182880"/>
          </a:xfrm>
          <a:prstGeom prst="ellipse">
            <a:avLst/>
          </a:prstGeom>
          <a:solidFill>
            <a:srgbClr val="D9942B"/>
          </a:solidFill>
          <a:ln w="12700">
            <a:solidFill>
              <a:srgbClr val="D9942B"/>
            </a:solidFill>
            <a:prstDash val="solid"/>
          </a:ln>
        </p:spPr>
      </p:sp>
      <p:sp>
        <p:nvSpPr>
          <p:cNvPr id="22" name="Text 20"/>
          <p:cNvSpPr/>
          <p:nvPr/>
        </p:nvSpPr>
        <p:spPr>
          <a:xfrm>
            <a:off x="1115568" y="4572000"/>
            <a:ext cx="2286000" cy="548640"/>
          </a:xfrm>
          <a:prstGeom prst="rect">
            <a:avLst/>
          </a:prstGeom>
          <a:noFill/>
        </p:spPr>
        <p:txBody>
          <a:bodyPr wrap="square" lIns="0" tIns="0" rIns="0" bIns="0" rtlCol="0" anchor="ctr"/>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Command injection</a:t>
            </a:r>
            <a:endParaRPr lang="en-US" sz="1300" dirty="0"/>
          </a:p>
        </p:txBody>
      </p:sp>
      <p:sp>
        <p:nvSpPr>
          <p:cNvPr id="23" name="Text 21"/>
          <p:cNvSpPr/>
          <p:nvPr/>
        </p:nvSpPr>
        <p:spPr>
          <a:xfrm>
            <a:off x="3447288" y="4572000"/>
            <a:ext cx="4937760" cy="548640"/>
          </a:xfrm>
          <a:prstGeom prst="rect">
            <a:avLst/>
          </a:prstGeom>
          <a:noFill/>
        </p:spPr>
        <p:txBody>
          <a:bodyPr wrap="square" lIns="0" tIns="0" rIns="0" bIns="0" rtlCol="0" anchor="ctr"/>
          <a:lstStyle/>
          <a:p>
            <a:pPr marL="0" indent="0">
              <a:lnSpc>
                <a:spcPts val="15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Chained a shell command onto the ping input on the Command Injection page.</a:t>
            </a:r>
            <a:endParaRPr lang="en-US" sz="1200" dirty="0"/>
          </a:p>
        </p:txBody>
      </p:sp>
      <p:sp>
        <p:nvSpPr>
          <p:cNvPr id="24" name="Text 22"/>
          <p:cNvSpPr/>
          <p:nvPr/>
        </p:nvSpPr>
        <p:spPr>
          <a:xfrm>
            <a:off x="8522208" y="4572000"/>
            <a:ext cx="2926080" cy="548640"/>
          </a:xfrm>
          <a:prstGeom prst="rect">
            <a:avLst/>
          </a:prstGeom>
          <a:noFill/>
        </p:spPr>
        <p:txBody>
          <a:bodyPr wrap="square" lIns="0" tIns="0" rIns="0" bIns="0" rtlCol="0" anchor="ctr"/>
          <a:lstStyle/>
          <a:p>
            <a:pPr marL="0" indent="0">
              <a:buNone/>
            </a:pPr>
            <a:r>
              <a:rPr lang="en-US" sz="1100" dirty="0">
                <a:solidFill>
                  <a:srgbClr val="D9942B"/>
                </a:solidFill>
                <a:latin typeface="Courier New" panose="02070309020205020404" pitchFamily="34" charset="0"/>
                <a:ea typeface="Courier New" panose="02070309020205020404" pitchFamily="34" charset="-122"/>
                <a:cs typeface="Courier New" panose="02070309020205020404" pitchFamily="34" charset="-120"/>
              </a:rPr>
              <a:t>127.0.0.1 &amp;&amp; whoami</a:t>
            </a:r>
            <a:endParaRPr lang="en-US" sz="1100" dirty="0"/>
          </a:p>
        </p:txBody>
      </p:sp>
      <p:sp>
        <p:nvSpPr>
          <p:cNvPr id="25" name="Shape 23"/>
          <p:cNvSpPr/>
          <p:nvPr/>
        </p:nvSpPr>
        <p:spPr>
          <a:xfrm>
            <a:off x="566928" y="5330952"/>
            <a:ext cx="11055096" cy="713232"/>
          </a:xfrm>
          <a:prstGeom prst="roundRect">
            <a:avLst>
              <a:gd name="adj" fmla="val 6410"/>
            </a:avLst>
          </a:prstGeom>
          <a:solidFill>
            <a:srgbClr val="F5F7F9"/>
          </a:solidFill>
          <a:ln w="12700">
            <a:solidFill>
              <a:srgbClr val="DDE3E8"/>
            </a:solidFill>
            <a:prstDash val="solid"/>
          </a:ln>
        </p:spPr>
      </p:sp>
      <p:sp>
        <p:nvSpPr>
          <p:cNvPr id="26" name="Shape 24"/>
          <p:cNvSpPr/>
          <p:nvPr/>
        </p:nvSpPr>
        <p:spPr>
          <a:xfrm>
            <a:off x="768096" y="5596128"/>
            <a:ext cx="182880" cy="182880"/>
          </a:xfrm>
          <a:prstGeom prst="ellipse">
            <a:avLst/>
          </a:prstGeom>
          <a:solidFill>
            <a:srgbClr val="2C6E9B"/>
          </a:solidFill>
          <a:ln w="12700">
            <a:solidFill>
              <a:srgbClr val="2C6E9B"/>
            </a:solidFill>
            <a:prstDash val="solid"/>
          </a:ln>
        </p:spPr>
      </p:sp>
      <p:sp>
        <p:nvSpPr>
          <p:cNvPr id="27" name="Text 25"/>
          <p:cNvSpPr/>
          <p:nvPr/>
        </p:nvSpPr>
        <p:spPr>
          <a:xfrm>
            <a:off x="1115568" y="5413248"/>
            <a:ext cx="2286000" cy="548640"/>
          </a:xfrm>
          <a:prstGeom prst="rect">
            <a:avLst/>
          </a:prstGeom>
          <a:noFill/>
        </p:spPr>
        <p:txBody>
          <a:bodyPr wrap="square" lIns="0" tIns="0" rIns="0" bIns="0" rtlCol="0" anchor="ctr"/>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Recon with curl</a:t>
            </a:r>
            <a:endParaRPr lang="en-US" sz="1300" dirty="0"/>
          </a:p>
        </p:txBody>
      </p:sp>
      <p:sp>
        <p:nvSpPr>
          <p:cNvPr id="28" name="Text 26"/>
          <p:cNvSpPr/>
          <p:nvPr/>
        </p:nvSpPr>
        <p:spPr>
          <a:xfrm>
            <a:off x="3447288" y="5413248"/>
            <a:ext cx="4937760" cy="548640"/>
          </a:xfrm>
          <a:prstGeom prst="rect">
            <a:avLst/>
          </a:prstGeom>
          <a:noFill/>
        </p:spPr>
        <p:txBody>
          <a:bodyPr wrap="square" lIns="0" tIns="0" rIns="0" bIns="0" rtlCol="0" anchor="ctr"/>
          <a:lstStyle/>
          <a:p>
            <a:pPr marL="0" indent="0">
              <a:lnSpc>
                <a:spcPts val="15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Requested paths that don't exist, and sent a fake scanner user agent.</a:t>
            </a:r>
            <a:endParaRPr lang="en-US" sz="1200" dirty="0"/>
          </a:p>
        </p:txBody>
      </p:sp>
      <p:sp>
        <p:nvSpPr>
          <p:cNvPr id="29" name="Text 27"/>
          <p:cNvSpPr/>
          <p:nvPr/>
        </p:nvSpPr>
        <p:spPr>
          <a:xfrm>
            <a:off x="8522208" y="5413248"/>
            <a:ext cx="2926080" cy="548640"/>
          </a:xfrm>
          <a:prstGeom prst="rect">
            <a:avLst/>
          </a:prstGeom>
          <a:noFill/>
        </p:spPr>
        <p:txBody>
          <a:bodyPr wrap="square" lIns="0" tIns="0" rIns="0" bIns="0" rtlCol="0" anchor="ctr"/>
          <a:lstStyle/>
          <a:p>
            <a:pPr marL="0" indent="0">
              <a:buNone/>
            </a:pPr>
            <a:r>
              <a:rPr lang="en-US" sz="1100" dirty="0">
                <a:solidFill>
                  <a:srgbClr val="2C6E9B"/>
                </a:solidFill>
                <a:latin typeface="Courier New" panose="02070309020205020404" pitchFamily="34" charset="0"/>
                <a:ea typeface="Courier New" panose="02070309020205020404" pitchFamily="34" charset="-122"/>
                <a:cs typeface="Courier New" panose="02070309020205020404" pitchFamily="34" charset="-120"/>
              </a:rPr>
              <a:t>curl -A "sqlmap/1.7"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PHASE 2 · BASELINE</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What my attacks left behind in the log</a:t>
            </a:r>
            <a:endParaRPr lang="en-US" sz="3000" dirty="0"/>
          </a:p>
        </p:txBody>
      </p:sp>
      <p:sp>
        <p:nvSpPr>
          <p:cNvPr id="4" name="Shape 2"/>
          <p:cNvSpPr/>
          <p:nvPr/>
        </p:nvSpPr>
        <p:spPr>
          <a:xfrm>
            <a:off x="566928" y="1517904"/>
            <a:ext cx="5577840" cy="1490472"/>
          </a:xfrm>
          <a:prstGeom prst="roundRect">
            <a:avLst>
              <a:gd name="adj" fmla="val 3681"/>
            </a:avLst>
          </a:prstGeom>
          <a:solidFill>
            <a:srgbClr val="1B2026"/>
          </a:solidFill>
          <a:ln w="12700">
            <a:solidFill>
              <a:srgbClr val="2C343C"/>
            </a:solidFill>
            <a:prstDash val="solid"/>
          </a:ln>
        </p:spPr>
      </p:sp>
      <p:sp>
        <p:nvSpPr>
          <p:cNvPr id="5" name="Text 3"/>
          <p:cNvSpPr/>
          <p:nvPr/>
        </p:nvSpPr>
        <p:spPr>
          <a:xfrm>
            <a:off x="713232" y="1655064"/>
            <a:ext cx="5285232" cy="1216152"/>
          </a:xfrm>
          <a:prstGeom prst="rect">
            <a:avLst/>
          </a:prstGeom>
          <a:noFill/>
        </p:spPr>
        <p:txBody>
          <a:bodyPr wrap="square" lIns="0" tIns="0" rIns="0" bIns="0" rtlCol="0" anchor="t"/>
          <a:lstStyle/>
          <a:p>
            <a:pPr marL="0" indent="0">
              <a:lnSpc>
                <a:spcPts val="1320"/>
              </a:lnSpc>
              <a:buNone/>
            </a:pPr>
            <a:r>
              <a:rPr lang="en-US" sz="10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wc -l access.log</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97 access.log</a:t>
            </a:r>
            <a:endParaRPr lang="en-US" sz="1000" dirty="0"/>
          </a:p>
          <a:p>
            <a:pPr marL="0" indent="0">
              <a:lnSpc>
                <a:spcPts val="1320"/>
              </a:lnSpc>
              <a:buNone/>
            </a:pPr>
            <a:endParaRPr lang="en-US" sz="1000" dirty="0"/>
          </a:p>
          <a:p>
            <a:pPr marL="0" indent="0">
              <a:lnSpc>
                <a:spcPts val="1320"/>
              </a:lnSpc>
              <a:buNone/>
            </a:pPr>
            <a:r>
              <a:rPr lang="en-US" sz="10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awk '{print $1}' access.log | sort | uniq -c | sort -nr</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     80 127.0.0.1     &lt;- browser attacks</a:t>
            </a:r>
            <a:endParaRPr lang="en-US" sz="1000" dirty="0"/>
          </a:p>
          <a:p>
            <a:pPr marL="0" indent="0">
              <a:lnSpc>
                <a:spcPts val="1320"/>
              </a:lnSpc>
              <a:buNone/>
            </a:pPr>
            <a:r>
              <a:rPr lang="en-US" sz="1000"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     17 ::1           &lt;- curl recon (IPv6)</a:t>
            </a:r>
            <a:endParaRPr lang="en-US" sz="1000" dirty="0"/>
          </a:p>
        </p:txBody>
      </p:sp>
      <p:graphicFrame>
        <p:nvGraphicFramePr>
          <p:cNvPr id="6" name="Chart 0"/>
          <p:cNvGraphicFramePr/>
          <p:nvPr/>
        </p:nvGraphicFramePr>
        <p:xfrm>
          <a:off x="6309360" y="1554480"/>
          <a:ext cx="5394960" cy="2651760"/>
        </p:xfrm>
        <a:graphic>
          <a:graphicData uri="http://schemas.openxmlformats.org/drawingml/2006/chart">
            <c:chart xmlns:c="http://schemas.openxmlformats.org/drawingml/2006/chart" xmlns:r="http://schemas.openxmlformats.org/officeDocument/2006/relationships" r:id="rId1"/>
          </a:graphicData>
        </a:graphic>
      </p:graphicFrame>
      <p:sp>
        <p:nvSpPr>
          <p:cNvPr id="7" name="Shape 4"/>
          <p:cNvSpPr/>
          <p:nvPr/>
        </p:nvSpPr>
        <p:spPr>
          <a:xfrm>
            <a:off x="566928" y="3566160"/>
            <a:ext cx="5577840" cy="2103120"/>
          </a:xfrm>
          <a:prstGeom prst="roundRect">
            <a:avLst>
              <a:gd name="adj" fmla="val 2174"/>
            </a:avLst>
          </a:prstGeom>
          <a:solidFill>
            <a:srgbClr val="F5F7F9"/>
          </a:solidFill>
          <a:ln w="12700">
            <a:solidFill>
              <a:srgbClr val="DDE3E8"/>
            </a:solidFill>
            <a:prstDash val="solid"/>
          </a:ln>
        </p:spPr>
      </p:sp>
      <p:sp>
        <p:nvSpPr>
          <p:cNvPr id="8" name="Text 5"/>
          <p:cNvSpPr/>
          <p:nvPr/>
        </p:nvSpPr>
        <p:spPr>
          <a:xfrm>
            <a:off x="749808" y="3712464"/>
            <a:ext cx="5212080" cy="274320"/>
          </a:xfrm>
          <a:prstGeom prst="rect">
            <a:avLst/>
          </a:prstGeom>
          <a:noFill/>
        </p:spPr>
        <p:txBody>
          <a:bodyPr wrap="square" lIns="0" tIns="0" rIns="0" bIns="0" rtlCol="0" anchor="t"/>
          <a:lstStyle/>
          <a:p>
            <a:pPr marL="0" indent="0">
              <a:buNone/>
            </a:pPr>
            <a:r>
              <a:rPr lang="en-US" sz="1300" b="1" dirty="0">
                <a:solidFill>
                  <a:srgbClr val="D9942B"/>
                </a:solidFill>
                <a:latin typeface="Arial" panose="020B0604020202020204" pitchFamily="34" charset="0"/>
                <a:ea typeface="Arial" panose="020B0604020202020204" pitchFamily="34" charset="-122"/>
                <a:cs typeface="Arial" panose="020B0604020202020204" pitchFamily="34" charset="-120"/>
              </a:rPr>
              <a:t>The lesson hiding in this slide</a:t>
            </a:r>
            <a:endParaRPr lang="en-US" sz="1300" dirty="0"/>
          </a:p>
        </p:txBody>
      </p:sp>
      <p:sp>
        <p:nvSpPr>
          <p:cNvPr id="9" name="Text 6"/>
          <p:cNvSpPr/>
          <p:nvPr/>
        </p:nvSpPr>
        <p:spPr>
          <a:xfrm>
            <a:off x="749808" y="4023360"/>
            <a:ext cx="5212080" cy="1481328"/>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Status codes alone would have missed my worst attack. The brute force, the SQL injection and the XSS all returned 200 OK — the app answered them perfectly. Only the curl recon produced 404s. If I had only hunted for error codes, I would have caught the least dangerous thing I did.</a:t>
            </a:r>
            <a:endParaRPr lang="en-US" sz="1200" dirty="0"/>
          </a:p>
        </p:txBody>
      </p:sp>
      <p:sp>
        <p:nvSpPr>
          <p:cNvPr id="10" name="Text 7"/>
          <p:cNvSpPr/>
          <p:nvPr/>
        </p:nvSpPr>
        <p:spPr>
          <a:xfrm>
            <a:off x="6309360" y="4434840"/>
            <a:ext cx="5394960" cy="822960"/>
          </a:xfrm>
          <a:prstGeom prst="rect">
            <a:avLst/>
          </a:prstGeom>
          <a:noFill/>
        </p:spPr>
        <p:txBody>
          <a:bodyPr wrap="square" lIns="0" tIns="0" rIns="0" bIns="0" rtlCol="0" anchor="t"/>
          <a:lstStyle/>
          <a:p>
            <a:pPr marL="0" indent="0">
              <a:lnSpc>
                <a:spcPts val="1700"/>
              </a:lnSpc>
              <a:buNone/>
            </a:pPr>
            <a:r>
              <a:rPr lang="en-US" sz="1250" i="1" dirty="0">
                <a:solidFill>
                  <a:srgbClr val="3C464F"/>
                </a:solidFill>
                <a:latin typeface="Calibri" panose="020F0502020204030204" pitchFamily="34" charset="0"/>
                <a:ea typeface="Calibri" panose="020F0502020204030204" pitchFamily="34" charset="-122"/>
                <a:cs typeface="Calibri" panose="020F0502020204030204" pitchFamily="34" charset="-120"/>
              </a:rPr>
              <a:t>Two client addresses: 127.0.0.1 is my browser, ::1 is curl over IPv6 — same machine, two identities in the log.</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61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FINDING 1</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Repeated failed logins from a single IP</a:t>
            </a:r>
            <a:endParaRPr lang="en-US" sz="3000" dirty="0"/>
          </a:p>
        </p:txBody>
      </p:sp>
      <p:grpSp>
        <p:nvGrpSpPr>
          <p:cNvPr id="16" name="Group 15"/>
          <p:cNvGrpSpPr/>
          <p:nvPr/>
        </p:nvGrpSpPr>
        <p:grpSpPr>
          <a:xfrm>
            <a:off x="567055" y="2153158"/>
            <a:ext cx="6858000" cy="2185543"/>
            <a:chOff x="893" y="2549"/>
            <a:chExt cx="10800" cy="3442"/>
          </a:xfrm>
        </p:grpSpPr>
        <p:sp>
          <p:nvSpPr>
            <p:cNvPr id="4" name="Shape 2"/>
            <p:cNvSpPr/>
            <p:nvPr/>
          </p:nvSpPr>
          <p:spPr>
            <a:xfrm>
              <a:off x="893" y="2549"/>
              <a:ext cx="10800" cy="3442"/>
            </a:xfrm>
            <a:prstGeom prst="roundRect">
              <a:avLst>
                <a:gd name="adj" fmla="val 2510"/>
              </a:avLst>
            </a:prstGeom>
            <a:solidFill>
              <a:srgbClr val="1B2026"/>
            </a:solidFill>
            <a:ln w="12700">
              <a:solidFill>
                <a:srgbClr val="2C343C"/>
              </a:solidFill>
              <a:prstDash val="solid"/>
            </a:ln>
          </p:spPr>
          <p:txBody>
            <a:bodyPr/>
            <a:p>
              <a:endParaRPr lang="en-US"/>
            </a:p>
          </p:txBody>
        </p:sp>
        <p:sp>
          <p:nvSpPr>
            <p:cNvPr id="5" name="Text 3"/>
            <p:cNvSpPr/>
            <p:nvPr/>
          </p:nvSpPr>
          <p:spPr>
            <a:xfrm>
              <a:off x="1123" y="2549"/>
              <a:ext cx="10339" cy="3010"/>
            </a:xfrm>
            <a:prstGeom prst="rect">
              <a:avLst/>
            </a:prstGeom>
            <a:noFill/>
          </p:spPr>
          <p:txBody>
            <a:bodyPr wrap="square" lIns="0" tIns="0" rIns="0" bIns="0" rtlCol="0" anchor="t"/>
            <a:lstStyle/>
            <a:p>
              <a:pPr marL="0" indent="0">
                <a:lnSpc>
                  <a:spcPts val="1320"/>
                </a:lnSpc>
                <a:buNone/>
              </a:pPr>
              <a:r>
                <a:rPr lang="en-US" sz="10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grep "brute" access.log</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127.0.0.1 - - [03/Aug/2026:07:08:31] "POST /DVWA/vulnera</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bilities/brute/ HTTP/1.1" 200 2103</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127.0.0.1 - - [03/Aug/2026:07:09:20] "POST /DVWA/vulnera</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bilities/brute/ HTTP/1.1" 200 2103</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127.0.0.1 - - [03/Aug/2026:07:09:44] "POST /DVWA/vulnera</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bilities/brute/ HTTP/1.1" 200 2145</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127.0.0.1 - - [03/Aug/2026:07:10:11] "POST ... 200 2105</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127.0.0.1 - - [03/Aug/2026:07:10:21] "POST ... 200 2038</a:t>
              </a:r>
              <a:endParaRPr lang="en-US" sz="1000" dirty="0"/>
            </a:p>
            <a:p>
              <a:pPr marL="0" indent="0">
                <a:lnSpc>
                  <a:spcPts val="1320"/>
                </a:lnSpc>
                <a:buNone/>
              </a:pPr>
              <a:r>
                <a:rPr lang="en-US" sz="10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127.0.0.1 - - [03/Aug/2026:07:10:24] "POST ... 200 2035</a:t>
              </a:r>
              <a:endParaRPr lang="en-US" sz="1000" dirty="0"/>
            </a:p>
          </p:txBody>
        </p:sp>
      </p:grpSp>
      <p:sp>
        <p:nvSpPr>
          <p:cNvPr id="6" name="Text 4"/>
          <p:cNvSpPr/>
          <p:nvPr/>
        </p:nvSpPr>
        <p:spPr>
          <a:xfrm>
            <a:off x="566928" y="4498975"/>
            <a:ext cx="6858000" cy="822960"/>
          </a:xfrm>
          <a:prstGeom prst="rect">
            <a:avLst/>
          </a:prstGeom>
          <a:noFill/>
        </p:spPr>
        <p:txBody>
          <a:bodyPr wrap="square" lIns="0" tIns="0" rIns="0" bIns="0" rtlCol="0" anchor="t"/>
          <a:lstStyle/>
          <a:p>
            <a:pPr marL="0" indent="0">
              <a:lnSpc>
                <a:spcPts val="1800"/>
              </a:lnSpc>
              <a:buNone/>
            </a:pPr>
            <a:r>
              <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rPr>
              <a:t>Notice the response sizes: 2103, 2103, 2145, 2105 ... then 2038 and 2035.</a:t>
            </a:r>
            <a:endParaRPr lang="en-US" sz="1250" dirty="0">
              <a:solidFill>
                <a:schemeClr val="bg1"/>
              </a:solidFill>
            </a:endParaRPr>
          </a:p>
          <a:p>
            <a:pPr marL="0" indent="0">
              <a:lnSpc>
                <a:spcPts val="1800"/>
              </a:lnSpc>
              <a:buNone/>
            </a:pPr>
            <a:r>
              <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rPr>
              <a:t>The page got smaller once the login succeeded. The status code never changed</a:t>
            </a:r>
            <a:r>
              <a:rPr lang="en-US" sz="1250" dirty="0">
                <a:solidFill>
                  <a:srgbClr val="AEB8C0"/>
                </a:solidFill>
                <a:latin typeface="Calibri" panose="020F0502020204030204" pitchFamily="34" charset="0"/>
                <a:ea typeface="Calibri" panose="020F0502020204030204" pitchFamily="34" charset="-122"/>
                <a:cs typeface="Calibri" panose="020F0502020204030204" pitchFamily="34" charset="-120"/>
              </a:rPr>
              <a:t>.</a:t>
            </a:r>
            <a:endParaRPr lang="en-US" sz="1250" dirty="0"/>
          </a:p>
        </p:txBody>
      </p:sp>
      <p:sp>
        <p:nvSpPr>
          <p:cNvPr id="7" name="Shape 5"/>
          <p:cNvSpPr/>
          <p:nvPr/>
        </p:nvSpPr>
        <p:spPr>
          <a:xfrm>
            <a:off x="7680960" y="1481328"/>
            <a:ext cx="3941064" cy="1417320"/>
          </a:xfrm>
          <a:prstGeom prst="roundRect">
            <a:avLst>
              <a:gd name="adj" fmla="val 3226"/>
            </a:avLst>
          </a:prstGeom>
          <a:solidFill>
            <a:srgbClr val="1B2026"/>
          </a:solidFill>
          <a:ln w="12700">
            <a:solidFill>
              <a:srgbClr val="2C343C"/>
            </a:solidFill>
            <a:prstDash val="solid"/>
          </a:ln>
        </p:spPr>
      </p:sp>
      <p:sp>
        <p:nvSpPr>
          <p:cNvPr id="8" name="Text 6"/>
          <p:cNvSpPr/>
          <p:nvPr/>
        </p:nvSpPr>
        <p:spPr>
          <a:xfrm>
            <a:off x="7863840" y="1627632"/>
            <a:ext cx="3575304" cy="274320"/>
          </a:xfrm>
          <a:prstGeom prst="rect">
            <a:avLst/>
          </a:prstGeom>
          <a:noFill/>
        </p:spPr>
        <p:txBody>
          <a:bodyPr wrap="square" lIns="0" tIns="0" rIns="0" bIns="0" rtlCol="0" anchor="t"/>
          <a:lstStyle/>
          <a:p>
            <a:pPr marL="0" indent="0">
              <a:buNone/>
            </a:pPr>
            <a:r>
              <a:rPr lang="en-US" sz="1300" b="1" dirty="0">
                <a:solidFill>
                  <a:srgbClr val="C43F35"/>
                </a:solidFill>
                <a:latin typeface="Arial" panose="020B0604020202020204" pitchFamily="34" charset="0"/>
                <a:ea typeface="Arial" panose="020B0604020202020204" pitchFamily="34" charset="-122"/>
                <a:cs typeface="Arial" panose="020B0604020202020204" pitchFamily="34" charset="-120"/>
              </a:rPr>
              <a:t>The signal</a:t>
            </a:r>
            <a:endParaRPr lang="en-US" sz="1300" dirty="0"/>
          </a:p>
        </p:txBody>
      </p:sp>
      <p:sp>
        <p:nvSpPr>
          <p:cNvPr id="9" name="Text 7"/>
          <p:cNvSpPr/>
          <p:nvPr/>
        </p:nvSpPr>
        <p:spPr>
          <a:xfrm>
            <a:off x="7863840" y="1938528"/>
            <a:ext cx="3575304" cy="795528"/>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18 POST requests to the same login URL, from one IP, within about three minutes. Every one returned 200.</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7680960" y="3035808"/>
            <a:ext cx="3941064" cy="1463040"/>
          </a:xfrm>
          <a:prstGeom prst="roundRect">
            <a:avLst>
              <a:gd name="adj" fmla="val 3125"/>
            </a:avLst>
          </a:prstGeom>
          <a:solidFill>
            <a:srgbClr val="1B2026"/>
          </a:solidFill>
          <a:ln w="12700">
            <a:solidFill>
              <a:srgbClr val="2C343C"/>
            </a:solidFill>
            <a:prstDash val="solid"/>
          </a:ln>
        </p:spPr>
      </p:sp>
      <p:sp>
        <p:nvSpPr>
          <p:cNvPr id="11" name="Text 9"/>
          <p:cNvSpPr/>
          <p:nvPr/>
        </p:nvSpPr>
        <p:spPr>
          <a:xfrm>
            <a:off x="7863840" y="3182112"/>
            <a:ext cx="3575304" cy="274320"/>
          </a:xfrm>
          <a:prstGeom prst="rect">
            <a:avLst/>
          </a:prstGeom>
          <a:noFill/>
        </p:spPr>
        <p:txBody>
          <a:bodyPr wrap="square" lIns="0" tIns="0" rIns="0" bIns="0" rtlCol="0" anchor="t"/>
          <a:lstStyle/>
          <a:p>
            <a:pPr marL="0" indent="0">
              <a:buNone/>
            </a:pPr>
            <a:r>
              <a:rPr lang="en-US" sz="1300" b="1" dirty="0">
                <a:solidFill>
                  <a:srgbClr val="D9942B"/>
                </a:solidFill>
                <a:latin typeface="Arial" panose="020B0604020202020204" pitchFamily="34" charset="0"/>
                <a:ea typeface="Arial" panose="020B0604020202020204" pitchFamily="34" charset="-122"/>
                <a:cs typeface="Arial" panose="020B0604020202020204" pitchFamily="34" charset="-120"/>
              </a:rPr>
              <a:t>Confirmed in the app</a:t>
            </a:r>
            <a:endParaRPr lang="en-US" sz="1300" dirty="0"/>
          </a:p>
        </p:txBody>
      </p:sp>
      <p:sp>
        <p:nvSpPr>
          <p:cNvPr id="12" name="Text 10"/>
          <p:cNvSpPr/>
          <p:nvPr/>
        </p:nvSpPr>
        <p:spPr>
          <a:xfrm>
            <a:off x="7863840" y="3493008"/>
            <a:ext cx="3575304" cy="841248"/>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DVWA itself showed "account has been locked because of too many failed logins", then "Number of login attempts: 3" once I got in.</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7680960" y="4636008"/>
            <a:ext cx="3941064" cy="1234440"/>
          </a:xfrm>
          <a:prstGeom prst="roundRect">
            <a:avLst>
              <a:gd name="adj" fmla="val 3704"/>
            </a:avLst>
          </a:prstGeom>
          <a:solidFill>
            <a:srgbClr val="1B2026"/>
          </a:solidFill>
          <a:ln w="12700">
            <a:solidFill>
              <a:srgbClr val="2C343C"/>
            </a:solidFill>
            <a:prstDash val="solid"/>
          </a:ln>
        </p:spPr>
      </p:sp>
      <p:sp>
        <p:nvSpPr>
          <p:cNvPr id="14" name="Text 12"/>
          <p:cNvSpPr/>
          <p:nvPr/>
        </p:nvSpPr>
        <p:spPr>
          <a:xfrm>
            <a:off x="7863840" y="4782312"/>
            <a:ext cx="3575304" cy="274320"/>
          </a:xfrm>
          <a:prstGeom prst="rect">
            <a:avLst/>
          </a:prstGeom>
          <a:noFill/>
        </p:spPr>
        <p:txBody>
          <a:bodyPr wrap="square" lIns="0" tIns="0" rIns="0" bIns="0" rtlCol="0" anchor="t"/>
          <a:lstStyle/>
          <a:p>
            <a:pPr marL="0" indent="0">
              <a:buNone/>
            </a:pPr>
            <a:r>
              <a:rPr lang="en-US" sz="1300" b="1" dirty="0">
                <a:solidFill>
                  <a:srgbClr val="2FA85D"/>
                </a:solidFill>
                <a:latin typeface="Arial" panose="020B0604020202020204" pitchFamily="34" charset="0"/>
                <a:ea typeface="Arial" panose="020B0604020202020204" pitchFamily="34" charset="-122"/>
                <a:cs typeface="Arial" panose="020B0604020202020204" pitchFamily="34" charset="-120"/>
              </a:rPr>
              <a:t>So the rule is</a:t>
            </a:r>
            <a:endParaRPr lang="en-US" sz="1300" dirty="0"/>
          </a:p>
        </p:txBody>
      </p:sp>
      <p:sp>
        <p:nvSpPr>
          <p:cNvPr id="15" name="Text 13"/>
          <p:cNvSpPr/>
          <p:nvPr/>
        </p:nvSpPr>
        <p:spPr>
          <a:xfrm>
            <a:off x="7863840" y="5093208"/>
            <a:ext cx="3575304" cy="612648"/>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Count POSTs per IP per URL over time — do not look at the status code.</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61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FINDING 2</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Attack payloads sitting in plain sight in the URL</a:t>
            </a:r>
            <a:endParaRPr lang="en-US" sz="3000" dirty="0"/>
          </a:p>
        </p:txBody>
      </p:sp>
      <p:grpSp>
        <p:nvGrpSpPr>
          <p:cNvPr id="12" name="Group 11"/>
          <p:cNvGrpSpPr/>
          <p:nvPr/>
        </p:nvGrpSpPr>
        <p:grpSpPr>
          <a:xfrm>
            <a:off x="567055" y="1632585"/>
            <a:ext cx="11055350" cy="4160520"/>
            <a:chOff x="893" y="2333"/>
            <a:chExt cx="17410" cy="6552"/>
          </a:xfrm>
        </p:grpSpPr>
        <p:sp>
          <p:nvSpPr>
            <p:cNvPr id="4" name="Shape 2"/>
            <p:cNvSpPr/>
            <p:nvPr/>
          </p:nvSpPr>
          <p:spPr>
            <a:xfrm>
              <a:off x="893" y="2333"/>
              <a:ext cx="17410" cy="2758"/>
            </a:xfrm>
            <a:prstGeom prst="roundRect">
              <a:avLst>
                <a:gd name="adj" fmla="val 3133"/>
              </a:avLst>
            </a:prstGeom>
            <a:solidFill>
              <a:srgbClr val="1B2026"/>
            </a:solidFill>
            <a:ln w="12700">
              <a:solidFill>
                <a:srgbClr val="2C343C"/>
              </a:solidFill>
              <a:prstDash val="solid"/>
            </a:ln>
          </p:spPr>
        </p:sp>
        <p:sp>
          <p:nvSpPr>
            <p:cNvPr id="5" name="Text 3"/>
            <p:cNvSpPr/>
            <p:nvPr/>
          </p:nvSpPr>
          <p:spPr>
            <a:xfrm>
              <a:off x="1123" y="2549"/>
              <a:ext cx="16949" cy="2326"/>
            </a:xfrm>
            <a:prstGeom prst="rect">
              <a:avLst/>
            </a:prstGeom>
            <a:noFill/>
          </p:spPr>
          <p:txBody>
            <a:bodyPr wrap="square" lIns="0" tIns="0" rIns="0" bIns="0" rtlCol="0" anchor="t"/>
            <a:lstStyle/>
            <a:p>
              <a:pPr marL="0" indent="0">
                <a:lnSpc>
                  <a:spcPts val="1320"/>
                </a:lnSpc>
                <a:buNone/>
              </a:pPr>
              <a:r>
                <a:rPr lang="en-US" sz="10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grep -Ei "union|select|information_schema|' or '" access.log</a:t>
              </a:r>
              <a:endParaRPr lang="en-US" sz="1000" dirty="0"/>
            </a:p>
            <a:p>
              <a:pPr marL="0" indent="0">
                <a:lnSpc>
                  <a:spcPts val="1320"/>
                </a:lnSpc>
                <a:buNone/>
              </a:pPr>
              <a:r>
                <a:rPr lang="en-US" sz="1000" dirty="0">
                  <a:solidFill>
                    <a:srgbClr val="F08A80"/>
                  </a:solidFill>
                  <a:latin typeface="Courier New" panose="02070309020205020404" pitchFamily="34" charset="0"/>
                  <a:ea typeface="Courier New" panose="02070309020205020404" pitchFamily="34" charset="-122"/>
                  <a:cs typeface="Courier New" panose="02070309020205020404" pitchFamily="34" charset="-120"/>
                </a:rPr>
                <a:t>GET /DVWA/vulnerabilities/sqli/?id=1%27+OR+%271%27%3D%271&amp;Submit=Submit  200</a:t>
              </a:r>
              <a:endParaRPr lang="en-US" sz="1000" dirty="0"/>
            </a:p>
            <a:p>
              <a:pPr marL="0" indent="0">
                <a:lnSpc>
                  <a:spcPts val="1320"/>
                </a:lnSpc>
                <a:buNone/>
              </a:pPr>
              <a:r>
                <a:rPr lang="en-US" sz="1000"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   decoded -&gt;  ?id=1' OR '1'='1&amp;Submit=Submit</a:t>
              </a:r>
              <a:endParaRPr lang="en-US" sz="1000" dirty="0"/>
            </a:p>
            <a:p>
              <a:pPr marL="0" indent="0">
                <a:lnSpc>
                  <a:spcPts val="1320"/>
                </a:lnSpc>
                <a:buNone/>
              </a:pPr>
              <a:endParaRPr lang="en-US" sz="1000" dirty="0"/>
            </a:p>
            <a:p>
              <a:pPr marL="0" indent="0">
                <a:lnSpc>
                  <a:spcPts val="1320"/>
                </a:lnSpc>
                <a:buNone/>
              </a:pPr>
              <a:r>
                <a:rPr lang="en-US" sz="10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grep -Ei "script|alert|onerror|onload|javascript:" access.log</a:t>
              </a:r>
              <a:endParaRPr lang="en-US" sz="1000" dirty="0"/>
            </a:p>
            <a:p>
              <a:pPr marL="0" indent="0">
                <a:lnSpc>
                  <a:spcPts val="1320"/>
                </a:lnSpc>
                <a:buNone/>
              </a:pPr>
              <a:r>
                <a:rPr lang="en-US" sz="1000" dirty="0">
                  <a:solidFill>
                    <a:srgbClr val="F08A80"/>
                  </a:solidFill>
                  <a:latin typeface="Courier New" panose="02070309020205020404" pitchFamily="34" charset="0"/>
                  <a:ea typeface="Courier New" panose="02070309020205020404" pitchFamily="34" charset="-122"/>
                  <a:cs typeface="Courier New" panose="02070309020205020404" pitchFamily="34" charset="-120"/>
                </a:rPr>
                <a:t>GET /DVWA/vulnerabilities/xss_r/?name=%3Cscript%3Ealert%281%29%3C%2Fscript%3E  200</a:t>
              </a:r>
              <a:endParaRPr lang="en-US" sz="1000" dirty="0"/>
            </a:p>
            <a:p>
              <a:pPr marL="0" indent="0">
                <a:lnSpc>
                  <a:spcPts val="1320"/>
                </a:lnSpc>
                <a:buNone/>
              </a:pPr>
              <a:r>
                <a:rPr lang="en-US" sz="1000"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   decoded -&gt;  ?name=&lt;script&gt;alert(1)&lt;/script&gt;</a:t>
              </a:r>
              <a:endParaRPr lang="en-US" sz="1000" dirty="0"/>
            </a:p>
          </p:txBody>
        </p:sp>
        <p:sp>
          <p:nvSpPr>
            <p:cNvPr id="6" name="Shape 4"/>
            <p:cNvSpPr/>
            <p:nvPr/>
          </p:nvSpPr>
          <p:spPr>
            <a:xfrm>
              <a:off x="893" y="5213"/>
              <a:ext cx="8496" cy="3672"/>
            </a:xfrm>
            <a:prstGeom prst="roundRect">
              <a:avLst>
                <a:gd name="adj" fmla="val 1961"/>
              </a:avLst>
            </a:prstGeom>
            <a:solidFill>
              <a:srgbClr val="1B2026"/>
            </a:solidFill>
            <a:ln w="12700">
              <a:solidFill>
                <a:srgbClr val="2C343C"/>
              </a:solidFill>
              <a:prstDash val="solid"/>
            </a:ln>
          </p:spPr>
        </p:sp>
        <p:sp>
          <p:nvSpPr>
            <p:cNvPr id="7" name="Text 5"/>
            <p:cNvSpPr/>
            <p:nvPr/>
          </p:nvSpPr>
          <p:spPr>
            <a:xfrm>
              <a:off x="1181" y="5443"/>
              <a:ext cx="7920" cy="432"/>
            </a:xfrm>
            <a:prstGeom prst="rect">
              <a:avLst/>
            </a:prstGeom>
            <a:noFill/>
          </p:spPr>
          <p:txBody>
            <a:bodyPr wrap="square" lIns="0" tIns="0" rIns="0" bIns="0" rtlCol="0" anchor="t"/>
            <a:lstStyle/>
            <a:p>
              <a:pPr marL="0" indent="0">
                <a:buNone/>
              </a:pPr>
              <a:r>
                <a:rPr lang="en-US" sz="1300" b="1" dirty="0">
                  <a:solidFill>
                    <a:srgbClr val="D9942B"/>
                  </a:solidFill>
                  <a:latin typeface="Arial" panose="020B0604020202020204" pitchFamily="34" charset="0"/>
                  <a:ea typeface="Arial" panose="020B0604020202020204" pitchFamily="34" charset="-122"/>
                  <a:cs typeface="Arial" panose="020B0604020202020204" pitchFamily="34" charset="-120"/>
                </a:rPr>
                <a:t>The catch: everything is URL-encoded</a:t>
              </a:r>
              <a:endParaRPr lang="en-US" sz="1300" dirty="0"/>
            </a:p>
          </p:txBody>
        </p:sp>
        <p:sp>
          <p:nvSpPr>
            <p:cNvPr id="8" name="Text 6"/>
            <p:cNvSpPr/>
            <p:nvPr/>
          </p:nvSpPr>
          <p:spPr>
            <a:xfrm>
              <a:off x="1181" y="5933"/>
              <a:ext cx="7920" cy="2693"/>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A single quote arrives as %27, an angle bracket as %3C, a space as +. A grep for "&lt;script&gt;" finds nothing at all in a raw Apache log.</a:t>
              </a:r>
              <a:endParaRPr lang="en-US" sz="1200" dirty="0">
                <a:solidFill>
                  <a:schemeClr val="bg1"/>
                </a:solidFill>
              </a:endParaRPr>
            </a:p>
            <a:p>
              <a:pPr marL="0" indent="0">
                <a:lnSpc>
                  <a:spcPts val="1600"/>
                </a:lnSpc>
                <a:buNone/>
              </a:pPr>
              <a:endParaRPr lang="en-US" sz="1200" dirty="0">
                <a:solidFill>
                  <a:schemeClr val="bg1"/>
                </a:solidFill>
              </a:endParaRPr>
            </a:p>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That is why my Python scripts run every line through urllib.parse.unquote_plus() before matching anything.</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9821" y="5213"/>
              <a:ext cx="8482" cy="3672"/>
            </a:xfrm>
            <a:prstGeom prst="roundRect">
              <a:avLst>
                <a:gd name="adj" fmla="val 1961"/>
              </a:avLst>
            </a:prstGeom>
            <a:solidFill>
              <a:srgbClr val="1B2026"/>
            </a:solidFill>
            <a:ln w="12700">
              <a:solidFill>
                <a:srgbClr val="2C343C"/>
              </a:solidFill>
              <a:prstDash val="solid"/>
            </a:ln>
          </p:spPr>
        </p:sp>
        <p:sp>
          <p:nvSpPr>
            <p:cNvPr id="10" name="Text 8"/>
            <p:cNvSpPr/>
            <p:nvPr/>
          </p:nvSpPr>
          <p:spPr>
            <a:xfrm>
              <a:off x="10109" y="5443"/>
              <a:ext cx="7906" cy="432"/>
            </a:xfrm>
            <a:prstGeom prst="rect">
              <a:avLst/>
            </a:prstGeom>
            <a:noFill/>
          </p:spPr>
          <p:txBody>
            <a:bodyPr wrap="square" lIns="0" tIns="0" rIns="0" bIns="0" rtlCol="0" anchor="t"/>
            <a:lstStyle/>
            <a:p>
              <a:pPr marL="0" indent="0">
                <a:buNone/>
              </a:pPr>
              <a:r>
                <a:rPr lang="en-US" sz="1300" b="1" dirty="0">
                  <a:solidFill>
                    <a:srgbClr val="C43F35"/>
                  </a:solidFill>
                  <a:latin typeface="Arial" panose="020B0604020202020204" pitchFamily="34" charset="0"/>
                  <a:ea typeface="Arial" panose="020B0604020202020204" pitchFamily="34" charset="-122"/>
                  <a:cs typeface="Arial" panose="020B0604020202020204" pitchFamily="34" charset="-120"/>
                </a:rPr>
                <a:t>And again: status code 200</a:t>
              </a:r>
              <a:endParaRPr lang="en-US" sz="1300" dirty="0"/>
            </a:p>
          </p:txBody>
        </p:sp>
        <p:sp>
          <p:nvSpPr>
            <p:cNvPr id="11" name="Text 9"/>
            <p:cNvSpPr/>
            <p:nvPr/>
          </p:nvSpPr>
          <p:spPr>
            <a:xfrm>
              <a:off x="10109" y="5933"/>
              <a:ext cx="7906" cy="2693"/>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Both of these were answered normally by the server, because the application is doing exactly what it was told to do. The evidence is entirely in field 7 — the requested URL.</a:t>
              </a:r>
              <a:endParaRPr lang="en-US" sz="1200" dirty="0">
                <a:solidFill>
                  <a:schemeClr val="bg1"/>
                </a:solidFill>
              </a:endParaRPr>
            </a:p>
            <a:p>
              <a:pPr marL="0" indent="0">
                <a:lnSpc>
                  <a:spcPts val="1600"/>
                </a:lnSpc>
                <a:buNone/>
              </a:pPr>
              <a:endParaRPr lang="en-US" sz="1200" dirty="0">
                <a:solidFill>
                  <a:schemeClr val="bg1"/>
                </a:solidFill>
              </a:endParaRPr>
            </a:p>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Detection here has to read the request, not the response.</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61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FINDING 3</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A scanner does not bother pretending to be a browser</a:t>
            </a:r>
            <a:endParaRPr lang="en-US" sz="3000" dirty="0"/>
          </a:p>
        </p:txBody>
      </p:sp>
      <p:grpSp>
        <p:nvGrpSpPr>
          <p:cNvPr id="16" name="Group 15"/>
          <p:cNvGrpSpPr/>
          <p:nvPr/>
        </p:nvGrpSpPr>
        <p:grpSpPr>
          <a:xfrm>
            <a:off x="567055" y="2199640"/>
            <a:ext cx="6949440" cy="1997710"/>
            <a:chOff x="893" y="2333"/>
            <a:chExt cx="10944" cy="3146"/>
          </a:xfrm>
        </p:grpSpPr>
        <p:sp>
          <p:nvSpPr>
            <p:cNvPr id="4" name="Shape 2"/>
            <p:cNvSpPr/>
            <p:nvPr/>
          </p:nvSpPr>
          <p:spPr>
            <a:xfrm>
              <a:off x="893" y="2333"/>
              <a:ext cx="10944" cy="3146"/>
            </a:xfrm>
            <a:prstGeom prst="roundRect">
              <a:avLst>
                <a:gd name="adj" fmla="val 2746"/>
              </a:avLst>
            </a:prstGeom>
            <a:solidFill>
              <a:srgbClr val="1B2026"/>
            </a:solidFill>
            <a:ln w="12700">
              <a:solidFill>
                <a:srgbClr val="2C343C"/>
              </a:solidFill>
              <a:prstDash val="solid"/>
            </a:ln>
          </p:spPr>
        </p:sp>
        <p:sp>
          <p:nvSpPr>
            <p:cNvPr id="5" name="Text 3"/>
            <p:cNvSpPr/>
            <p:nvPr/>
          </p:nvSpPr>
          <p:spPr>
            <a:xfrm>
              <a:off x="1123" y="2549"/>
              <a:ext cx="10483" cy="2714"/>
            </a:xfrm>
            <a:prstGeom prst="rect">
              <a:avLst/>
            </a:prstGeom>
            <a:noFill/>
          </p:spPr>
          <p:txBody>
            <a:bodyPr wrap="square" lIns="0" tIns="0" rIns="0" bIns="0" rtlCol="0" anchor="t"/>
            <a:lstStyle/>
            <a:p>
              <a:pPr marL="0" indent="0">
                <a:lnSpc>
                  <a:spcPts val="1320"/>
                </a:lnSpc>
                <a:buNone/>
              </a:pPr>
              <a:r>
                <a:rPr lang="en-US" sz="10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grep -Ei "/admin|/\.git|/\.env|/backup|/config|/phpmyadmin" \</a:t>
              </a:r>
              <a:endParaRPr lang="en-US" sz="1000" dirty="0"/>
            </a:p>
            <a:p>
              <a:pPr marL="0" indent="0">
                <a:lnSpc>
                  <a:spcPts val="1320"/>
                </a:lnSpc>
                <a:buNone/>
              </a:pPr>
              <a:r>
                <a:rPr lang="en-US" sz="10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access.log | awk '{print $1}' | sort | uniq -c</a:t>
              </a:r>
              <a:endParaRPr lang="en-US" sz="1000" dirty="0"/>
            </a:p>
            <a:p>
              <a:pPr marL="0" indent="0">
                <a:lnSpc>
                  <a:spcPts val="1320"/>
                </a:lnSpc>
                <a:buNone/>
              </a:pPr>
              <a:r>
                <a:rPr lang="en-US" sz="1000"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     14 ::1</a:t>
              </a:r>
              <a:endParaRPr lang="en-US" sz="1000" dirty="0"/>
            </a:p>
            <a:p>
              <a:pPr marL="0" indent="0">
                <a:lnSpc>
                  <a:spcPts val="1320"/>
                </a:lnSpc>
                <a:buNone/>
              </a:pP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 [07:20:17] "GET /admin"      404 472 "-" "curl/8.20.0"</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 [07:20:48] "GET /.git"       404 472 "-" "curl/8.20.0"</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 [07:21:16] "GET /phpmyadmin" 404 472 "-" "curl/8.20.0"</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 [07:21:19] "GET /phpmyadmin" 404 472 "-" "curl/8.20.0"</a:t>
              </a:r>
              <a:endParaRPr lang="en-US" sz="1000" dirty="0"/>
            </a:p>
            <a:p>
              <a:pPr marL="0" indent="0">
                <a:lnSpc>
                  <a:spcPts val="1320"/>
                </a:lnSpc>
                <a:buNone/>
              </a:pPr>
              <a:r>
                <a:rPr lang="en-US" sz="1000" dirty="0">
                  <a:solidFill>
                    <a:srgbClr val="F08A80"/>
                  </a:solidFill>
                  <a:latin typeface="Courier New" panose="02070309020205020404" pitchFamily="34" charset="0"/>
                  <a:ea typeface="Courier New" panose="02070309020205020404" pitchFamily="34" charset="-122"/>
                  <a:cs typeface="Courier New" panose="02070309020205020404" pitchFamily="34" charset="-120"/>
                </a:rPr>
                <a:t>::1 [07:21:23] "GET /phpmyadmin" 404 472 "-" "curl/8.20.0"</a:t>
              </a:r>
              <a:endParaRPr lang="en-US" sz="1000" dirty="0"/>
            </a:p>
          </p:txBody>
        </p:sp>
      </p:grpSp>
      <p:sp>
        <p:nvSpPr>
          <p:cNvPr id="6" name="Text 4"/>
          <p:cNvSpPr/>
          <p:nvPr/>
        </p:nvSpPr>
        <p:spPr>
          <a:xfrm>
            <a:off x="566928" y="3913632"/>
            <a:ext cx="6949440" cy="457200"/>
          </a:xfrm>
          <a:prstGeom prst="rect">
            <a:avLst/>
          </a:prstGeom>
          <a:noFill/>
        </p:spPr>
        <p:txBody>
          <a:bodyPr wrap="square" lIns="0" tIns="0" rIns="0" bIns="0" rtlCol="0" anchor="t"/>
          <a:lstStyle/>
          <a:p>
            <a:pPr marL="0" indent="0">
              <a:buNone/>
            </a:pPr>
            <a:endParaRPr lang="en-US" sz="1250" i="1" dirty="0">
              <a:solidFill>
                <a:srgbClr val="AEB8C0"/>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endParaRPr lang="en-US" sz="1250" i="1" dirty="0">
              <a:solidFill>
                <a:srgbClr val="AEB8C0"/>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sz="1250" i="1" dirty="0">
                <a:solidFill>
                  <a:srgbClr val="AEB8C0"/>
                </a:solidFill>
                <a:latin typeface="Calibri" panose="020F0502020204030204" pitchFamily="34" charset="0"/>
                <a:ea typeface="Calibri" panose="020F0502020204030204" pitchFamily="34" charset="-122"/>
                <a:cs typeface="Calibri" panose="020F0502020204030204" pitchFamily="34" charset="-120"/>
              </a:rPr>
              <a:t>Four requests in eleven seconds. No referrer. Same response size every time. No human browses like that.</a:t>
            </a:r>
            <a:endParaRPr lang="en-US" sz="1250" dirty="0"/>
          </a:p>
        </p:txBody>
      </p:sp>
      <p:sp>
        <p:nvSpPr>
          <p:cNvPr id="7" name="Shape 5"/>
          <p:cNvSpPr/>
          <p:nvPr/>
        </p:nvSpPr>
        <p:spPr>
          <a:xfrm>
            <a:off x="7772400" y="1481328"/>
            <a:ext cx="3849624" cy="1371600"/>
          </a:xfrm>
          <a:prstGeom prst="roundRect">
            <a:avLst>
              <a:gd name="adj" fmla="val 3333"/>
            </a:avLst>
          </a:prstGeom>
          <a:solidFill>
            <a:srgbClr val="1B2026"/>
          </a:solidFill>
          <a:ln w="12700">
            <a:solidFill>
              <a:srgbClr val="2C343C"/>
            </a:solidFill>
            <a:prstDash val="solid"/>
          </a:ln>
        </p:spPr>
      </p:sp>
      <p:sp>
        <p:nvSpPr>
          <p:cNvPr id="8" name="Text 6"/>
          <p:cNvSpPr/>
          <p:nvPr/>
        </p:nvSpPr>
        <p:spPr>
          <a:xfrm>
            <a:off x="7955280" y="1627632"/>
            <a:ext cx="3483864" cy="274320"/>
          </a:xfrm>
          <a:prstGeom prst="rect">
            <a:avLst/>
          </a:prstGeom>
          <a:noFill/>
        </p:spPr>
        <p:txBody>
          <a:bodyPr wrap="square" lIns="0" tIns="0" rIns="0" bIns="0" rtlCol="0" anchor="t"/>
          <a:lstStyle/>
          <a:p>
            <a:pPr marL="0" indent="0">
              <a:buNone/>
            </a:pPr>
            <a:r>
              <a:rPr lang="en-US" sz="1300" b="1" dirty="0">
                <a:solidFill>
                  <a:srgbClr val="D9942B"/>
                </a:solidFill>
                <a:latin typeface="Arial" panose="020B0604020202020204" pitchFamily="34" charset="0"/>
                <a:ea typeface="Arial" panose="020B0604020202020204" pitchFamily="34" charset="-122"/>
                <a:cs typeface="Arial" panose="020B0604020202020204" pitchFamily="34" charset="-120"/>
              </a:rPr>
              <a:t>14 hits on paths that don't exist</a:t>
            </a:r>
            <a:endParaRPr lang="en-US" sz="1300" dirty="0"/>
          </a:p>
        </p:txBody>
      </p:sp>
      <p:sp>
        <p:nvSpPr>
          <p:cNvPr id="9" name="Text 7"/>
          <p:cNvSpPr/>
          <p:nvPr/>
        </p:nvSpPr>
        <p:spPr>
          <a:xfrm>
            <a:off x="7955280" y="1938528"/>
            <a:ext cx="3483864" cy="749808"/>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/admin, /.git, /phpmyadmin — a shortlist of things worth stealing if they are there.</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7772400" y="2990088"/>
            <a:ext cx="3849624" cy="1371600"/>
          </a:xfrm>
          <a:prstGeom prst="roundRect">
            <a:avLst>
              <a:gd name="adj" fmla="val 3333"/>
            </a:avLst>
          </a:prstGeom>
          <a:solidFill>
            <a:srgbClr val="1B2026"/>
          </a:solidFill>
          <a:ln w="12700">
            <a:solidFill>
              <a:srgbClr val="2C343C"/>
            </a:solidFill>
            <a:prstDash val="solid"/>
          </a:ln>
        </p:spPr>
      </p:sp>
      <p:sp>
        <p:nvSpPr>
          <p:cNvPr id="11" name="Text 9"/>
          <p:cNvSpPr/>
          <p:nvPr/>
        </p:nvSpPr>
        <p:spPr>
          <a:xfrm>
            <a:off x="7955280" y="3136392"/>
            <a:ext cx="3483864" cy="274320"/>
          </a:xfrm>
          <a:prstGeom prst="rect">
            <a:avLst/>
          </a:prstGeom>
          <a:noFill/>
        </p:spPr>
        <p:txBody>
          <a:bodyPr wrap="square" lIns="0" tIns="0" rIns="0" bIns="0" rtlCol="0" anchor="t"/>
          <a:lstStyle/>
          <a:p>
            <a:pPr marL="0" indent="0">
              <a:buNone/>
            </a:pPr>
            <a:r>
              <a:rPr lang="en-US" sz="1300" b="1" dirty="0">
                <a:solidFill>
                  <a:srgbClr val="C43F35"/>
                </a:solidFill>
                <a:latin typeface="Arial" panose="020B0604020202020204" pitchFamily="34" charset="0"/>
                <a:ea typeface="Arial" panose="020B0604020202020204" pitchFamily="34" charset="-122"/>
                <a:cs typeface="Arial" panose="020B0604020202020204" pitchFamily="34" charset="-120"/>
              </a:rPr>
              <a:t>16 requests with a tool user agent</a:t>
            </a:r>
            <a:endParaRPr lang="en-US" sz="1300" dirty="0"/>
          </a:p>
        </p:txBody>
      </p:sp>
      <p:sp>
        <p:nvSpPr>
          <p:cNvPr id="12" name="Text 10"/>
          <p:cNvSpPr/>
          <p:nvPr/>
        </p:nvSpPr>
        <p:spPr>
          <a:xfrm>
            <a:off x="7955280" y="3447288"/>
            <a:ext cx="3483864" cy="749808"/>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curl/8.20.0 on every one, plus one request I sent as "sqlmap/1.7" to test the rule.</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7772400" y="4498848"/>
            <a:ext cx="3849624" cy="1371600"/>
          </a:xfrm>
          <a:prstGeom prst="roundRect">
            <a:avLst>
              <a:gd name="adj" fmla="val 3333"/>
            </a:avLst>
          </a:prstGeom>
          <a:solidFill>
            <a:srgbClr val="1B2026"/>
          </a:solidFill>
          <a:ln w="12700">
            <a:solidFill>
              <a:srgbClr val="2C343C"/>
            </a:solidFill>
            <a:prstDash val="solid"/>
          </a:ln>
        </p:spPr>
      </p:sp>
      <p:sp>
        <p:nvSpPr>
          <p:cNvPr id="14" name="Text 12"/>
          <p:cNvSpPr/>
          <p:nvPr/>
        </p:nvSpPr>
        <p:spPr>
          <a:xfrm>
            <a:off x="7955280" y="4645152"/>
            <a:ext cx="3483864" cy="274320"/>
          </a:xfrm>
          <a:prstGeom prst="rect">
            <a:avLst/>
          </a:prstGeom>
          <a:noFill/>
        </p:spPr>
        <p:txBody>
          <a:bodyPr wrap="square" lIns="0" tIns="0" rIns="0" bIns="0" rtlCol="0" anchor="t"/>
          <a:lstStyle/>
          <a:p>
            <a:pPr marL="0" indent="0">
              <a:buNone/>
            </a:pPr>
            <a:r>
              <a:rPr lang="en-US" sz="1300" b="1" dirty="0">
                <a:solidFill>
                  <a:srgbClr val="2FA85D"/>
                </a:solidFill>
                <a:latin typeface="Arial" panose="020B0604020202020204" pitchFamily="34" charset="0"/>
                <a:ea typeface="Arial" panose="020B0604020202020204" pitchFamily="34" charset="-122"/>
                <a:cs typeface="Arial" panose="020B0604020202020204" pitchFamily="34" charset="-120"/>
              </a:rPr>
              <a:t>Cheapest rule in the deck</a:t>
            </a:r>
            <a:endParaRPr lang="en-US" sz="1300" dirty="0"/>
          </a:p>
        </p:txBody>
      </p:sp>
      <p:sp>
        <p:nvSpPr>
          <p:cNvPr id="15" name="Text 13"/>
          <p:cNvSpPr/>
          <p:nvPr/>
        </p:nvSpPr>
        <p:spPr>
          <a:xfrm>
            <a:off x="7955280" y="4956048"/>
            <a:ext cx="3483864" cy="749808"/>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One string match on the user agent field catches an entire class of automated traffic.</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PHASE 2 · AUTOMATION</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Turning the greps into scripts I can re-run</a:t>
            </a:r>
            <a:endParaRPr lang="en-US" sz="3000" dirty="0"/>
          </a:p>
        </p:txBody>
      </p:sp>
      <p:sp>
        <p:nvSpPr>
          <p:cNvPr id="4" name="Text 2"/>
          <p:cNvSpPr/>
          <p:nvPr/>
        </p:nvSpPr>
        <p:spPr>
          <a:xfrm>
            <a:off x="566928" y="1207008"/>
            <a:ext cx="11055096" cy="365760"/>
          </a:xfrm>
          <a:prstGeom prst="rect">
            <a:avLst/>
          </a:prstGeom>
          <a:noFill/>
        </p:spPr>
        <p:txBody>
          <a:bodyPr wrap="square" lIns="0" tIns="0" rIns="0" bIns="0" rtlCol="0" anchor="t"/>
          <a:lstStyle/>
          <a:p>
            <a:pPr marL="0" indent="0">
              <a:buNone/>
            </a:pPr>
            <a:endParaRPr lang="en-US" sz="1400" dirty="0"/>
          </a:p>
        </p:txBody>
      </p:sp>
      <p:sp>
        <p:nvSpPr>
          <p:cNvPr id="5" name="Shape 3"/>
          <p:cNvSpPr/>
          <p:nvPr/>
        </p:nvSpPr>
        <p:spPr>
          <a:xfrm>
            <a:off x="566928" y="1828800"/>
            <a:ext cx="5349240" cy="1234440"/>
          </a:xfrm>
          <a:prstGeom prst="roundRect">
            <a:avLst>
              <a:gd name="adj" fmla="val 3704"/>
            </a:avLst>
          </a:prstGeom>
          <a:solidFill>
            <a:srgbClr val="F5F7F9"/>
          </a:solidFill>
          <a:ln w="12700">
            <a:solidFill>
              <a:srgbClr val="DDE3E8"/>
            </a:solidFill>
            <a:prstDash val="solid"/>
          </a:ln>
        </p:spPr>
      </p:sp>
      <p:sp>
        <p:nvSpPr>
          <p:cNvPr id="6" name="Text 4"/>
          <p:cNvSpPr/>
          <p:nvPr/>
        </p:nvSpPr>
        <p:spPr>
          <a:xfrm>
            <a:off x="749808" y="1956816"/>
            <a:ext cx="4983480" cy="274320"/>
          </a:xfrm>
          <a:prstGeom prst="rect">
            <a:avLst/>
          </a:prstGeom>
          <a:noFill/>
        </p:spPr>
        <p:txBody>
          <a:bodyPr wrap="square" lIns="0" tIns="0" rIns="0" bIns="0" rtlCol="0" anchor="t"/>
          <a:lstStyle/>
          <a:p>
            <a:pPr marL="0" indent="0">
              <a:buNone/>
            </a:pPr>
            <a:r>
              <a:rPr lang="en-US" sz="1200" b="1" dirty="0">
                <a:solidFill>
                  <a:srgbClr val="12161A"/>
                </a:solidFill>
                <a:latin typeface="Courier New" panose="02070309020205020404" pitchFamily="34" charset="0"/>
                <a:ea typeface="Courier New" panose="02070309020205020404" pitchFamily="34" charset="-122"/>
                <a:cs typeface="Courier New" panose="02070309020205020404" pitchFamily="34" charset="-120"/>
              </a:rPr>
              <a:t>detection_engine.py</a:t>
            </a:r>
            <a:endParaRPr lang="en-US" sz="1200" dirty="0"/>
          </a:p>
        </p:txBody>
      </p:sp>
      <p:sp>
        <p:nvSpPr>
          <p:cNvPr id="7" name="Text 5"/>
          <p:cNvSpPr/>
          <p:nvPr/>
        </p:nvSpPr>
        <p:spPr>
          <a:xfrm>
            <a:off x="749808" y="2249424"/>
            <a:ext cx="4983480" cy="502920"/>
          </a:xfrm>
          <a:prstGeom prst="rect">
            <a:avLst/>
          </a:prstGeom>
          <a:noFill/>
        </p:spPr>
        <p:txBody>
          <a:bodyPr wrap="square" lIns="0" tIns="0" rIns="0" bIns="0" rtlCol="0" anchor="t"/>
          <a:lstStyle/>
          <a:p>
            <a:pPr marL="0" indent="0">
              <a:lnSpc>
                <a:spcPts val="1500"/>
              </a:lnSpc>
              <a:buNone/>
            </a:pPr>
            <a:r>
              <a:rPr lang="en-US" sz="1150" dirty="0">
                <a:solidFill>
                  <a:srgbClr val="3C464F"/>
                </a:solidFill>
                <a:latin typeface="Calibri" panose="020F0502020204030204" pitchFamily="34" charset="0"/>
                <a:ea typeface="Calibri" panose="020F0502020204030204" pitchFamily="34" charset="-122"/>
                <a:cs typeface="Calibri" panose="020F0502020204030204" pitchFamily="34" charset="-120"/>
              </a:rPr>
              <a:t>Counts POSTs to the brute-force URL per IP.</a:t>
            </a:r>
            <a:endParaRPr lang="en-US" sz="1150" dirty="0"/>
          </a:p>
          <a:p>
            <a:pPr marL="0" indent="0">
              <a:lnSpc>
                <a:spcPts val="1500"/>
              </a:lnSpc>
              <a:buNone/>
            </a:pPr>
            <a:r>
              <a:rPr lang="en-US" sz="1150" dirty="0">
                <a:solidFill>
                  <a:srgbClr val="3C464F"/>
                </a:solidFill>
                <a:latin typeface="Calibri" panose="020F0502020204030204" pitchFamily="34" charset="0"/>
                <a:ea typeface="Calibri" panose="020F0502020204030204" pitchFamily="34" charset="-122"/>
                <a:cs typeface="Calibri" panose="020F0502020204030204" pitchFamily="34" charset="-120"/>
              </a:rPr>
              <a:t>Alerts at 5 or more.</a:t>
            </a:r>
            <a:endParaRPr lang="en-US" sz="1150" dirty="0"/>
          </a:p>
        </p:txBody>
      </p:sp>
      <p:sp>
        <p:nvSpPr>
          <p:cNvPr id="8" name="Text 6"/>
          <p:cNvSpPr/>
          <p:nvPr/>
        </p:nvSpPr>
        <p:spPr>
          <a:xfrm>
            <a:off x="749808" y="2761488"/>
            <a:ext cx="4983480" cy="256032"/>
          </a:xfrm>
          <a:prstGeom prst="rect">
            <a:avLst/>
          </a:prstGeom>
          <a:noFill/>
        </p:spPr>
        <p:txBody>
          <a:bodyPr wrap="square" lIns="0" tIns="0" rIns="0" bIns="0" rtlCol="0" anchor="t"/>
          <a:lstStyle/>
          <a:p>
            <a:pPr marL="0" indent="0">
              <a:buNone/>
            </a:pPr>
            <a:r>
              <a:rPr lang="en-US" sz="1150" b="1" dirty="0">
                <a:solidFill>
                  <a:srgbClr val="2FA85D"/>
                </a:solidFill>
                <a:latin typeface="Calibri" panose="020F0502020204030204" pitchFamily="34" charset="0"/>
                <a:ea typeface="Calibri" panose="020F0502020204030204" pitchFamily="34" charset="-122"/>
                <a:cs typeface="Calibri" panose="020F0502020204030204" pitchFamily="34" charset="-120"/>
              </a:rPr>
              <a:t>Found: 127.0.0.1 — 18 attempts</a:t>
            </a:r>
            <a:endParaRPr lang="en-US" sz="1150" dirty="0"/>
          </a:p>
        </p:txBody>
      </p:sp>
      <p:sp>
        <p:nvSpPr>
          <p:cNvPr id="9" name="Shape 7"/>
          <p:cNvSpPr/>
          <p:nvPr/>
        </p:nvSpPr>
        <p:spPr>
          <a:xfrm>
            <a:off x="6309360" y="1828800"/>
            <a:ext cx="5349240" cy="1234440"/>
          </a:xfrm>
          <a:prstGeom prst="roundRect">
            <a:avLst>
              <a:gd name="adj" fmla="val 3704"/>
            </a:avLst>
          </a:prstGeom>
          <a:solidFill>
            <a:srgbClr val="F5F7F9"/>
          </a:solidFill>
          <a:ln w="12700">
            <a:solidFill>
              <a:srgbClr val="DDE3E8"/>
            </a:solidFill>
            <a:prstDash val="solid"/>
          </a:ln>
        </p:spPr>
      </p:sp>
      <p:sp>
        <p:nvSpPr>
          <p:cNvPr id="10" name="Text 8"/>
          <p:cNvSpPr/>
          <p:nvPr/>
        </p:nvSpPr>
        <p:spPr>
          <a:xfrm>
            <a:off x="6492240" y="1956816"/>
            <a:ext cx="4983480" cy="274320"/>
          </a:xfrm>
          <a:prstGeom prst="rect">
            <a:avLst/>
          </a:prstGeom>
          <a:noFill/>
        </p:spPr>
        <p:txBody>
          <a:bodyPr wrap="square" lIns="0" tIns="0" rIns="0" bIns="0" rtlCol="0" anchor="t"/>
          <a:lstStyle/>
          <a:p>
            <a:pPr marL="0" indent="0">
              <a:buNone/>
            </a:pPr>
            <a:r>
              <a:rPr lang="en-US" sz="1200" b="1" dirty="0">
                <a:solidFill>
                  <a:srgbClr val="12161A"/>
                </a:solidFill>
                <a:latin typeface="Courier New" panose="02070309020205020404" pitchFamily="34" charset="0"/>
                <a:ea typeface="Courier New" panose="02070309020205020404" pitchFamily="34" charset="-122"/>
                <a:cs typeface="Courier New" panose="02070309020205020404" pitchFamily="34" charset="-120"/>
              </a:rPr>
              <a:t>detection_SQL.py</a:t>
            </a:r>
            <a:endParaRPr lang="en-US" sz="1200" dirty="0"/>
          </a:p>
        </p:txBody>
      </p:sp>
      <p:sp>
        <p:nvSpPr>
          <p:cNvPr id="11" name="Text 9"/>
          <p:cNvSpPr/>
          <p:nvPr/>
        </p:nvSpPr>
        <p:spPr>
          <a:xfrm>
            <a:off x="6492240" y="2249424"/>
            <a:ext cx="4983480" cy="502920"/>
          </a:xfrm>
          <a:prstGeom prst="rect">
            <a:avLst/>
          </a:prstGeom>
          <a:noFill/>
        </p:spPr>
        <p:txBody>
          <a:bodyPr wrap="square" lIns="0" tIns="0" rIns="0" bIns="0" rtlCol="0" anchor="t"/>
          <a:lstStyle/>
          <a:p>
            <a:pPr marL="0" indent="0">
              <a:lnSpc>
                <a:spcPts val="1500"/>
              </a:lnSpc>
              <a:buNone/>
            </a:pPr>
            <a:r>
              <a:rPr lang="en-US" sz="1150" dirty="0">
                <a:solidFill>
                  <a:srgbClr val="3C464F"/>
                </a:solidFill>
                <a:latin typeface="Calibri" panose="020F0502020204030204" pitchFamily="34" charset="0"/>
                <a:ea typeface="Calibri" panose="020F0502020204030204" pitchFamily="34" charset="-122"/>
                <a:cs typeface="Calibri" panose="020F0502020204030204" pitchFamily="34" charset="-120"/>
              </a:rPr>
              <a:t>URL-decodes every /sqli/ request so the payload is readable.</a:t>
            </a:r>
            <a:endParaRPr lang="en-US" sz="1150" dirty="0"/>
          </a:p>
        </p:txBody>
      </p:sp>
      <p:sp>
        <p:nvSpPr>
          <p:cNvPr id="12" name="Text 10"/>
          <p:cNvSpPr/>
          <p:nvPr/>
        </p:nvSpPr>
        <p:spPr>
          <a:xfrm>
            <a:off x="6492240" y="2761488"/>
            <a:ext cx="4983480" cy="256032"/>
          </a:xfrm>
          <a:prstGeom prst="rect">
            <a:avLst/>
          </a:prstGeom>
          <a:noFill/>
        </p:spPr>
        <p:txBody>
          <a:bodyPr wrap="square" lIns="0" tIns="0" rIns="0" bIns="0" rtlCol="0" anchor="t"/>
          <a:lstStyle/>
          <a:p>
            <a:pPr marL="0" indent="0">
              <a:buNone/>
            </a:pPr>
            <a:r>
              <a:rPr lang="en-US" sz="1150" b="1" dirty="0">
                <a:solidFill>
                  <a:srgbClr val="2FA85D"/>
                </a:solidFill>
                <a:latin typeface="Calibri" panose="020F0502020204030204" pitchFamily="34" charset="0"/>
                <a:ea typeface="Calibri" panose="020F0502020204030204" pitchFamily="34" charset="-122"/>
                <a:cs typeface="Calibri" panose="020F0502020204030204" pitchFamily="34" charset="-120"/>
              </a:rPr>
              <a:t>Found: 6 injection attempts</a:t>
            </a:r>
            <a:endParaRPr lang="en-US" sz="1150" dirty="0"/>
          </a:p>
        </p:txBody>
      </p:sp>
      <p:sp>
        <p:nvSpPr>
          <p:cNvPr id="13" name="Shape 11"/>
          <p:cNvSpPr/>
          <p:nvPr/>
        </p:nvSpPr>
        <p:spPr>
          <a:xfrm>
            <a:off x="566928" y="3246120"/>
            <a:ext cx="5349240" cy="1234440"/>
          </a:xfrm>
          <a:prstGeom prst="roundRect">
            <a:avLst>
              <a:gd name="adj" fmla="val 3704"/>
            </a:avLst>
          </a:prstGeom>
          <a:solidFill>
            <a:srgbClr val="F5F7F9"/>
          </a:solidFill>
          <a:ln w="12700">
            <a:solidFill>
              <a:srgbClr val="DDE3E8"/>
            </a:solidFill>
            <a:prstDash val="solid"/>
          </a:ln>
        </p:spPr>
      </p:sp>
      <p:sp>
        <p:nvSpPr>
          <p:cNvPr id="14" name="Text 12"/>
          <p:cNvSpPr/>
          <p:nvPr/>
        </p:nvSpPr>
        <p:spPr>
          <a:xfrm>
            <a:off x="749808" y="3374136"/>
            <a:ext cx="4983480" cy="274320"/>
          </a:xfrm>
          <a:prstGeom prst="rect">
            <a:avLst/>
          </a:prstGeom>
          <a:noFill/>
        </p:spPr>
        <p:txBody>
          <a:bodyPr wrap="square" lIns="0" tIns="0" rIns="0" bIns="0" rtlCol="0" anchor="t"/>
          <a:lstStyle/>
          <a:p>
            <a:pPr marL="0" indent="0">
              <a:buNone/>
            </a:pPr>
            <a:r>
              <a:rPr lang="en-US" sz="1200" b="1" dirty="0">
                <a:solidFill>
                  <a:srgbClr val="12161A"/>
                </a:solidFill>
                <a:latin typeface="Courier New" panose="02070309020205020404" pitchFamily="34" charset="0"/>
                <a:ea typeface="Courier New" panose="02070309020205020404" pitchFamily="34" charset="-122"/>
                <a:cs typeface="Courier New" panose="02070309020205020404" pitchFamily="34" charset="-120"/>
              </a:rPr>
              <a:t>detection_XSS.py</a:t>
            </a:r>
            <a:endParaRPr lang="en-US" sz="1200" dirty="0"/>
          </a:p>
        </p:txBody>
      </p:sp>
      <p:sp>
        <p:nvSpPr>
          <p:cNvPr id="15" name="Text 13"/>
          <p:cNvSpPr/>
          <p:nvPr/>
        </p:nvSpPr>
        <p:spPr>
          <a:xfrm>
            <a:off x="749808" y="3666744"/>
            <a:ext cx="4983480" cy="502920"/>
          </a:xfrm>
          <a:prstGeom prst="rect">
            <a:avLst/>
          </a:prstGeom>
          <a:noFill/>
        </p:spPr>
        <p:txBody>
          <a:bodyPr wrap="square" lIns="0" tIns="0" rIns="0" bIns="0" rtlCol="0" anchor="t"/>
          <a:lstStyle/>
          <a:p>
            <a:pPr marL="0" indent="0">
              <a:lnSpc>
                <a:spcPts val="1500"/>
              </a:lnSpc>
              <a:buNone/>
            </a:pPr>
            <a:r>
              <a:rPr lang="en-US" sz="1150" dirty="0">
                <a:solidFill>
                  <a:srgbClr val="3C464F"/>
                </a:solidFill>
                <a:latin typeface="Calibri" panose="020F0502020204030204" pitchFamily="34" charset="0"/>
                <a:ea typeface="Calibri" panose="020F0502020204030204" pitchFamily="34" charset="-122"/>
                <a:cs typeface="Calibri" panose="020F0502020204030204" pitchFamily="34" charset="-120"/>
              </a:rPr>
              <a:t>Decodes each line, matches script, alert(, onerror, onload, svg, img, javascript:</a:t>
            </a:r>
            <a:endParaRPr lang="en-US" sz="1150" dirty="0"/>
          </a:p>
        </p:txBody>
      </p:sp>
      <p:sp>
        <p:nvSpPr>
          <p:cNvPr id="16" name="Text 14"/>
          <p:cNvSpPr/>
          <p:nvPr/>
        </p:nvSpPr>
        <p:spPr>
          <a:xfrm>
            <a:off x="749808" y="4178808"/>
            <a:ext cx="4983480" cy="256032"/>
          </a:xfrm>
          <a:prstGeom prst="rect">
            <a:avLst/>
          </a:prstGeom>
          <a:noFill/>
        </p:spPr>
        <p:txBody>
          <a:bodyPr wrap="square" lIns="0" tIns="0" rIns="0" bIns="0" rtlCol="0" anchor="t"/>
          <a:lstStyle/>
          <a:p>
            <a:pPr marL="0" indent="0">
              <a:buNone/>
            </a:pPr>
            <a:r>
              <a:rPr lang="en-US" sz="1150" b="1" dirty="0">
                <a:solidFill>
                  <a:srgbClr val="2FA85D"/>
                </a:solidFill>
                <a:latin typeface="Calibri" panose="020F0502020204030204" pitchFamily="34" charset="0"/>
                <a:ea typeface="Calibri" panose="020F0502020204030204" pitchFamily="34" charset="-122"/>
                <a:cs typeface="Calibri" panose="020F0502020204030204" pitchFamily="34" charset="-120"/>
              </a:rPr>
              <a:t>Found: 5 XSS requests</a:t>
            </a:r>
            <a:endParaRPr lang="en-US" sz="1150" dirty="0"/>
          </a:p>
        </p:txBody>
      </p:sp>
      <p:sp>
        <p:nvSpPr>
          <p:cNvPr id="17" name="Shape 15"/>
          <p:cNvSpPr/>
          <p:nvPr/>
        </p:nvSpPr>
        <p:spPr>
          <a:xfrm>
            <a:off x="6309360" y="3246120"/>
            <a:ext cx="5349240" cy="1234440"/>
          </a:xfrm>
          <a:prstGeom prst="roundRect">
            <a:avLst>
              <a:gd name="adj" fmla="val 3704"/>
            </a:avLst>
          </a:prstGeom>
          <a:solidFill>
            <a:srgbClr val="F5F7F9"/>
          </a:solidFill>
          <a:ln w="12700">
            <a:solidFill>
              <a:srgbClr val="DDE3E8"/>
            </a:solidFill>
            <a:prstDash val="solid"/>
          </a:ln>
        </p:spPr>
      </p:sp>
      <p:sp>
        <p:nvSpPr>
          <p:cNvPr id="18" name="Text 16"/>
          <p:cNvSpPr/>
          <p:nvPr/>
        </p:nvSpPr>
        <p:spPr>
          <a:xfrm>
            <a:off x="6492240" y="3374136"/>
            <a:ext cx="4983480" cy="274320"/>
          </a:xfrm>
          <a:prstGeom prst="rect">
            <a:avLst/>
          </a:prstGeom>
          <a:noFill/>
        </p:spPr>
        <p:txBody>
          <a:bodyPr wrap="square" lIns="0" tIns="0" rIns="0" bIns="0" rtlCol="0" anchor="t"/>
          <a:lstStyle/>
          <a:p>
            <a:pPr marL="0" indent="0">
              <a:buNone/>
            </a:pPr>
            <a:r>
              <a:rPr lang="en-US" sz="1200" b="1" dirty="0">
                <a:solidFill>
                  <a:srgbClr val="12161A"/>
                </a:solidFill>
                <a:latin typeface="Courier New" panose="02070309020205020404" pitchFamily="34" charset="0"/>
                <a:ea typeface="Courier New" panose="02070309020205020404" pitchFamily="34" charset="-122"/>
                <a:cs typeface="Courier New" panose="02070309020205020404" pitchFamily="34" charset="-120"/>
              </a:rPr>
              <a:t>Directory-Enumeration-Detection.py</a:t>
            </a:r>
            <a:endParaRPr lang="en-US" sz="1200" dirty="0"/>
          </a:p>
        </p:txBody>
      </p:sp>
      <p:sp>
        <p:nvSpPr>
          <p:cNvPr id="19" name="Text 17"/>
          <p:cNvSpPr/>
          <p:nvPr/>
        </p:nvSpPr>
        <p:spPr>
          <a:xfrm>
            <a:off x="6492240" y="3666744"/>
            <a:ext cx="4983480" cy="502920"/>
          </a:xfrm>
          <a:prstGeom prst="rect">
            <a:avLst/>
          </a:prstGeom>
          <a:noFill/>
        </p:spPr>
        <p:txBody>
          <a:bodyPr wrap="square" lIns="0" tIns="0" rIns="0" bIns="0" rtlCol="0" anchor="t"/>
          <a:lstStyle/>
          <a:p>
            <a:pPr marL="0" indent="0">
              <a:lnSpc>
                <a:spcPts val="1500"/>
              </a:lnSpc>
              <a:buNone/>
            </a:pPr>
            <a:r>
              <a:rPr lang="en-US" sz="1150" dirty="0">
                <a:solidFill>
                  <a:srgbClr val="3C464F"/>
                </a:solidFill>
                <a:latin typeface="Calibri" panose="020F0502020204030204" pitchFamily="34" charset="0"/>
                <a:ea typeface="Calibri" panose="020F0502020204030204" pitchFamily="34" charset="-122"/>
                <a:cs typeface="Calibri" panose="020F0502020204030204" pitchFamily="34" charset="-120"/>
              </a:rPr>
              <a:t>Counts hits on /admin, /.git, /.env, /backup, /config, /phpmyadmin.</a:t>
            </a:r>
            <a:endParaRPr lang="en-US" sz="1150" dirty="0"/>
          </a:p>
        </p:txBody>
      </p:sp>
      <p:sp>
        <p:nvSpPr>
          <p:cNvPr id="20" name="Text 18"/>
          <p:cNvSpPr/>
          <p:nvPr/>
        </p:nvSpPr>
        <p:spPr>
          <a:xfrm>
            <a:off x="6492240" y="4178808"/>
            <a:ext cx="4983480" cy="256032"/>
          </a:xfrm>
          <a:prstGeom prst="rect">
            <a:avLst/>
          </a:prstGeom>
          <a:noFill/>
        </p:spPr>
        <p:txBody>
          <a:bodyPr wrap="square" lIns="0" tIns="0" rIns="0" bIns="0" rtlCol="0" anchor="t"/>
          <a:lstStyle/>
          <a:p>
            <a:pPr marL="0" indent="0">
              <a:buNone/>
            </a:pPr>
            <a:r>
              <a:rPr lang="en-US" sz="1150" b="1" dirty="0">
                <a:solidFill>
                  <a:srgbClr val="2FA85D"/>
                </a:solidFill>
                <a:latin typeface="Calibri" panose="020F0502020204030204" pitchFamily="34" charset="0"/>
                <a:ea typeface="Calibri" panose="020F0502020204030204" pitchFamily="34" charset="-122"/>
                <a:cs typeface="Calibri" panose="020F0502020204030204" pitchFamily="34" charset="-120"/>
              </a:rPr>
              <a:t>Found: ::1 — 14 requests</a:t>
            </a:r>
            <a:endParaRPr lang="en-US" sz="1150" dirty="0"/>
          </a:p>
        </p:txBody>
      </p:sp>
      <p:sp>
        <p:nvSpPr>
          <p:cNvPr id="21" name="Shape 19"/>
          <p:cNvSpPr/>
          <p:nvPr/>
        </p:nvSpPr>
        <p:spPr>
          <a:xfrm>
            <a:off x="566928" y="4663440"/>
            <a:ext cx="5349240" cy="1234440"/>
          </a:xfrm>
          <a:prstGeom prst="roundRect">
            <a:avLst>
              <a:gd name="adj" fmla="val 3704"/>
            </a:avLst>
          </a:prstGeom>
          <a:solidFill>
            <a:srgbClr val="F5F7F9"/>
          </a:solidFill>
          <a:ln w="12700">
            <a:solidFill>
              <a:srgbClr val="DDE3E8"/>
            </a:solidFill>
            <a:prstDash val="solid"/>
          </a:ln>
        </p:spPr>
      </p:sp>
      <p:sp>
        <p:nvSpPr>
          <p:cNvPr id="22" name="Text 20"/>
          <p:cNvSpPr/>
          <p:nvPr/>
        </p:nvSpPr>
        <p:spPr>
          <a:xfrm>
            <a:off x="749808" y="4791456"/>
            <a:ext cx="4983480" cy="274320"/>
          </a:xfrm>
          <a:prstGeom prst="rect">
            <a:avLst/>
          </a:prstGeom>
          <a:noFill/>
        </p:spPr>
        <p:txBody>
          <a:bodyPr wrap="square" lIns="0" tIns="0" rIns="0" bIns="0" rtlCol="0" anchor="t"/>
          <a:lstStyle/>
          <a:p>
            <a:pPr marL="0" indent="0">
              <a:buNone/>
            </a:pPr>
            <a:r>
              <a:rPr lang="en-US" sz="1200" b="1" dirty="0">
                <a:solidFill>
                  <a:srgbClr val="12161A"/>
                </a:solidFill>
                <a:latin typeface="Courier New" panose="02070309020205020404" pitchFamily="34" charset="0"/>
                <a:ea typeface="Courier New" panose="02070309020205020404" pitchFamily="34" charset="-122"/>
                <a:cs typeface="Courier New" panose="02070309020205020404" pitchFamily="34" charset="-120"/>
              </a:rPr>
              <a:t>detection_suspicious_user.py</a:t>
            </a:r>
            <a:endParaRPr lang="en-US" sz="1200" dirty="0"/>
          </a:p>
        </p:txBody>
      </p:sp>
      <p:sp>
        <p:nvSpPr>
          <p:cNvPr id="23" name="Text 21"/>
          <p:cNvSpPr/>
          <p:nvPr/>
        </p:nvSpPr>
        <p:spPr>
          <a:xfrm>
            <a:off x="749808" y="5084064"/>
            <a:ext cx="4983480" cy="502920"/>
          </a:xfrm>
          <a:prstGeom prst="rect">
            <a:avLst/>
          </a:prstGeom>
          <a:noFill/>
        </p:spPr>
        <p:txBody>
          <a:bodyPr wrap="square" lIns="0" tIns="0" rIns="0" bIns="0" rtlCol="0" anchor="t"/>
          <a:lstStyle/>
          <a:p>
            <a:pPr marL="0" indent="0">
              <a:lnSpc>
                <a:spcPts val="1500"/>
              </a:lnSpc>
              <a:buNone/>
            </a:pPr>
            <a:r>
              <a:rPr lang="en-US" sz="1150" dirty="0">
                <a:solidFill>
                  <a:srgbClr val="3C464F"/>
                </a:solidFill>
                <a:latin typeface="Calibri" panose="020F0502020204030204" pitchFamily="34" charset="0"/>
                <a:ea typeface="Calibri" panose="020F0502020204030204" pitchFamily="34" charset="-122"/>
                <a:cs typeface="Calibri" panose="020F0502020204030204" pitchFamily="34" charset="-120"/>
              </a:rPr>
              <a:t>Matches sqlmap, nikto, curl, python-requests, wget, ffuf, gobuster, dirbuster.</a:t>
            </a:r>
            <a:endParaRPr lang="en-US" sz="1150" dirty="0"/>
          </a:p>
        </p:txBody>
      </p:sp>
      <p:sp>
        <p:nvSpPr>
          <p:cNvPr id="24" name="Text 22"/>
          <p:cNvSpPr/>
          <p:nvPr/>
        </p:nvSpPr>
        <p:spPr>
          <a:xfrm>
            <a:off x="749808" y="5596128"/>
            <a:ext cx="4983480" cy="256032"/>
          </a:xfrm>
          <a:prstGeom prst="rect">
            <a:avLst/>
          </a:prstGeom>
          <a:noFill/>
        </p:spPr>
        <p:txBody>
          <a:bodyPr wrap="square" lIns="0" tIns="0" rIns="0" bIns="0" rtlCol="0" anchor="t"/>
          <a:lstStyle/>
          <a:p>
            <a:pPr marL="0" indent="0">
              <a:buNone/>
            </a:pPr>
            <a:r>
              <a:rPr lang="en-US" sz="1150" b="1" dirty="0">
                <a:solidFill>
                  <a:srgbClr val="2FA85D"/>
                </a:solidFill>
                <a:latin typeface="Calibri" panose="020F0502020204030204" pitchFamily="34" charset="0"/>
                <a:ea typeface="Calibri" panose="020F0502020204030204" pitchFamily="34" charset="-122"/>
                <a:cs typeface="Calibri" panose="020F0502020204030204" pitchFamily="34" charset="-120"/>
              </a:rPr>
              <a:t>Found: 16 tool requests</a:t>
            </a:r>
            <a:endParaRPr lang="en-US" sz="1150" dirty="0"/>
          </a:p>
        </p:txBody>
      </p:sp>
      <p:sp>
        <p:nvSpPr>
          <p:cNvPr id="25" name="Shape 23"/>
          <p:cNvSpPr/>
          <p:nvPr/>
        </p:nvSpPr>
        <p:spPr>
          <a:xfrm>
            <a:off x="6309360" y="4663440"/>
            <a:ext cx="5349240" cy="1234440"/>
          </a:xfrm>
          <a:prstGeom prst="roundRect">
            <a:avLst>
              <a:gd name="adj" fmla="val 3704"/>
            </a:avLst>
          </a:prstGeom>
          <a:solidFill>
            <a:srgbClr val="F5F7F9"/>
          </a:solidFill>
          <a:ln w="12700">
            <a:solidFill>
              <a:srgbClr val="DDE3E8"/>
            </a:solidFill>
            <a:prstDash val="solid"/>
          </a:ln>
        </p:spPr>
      </p:sp>
      <p:sp>
        <p:nvSpPr>
          <p:cNvPr id="26" name="Text 24"/>
          <p:cNvSpPr/>
          <p:nvPr/>
        </p:nvSpPr>
        <p:spPr>
          <a:xfrm>
            <a:off x="6492240" y="4809744"/>
            <a:ext cx="4983480" cy="274320"/>
          </a:xfrm>
          <a:prstGeom prst="rect">
            <a:avLst/>
          </a:prstGeom>
          <a:noFill/>
        </p:spPr>
        <p:txBody>
          <a:bodyPr wrap="square" lIns="0" tIns="0" rIns="0" bIns="0" rtlCol="0" anchor="t"/>
          <a:lstStyle/>
          <a:p>
            <a:pPr marL="0" indent="0">
              <a:buNone/>
            </a:pPr>
            <a:r>
              <a:rPr lang="en-US" sz="1300" b="1" dirty="0">
                <a:solidFill>
                  <a:srgbClr val="2C6E9B"/>
                </a:solidFill>
                <a:latin typeface="Arial" panose="020B0604020202020204" pitchFamily="34" charset="0"/>
                <a:ea typeface="Arial" panose="020B0604020202020204" pitchFamily="34" charset="-122"/>
                <a:cs typeface="Arial" panose="020B0604020202020204" pitchFamily="34" charset="-120"/>
              </a:rPr>
              <a:t>One more thing I had to fix</a:t>
            </a:r>
            <a:endParaRPr lang="en-US" sz="1300" dirty="0"/>
          </a:p>
        </p:txBody>
      </p:sp>
      <p:sp>
        <p:nvSpPr>
          <p:cNvPr id="27" name="Text 25"/>
          <p:cNvSpPr/>
          <p:nvPr/>
        </p:nvSpPr>
        <p:spPr>
          <a:xfrm>
            <a:off x="6492240" y="5120640"/>
            <a:ext cx="4983480" cy="612648"/>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access.log is owned by root, so my scripts could not read it. I copied it into ~/SOC_Log_Analysis and set 644 — you analyse a copy, never the live file.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DELIVERABLE · DETECTION RULES</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Rule 1 and Rule 2</a:t>
            </a:r>
            <a:endParaRPr lang="en-US" sz="3000" dirty="0"/>
          </a:p>
        </p:txBody>
      </p:sp>
      <p:sp>
        <p:nvSpPr>
          <p:cNvPr id="4" name="Shape 2"/>
          <p:cNvSpPr/>
          <p:nvPr/>
        </p:nvSpPr>
        <p:spPr>
          <a:xfrm>
            <a:off x="566928" y="1463040"/>
            <a:ext cx="5394960" cy="4297680"/>
          </a:xfrm>
          <a:prstGeom prst="roundRect">
            <a:avLst>
              <a:gd name="adj" fmla="val 1064"/>
            </a:avLst>
          </a:prstGeom>
          <a:solidFill>
            <a:srgbClr val="F5F7F9"/>
          </a:solidFill>
          <a:ln w="12700">
            <a:solidFill>
              <a:srgbClr val="DDE3E8"/>
            </a:solidFill>
            <a:prstDash val="solid"/>
          </a:ln>
        </p:spPr>
      </p:sp>
      <p:sp>
        <p:nvSpPr>
          <p:cNvPr id="5" name="Text 3"/>
          <p:cNvSpPr/>
          <p:nvPr/>
        </p:nvSpPr>
        <p:spPr>
          <a:xfrm>
            <a:off x="768096" y="1609344"/>
            <a:ext cx="1828800" cy="256032"/>
          </a:xfrm>
          <a:prstGeom prst="rect">
            <a:avLst/>
          </a:prstGeom>
          <a:noFill/>
        </p:spPr>
        <p:txBody>
          <a:bodyPr wrap="square" lIns="0" tIns="0" rIns="0" bIns="0" rtlCol="0" anchor="ctr"/>
          <a:lstStyle/>
          <a:p>
            <a:pPr marL="0" indent="0">
              <a:buNone/>
            </a:pPr>
            <a:r>
              <a:rPr lang="en-US" sz="1100" b="1" kern="0" spc="150" dirty="0">
                <a:solidFill>
                  <a:srgbClr val="C43F35"/>
                </a:solidFill>
                <a:latin typeface="Calibri" panose="020F0502020204030204" pitchFamily="34" charset="0"/>
                <a:ea typeface="Calibri" panose="020F0502020204030204" pitchFamily="34" charset="-122"/>
                <a:cs typeface="Calibri" panose="020F0502020204030204" pitchFamily="34" charset="-120"/>
              </a:rPr>
              <a:t>RULE 1</a:t>
            </a:r>
            <a:endParaRPr lang="en-US" sz="1100" dirty="0"/>
          </a:p>
        </p:txBody>
      </p:sp>
      <p:sp>
        <p:nvSpPr>
          <p:cNvPr id="6" name="Text 4"/>
          <p:cNvSpPr/>
          <p:nvPr/>
        </p:nvSpPr>
        <p:spPr>
          <a:xfrm>
            <a:off x="768096" y="1865376"/>
            <a:ext cx="4937760" cy="329184"/>
          </a:xfrm>
          <a:prstGeom prst="rect">
            <a:avLst/>
          </a:prstGeom>
          <a:noFill/>
        </p:spPr>
        <p:txBody>
          <a:bodyPr wrap="square" lIns="0" tIns="0" rIns="0" bIns="0" rtlCol="0" anchor="t"/>
          <a:lstStyle/>
          <a:p>
            <a:pPr marL="0" indent="0">
              <a:buNone/>
            </a:pPr>
            <a:r>
              <a:rPr lang="en-US" sz="1700" b="1" dirty="0">
                <a:solidFill>
                  <a:srgbClr val="12161A"/>
                </a:solidFill>
                <a:latin typeface="Arial" panose="020B0604020202020204" pitchFamily="34" charset="0"/>
                <a:ea typeface="Arial" panose="020B0604020202020204" pitchFamily="34" charset="-122"/>
                <a:cs typeface="Arial" panose="020B0604020202020204" pitchFamily="34" charset="-120"/>
              </a:rPr>
              <a:t>Credential brute force</a:t>
            </a:r>
            <a:endParaRPr lang="en-US" sz="1700" dirty="0"/>
          </a:p>
        </p:txBody>
      </p:sp>
      <p:sp>
        <p:nvSpPr>
          <p:cNvPr id="7" name="Shape 5"/>
          <p:cNvSpPr/>
          <p:nvPr/>
        </p:nvSpPr>
        <p:spPr>
          <a:xfrm>
            <a:off x="768096" y="2286000"/>
            <a:ext cx="4992624" cy="1316736"/>
          </a:xfrm>
          <a:prstGeom prst="roundRect">
            <a:avLst>
              <a:gd name="adj" fmla="val 4167"/>
            </a:avLst>
          </a:prstGeom>
          <a:solidFill>
            <a:srgbClr val="1B2026"/>
          </a:solidFill>
          <a:ln w="12700">
            <a:solidFill>
              <a:srgbClr val="2C343C"/>
            </a:solidFill>
            <a:prstDash val="solid"/>
          </a:ln>
        </p:spPr>
      </p:sp>
      <p:sp>
        <p:nvSpPr>
          <p:cNvPr id="8" name="Text 6"/>
          <p:cNvSpPr/>
          <p:nvPr/>
        </p:nvSpPr>
        <p:spPr>
          <a:xfrm>
            <a:off x="914400" y="2423160"/>
            <a:ext cx="4700016" cy="1042416"/>
          </a:xfrm>
          <a:prstGeom prst="rect">
            <a:avLst/>
          </a:prstGeom>
          <a:noFill/>
        </p:spPr>
        <p:txBody>
          <a:bodyPr wrap="square" lIns="0" tIns="0" rIns="0" bIns="0" rtlCol="0" anchor="t"/>
          <a:lstStyle/>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IF   method == POST</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AND  url contains a login path</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AND  same source IP</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AND  count &gt;= 5 in 5 minutes</a:t>
            </a:r>
            <a:endParaRPr lang="en-US" sz="1050" dirty="0"/>
          </a:p>
          <a:p>
            <a:pPr marL="0" indent="0">
              <a:lnSpc>
                <a:spcPts val="1385"/>
              </a:lnSpc>
              <a:buNone/>
            </a:pPr>
            <a:r>
              <a:rPr lang="en-US" sz="1050"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THEN alert - block source IP</a:t>
            </a:r>
            <a:endParaRPr lang="en-US" sz="1050" dirty="0"/>
          </a:p>
        </p:txBody>
      </p:sp>
      <p:sp>
        <p:nvSpPr>
          <p:cNvPr id="9" name="Text 7"/>
          <p:cNvSpPr/>
          <p:nvPr/>
        </p:nvSpPr>
        <p:spPr>
          <a:xfrm>
            <a:off x="768096" y="3794760"/>
            <a:ext cx="4992624" cy="777240"/>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Why it works: DVWA returned 200 on every failed login, so a status-code rule would never have fired. Volume and repetition are the real signal.</a:t>
            </a:r>
            <a:endParaRPr lang="en-US" sz="1200" dirty="0"/>
          </a:p>
        </p:txBody>
      </p:sp>
      <p:sp>
        <p:nvSpPr>
          <p:cNvPr id="10" name="Text 8"/>
          <p:cNvSpPr/>
          <p:nvPr/>
        </p:nvSpPr>
        <p:spPr>
          <a:xfrm>
            <a:off x="768096" y="4709160"/>
            <a:ext cx="4992624" cy="868680"/>
          </a:xfrm>
          <a:prstGeom prst="rect">
            <a:avLst/>
          </a:prstGeom>
          <a:noFill/>
        </p:spPr>
        <p:txBody>
          <a:bodyPr wrap="square" lIns="0" tIns="0" rIns="0" bIns="0" rtlCol="0" anchor="t"/>
          <a:lstStyle/>
          <a:p>
            <a:pPr marL="0" indent="0">
              <a:lnSpc>
                <a:spcPts val="1600"/>
              </a:lnSpc>
              <a:buNone/>
            </a:pPr>
            <a:r>
              <a:rPr lang="en-US" sz="1200" i="1" dirty="0">
                <a:solidFill>
                  <a:srgbClr val="6B7680"/>
                </a:solidFill>
                <a:latin typeface="Calibri" panose="020F0502020204030204" pitchFamily="34" charset="0"/>
                <a:ea typeface="Calibri" panose="020F0502020204030204" pitchFamily="34" charset="-122"/>
                <a:cs typeface="Calibri" panose="020F0502020204030204" pitchFamily="34" charset="-120"/>
              </a:rPr>
              <a:t>Watch out for: shared office IPs and NAT, where several people legitimately log in from one address. Tune the threshold, don't hard-block.</a:t>
            </a:r>
            <a:endParaRPr lang="en-US" sz="1200" dirty="0"/>
          </a:p>
        </p:txBody>
      </p:sp>
      <p:sp>
        <p:nvSpPr>
          <p:cNvPr id="11" name="Shape 9"/>
          <p:cNvSpPr/>
          <p:nvPr/>
        </p:nvSpPr>
        <p:spPr>
          <a:xfrm>
            <a:off x="6245352" y="1463040"/>
            <a:ext cx="5376672" cy="4297680"/>
          </a:xfrm>
          <a:prstGeom prst="roundRect">
            <a:avLst>
              <a:gd name="adj" fmla="val 1064"/>
            </a:avLst>
          </a:prstGeom>
          <a:solidFill>
            <a:srgbClr val="F5F7F9"/>
          </a:solidFill>
          <a:ln w="12700">
            <a:solidFill>
              <a:srgbClr val="DDE3E8"/>
            </a:solidFill>
            <a:prstDash val="solid"/>
          </a:ln>
        </p:spPr>
      </p:sp>
      <p:sp>
        <p:nvSpPr>
          <p:cNvPr id="12" name="Text 10"/>
          <p:cNvSpPr/>
          <p:nvPr/>
        </p:nvSpPr>
        <p:spPr>
          <a:xfrm>
            <a:off x="6446520" y="1609344"/>
            <a:ext cx="1828800" cy="256032"/>
          </a:xfrm>
          <a:prstGeom prst="rect">
            <a:avLst/>
          </a:prstGeom>
          <a:noFill/>
        </p:spPr>
        <p:txBody>
          <a:bodyPr wrap="square" lIns="0" tIns="0" rIns="0" bIns="0" rtlCol="0" anchor="ctr"/>
          <a:lstStyle/>
          <a:p>
            <a:pPr marL="0" indent="0">
              <a:buNone/>
            </a:pPr>
            <a:r>
              <a:rPr lang="en-US" sz="1100" b="1" kern="0" spc="150" dirty="0">
                <a:solidFill>
                  <a:srgbClr val="D9942B"/>
                </a:solidFill>
                <a:latin typeface="Calibri" panose="020F0502020204030204" pitchFamily="34" charset="0"/>
                <a:ea typeface="Calibri" panose="020F0502020204030204" pitchFamily="34" charset="-122"/>
                <a:cs typeface="Calibri" panose="020F0502020204030204" pitchFamily="34" charset="-120"/>
              </a:rPr>
              <a:t>RULE 2</a:t>
            </a:r>
            <a:endParaRPr lang="en-US" sz="1100" dirty="0"/>
          </a:p>
        </p:txBody>
      </p:sp>
      <p:sp>
        <p:nvSpPr>
          <p:cNvPr id="13" name="Text 11"/>
          <p:cNvSpPr/>
          <p:nvPr/>
        </p:nvSpPr>
        <p:spPr>
          <a:xfrm>
            <a:off x="6446520" y="1865376"/>
            <a:ext cx="4937760" cy="329184"/>
          </a:xfrm>
          <a:prstGeom prst="rect">
            <a:avLst/>
          </a:prstGeom>
          <a:noFill/>
        </p:spPr>
        <p:txBody>
          <a:bodyPr wrap="square" lIns="0" tIns="0" rIns="0" bIns="0" rtlCol="0" anchor="t"/>
          <a:lstStyle/>
          <a:p>
            <a:pPr marL="0" indent="0">
              <a:buNone/>
            </a:pPr>
            <a:r>
              <a:rPr lang="en-US" sz="1700" b="1" dirty="0">
                <a:solidFill>
                  <a:srgbClr val="12161A"/>
                </a:solidFill>
                <a:latin typeface="Arial" panose="020B0604020202020204" pitchFamily="34" charset="0"/>
                <a:ea typeface="Arial" panose="020B0604020202020204" pitchFamily="34" charset="-122"/>
                <a:cs typeface="Arial" panose="020B0604020202020204" pitchFamily="34" charset="-120"/>
              </a:rPr>
              <a:t>Scanning and enumeration</a:t>
            </a:r>
            <a:endParaRPr lang="en-US" sz="1700" dirty="0"/>
          </a:p>
        </p:txBody>
      </p:sp>
      <p:sp>
        <p:nvSpPr>
          <p:cNvPr id="14" name="Shape 12"/>
          <p:cNvSpPr/>
          <p:nvPr/>
        </p:nvSpPr>
        <p:spPr>
          <a:xfrm>
            <a:off x="6446520" y="2286000"/>
            <a:ext cx="4974336" cy="1517904"/>
          </a:xfrm>
          <a:prstGeom prst="roundRect">
            <a:avLst>
              <a:gd name="adj" fmla="val 3614"/>
            </a:avLst>
          </a:prstGeom>
          <a:solidFill>
            <a:srgbClr val="1B2026"/>
          </a:solidFill>
          <a:ln w="12700">
            <a:solidFill>
              <a:srgbClr val="2C343C"/>
            </a:solidFill>
            <a:prstDash val="solid"/>
          </a:ln>
        </p:spPr>
      </p:sp>
      <p:sp>
        <p:nvSpPr>
          <p:cNvPr id="15" name="Text 13"/>
          <p:cNvSpPr/>
          <p:nvPr/>
        </p:nvSpPr>
        <p:spPr>
          <a:xfrm>
            <a:off x="6592824" y="2423160"/>
            <a:ext cx="4681728" cy="1243584"/>
          </a:xfrm>
          <a:prstGeom prst="rect">
            <a:avLst/>
          </a:prstGeom>
          <a:noFill/>
        </p:spPr>
        <p:txBody>
          <a:bodyPr wrap="square" lIns="0" tIns="0" rIns="0" bIns="0" rtlCol="0" anchor="t"/>
          <a:lstStyle/>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IF   status == 404</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AND  same source IP</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AND  count &gt; 10 in 5 minutes</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OR   url hits /admin, /.git, /.env,</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/backup, /config, /phpmyadmin</a:t>
            </a:r>
            <a:endParaRPr lang="en-US" sz="1050" dirty="0"/>
          </a:p>
          <a:p>
            <a:pPr marL="0" indent="0">
              <a:lnSpc>
                <a:spcPts val="1385"/>
              </a:lnSpc>
              <a:buNone/>
            </a:pPr>
            <a:r>
              <a:rPr lang="en-US" sz="1050"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THEN alert - rate-limit source IP</a:t>
            </a:r>
            <a:endParaRPr lang="en-US" sz="1050" dirty="0"/>
          </a:p>
        </p:txBody>
      </p:sp>
      <p:sp>
        <p:nvSpPr>
          <p:cNvPr id="16" name="Text 14"/>
          <p:cNvSpPr/>
          <p:nvPr/>
        </p:nvSpPr>
        <p:spPr>
          <a:xfrm>
            <a:off x="6446520" y="4023360"/>
            <a:ext cx="4974336" cy="777240"/>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Why it works: it caught 208.91.156.11 (60 x 404) in the public log and ::1 (14 hits) in my lab — two very different datasets, same rule.</a:t>
            </a:r>
            <a:endParaRPr lang="en-US" sz="1200" dirty="0"/>
          </a:p>
        </p:txBody>
      </p:sp>
      <p:sp>
        <p:nvSpPr>
          <p:cNvPr id="17" name="Text 15"/>
          <p:cNvSpPr/>
          <p:nvPr/>
        </p:nvSpPr>
        <p:spPr>
          <a:xfrm>
            <a:off x="6446520" y="4846320"/>
            <a:ext cx="4974336" cy="822960"/>
          </a:xfrm>
          <a:prstGeom prst="rect">
            <a:avLst/>
          </a:prstGeom>
          <a:noFill/>
        </p:spPr>
        <p:txBody>
          <a:bodyPr wrap="square" lIns="0" tIns="0" rIns="0" bIns="0" rtlCol="0" anchor="t"/>
          <a:lstStyle/>
          <a:p>
            <a:pPr marL="0" indent="0">
              <a:lnSpc>
                <a:spcPts val="1600"/>
              </a:lnSpc>
              <a:buNone/>
            </a:pPr>
            <a:r>
              <a:rPr lang="en-US" sz="1200" i="1" dirty="0">
                <a:solidFill>
                  <a:srgbClr val="6B7680"/>
                </a:solidFill>
                <a:latin typeface="Calibri" panose="020F0502020204030204" pitchFamily="34" charset="0"/>
                <a:ea typeface="Calibri" panose="020F0502020204030204" pitchFamily="34" charset="-122"/>
                <a:cs typeface="Calibri" panose="020F0502020204030204" pitchFamily="34" charset="-120"/>
              </a:rPr>
              <a:t>Watch out for: a broken link on a busy page can produce hundreds of 404s from real users. The path list is what separates scanning from breakage.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DELIVERABLE · DETECTION RULES</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Rule 3, and what I would tune first</a:t>
            </a:r>
            <a:endParaRPr lang="en-US" sz="3000" dirty="0"/>
          </a:p>
        </p:txBody>
      </p:sp>
      <p:sp>
        <p:nvSpPr>
          <p:cNvPr id="4" name="Shape 2"/>
          <p:cNvSpPr/>
          <p:nvPr/>
        </p:nvSpPr>
        <p:spPr>
          <a:xfrm>
            <a:off x="566928" y="1463040"/>
            <a:ext cx="5394960" cy="4297680"/>
          </a:xfrm>
          <a:prstGeom prst="roundRect">
            <a:avLst>
              <a:gd name="adj" fmla="val 1064"/>
            </a:avLst>
          </a:prstGeom>
          <a:solidFill>
            <a:srgbClr val="F5F7F9"/>
          </a:solidFill>
          <a:ln w="12700">
            <a:solidFill>
              <a:srgbClr val="DDE3E8"/>
            </a:solidFill>
            <a:prstDash val="solid"/>
          </a:ln>
        </p:spPr>
      </p:sp>
      <p:sp>
        <p:nvSpPr>
          <p:cNvPr id="5" name="Text 3"/>
          <p:cNvSpPr/>
          <p:nvPr/>
        </p:nvSpPr>
        <p:spPr>
          <a:xfrm>
            <a:off x="768096" y="1609344"/>
            <a:ext cx="1828800" cy="256032"/>
          </a:xfrm>
          <a:prstGeom prst="rect">
            <a:avLst/>
          </a:prstGeom>
          <a:noFill/>
        </p:spPr>
        <p:txBody>
          <a:bodyPr wrap="square" lIns="0" tIns="0" rIns="0" bIns="0" rtlCol="0" anchor="ctr"/>
          <a:lstStyle/>
          <a:p>
            <a:pPr marL="0" indent="0">
              <a:buNone/>
            </a:pPr>
            <a:r>
              <a:rPr lang="en-US" sz="1100" b="1" kern="0" spc="150" dirty="0">
                <a:solidFill>
                  <a:srgbClr val="2C6E9B"/>
                </a:solidFill>
                <a:latin typeface="Calibri" panose="020F0502020204030204" pitchFamily="34" charset="0"/>
                <a:ea typeface="Calibri" panose="020F0502020204030204" pitchFamily="34" charset="-122"/>
                <a:cs typeface="Calibri" panose="020F0502020204030204" pitchFamily="34" charset="-120"/>
              </a:rPr>
              <a:t>RULE 3</a:t>
            </a:r>
            <a:endParaRPr lang="en-US" sz="1100" dirty="0"/>
          </a:p>
        </p:txBody>
      </p:sp>
      <p:sp>
        <p:nvSpPr>
          <p:cNvPr id="6" name="Text 4"/>
          <p:cNvSpPr/>
          <p:nvPr/>
        </p:nvSpPr>
        <p:spPr>
          <a:xfrm>
            <a:off x="768096" y="1865376"/>
            <a:ext cx="4937760" cy="329184"/>
          </a:xfrm>
          <a:prstGeom prst="rect">
            <a:avLst/>
          </a:prstGeom>
          <a:noFill/>
        </p:spPr>
        <p:txBody>
          <a:bodyPr wrap="square" lIns="0" tIns="0" rIns="0" bIns="0" rtlCol="0" anchor="t"/>
          <a:lstStyle/>
          <a:p>
            <a:pPr marL="0" indent="0">
              <a:buNone/>
            </a:pPr>
            <a:r>
              <a:rPr lang="en-US" sz="1700" b="1" dirty="0">
                <a:solidFill>
                  <a:srgbClr val="12161A"/>
                </a:solidFill>
                <a:latin typeface="Arial" panose="020B0604020202020204" pitchFamily="34" charset="0"/>
                <a:ea typeface="Arial" panose="020B0604020202020204" pitchFamily="34" charset="-122"/>
                <a:cs typeface="Arial" panose="020B0604020202020204" pitchFamily="34" charset="-120"/>
              </a:rPr>
              <a:t>Payloads and tool user agents</a:t>
            </a:r>
            <a:endParaRPr lang="en-US" sz="1700" dirty="0"/>
          </a:p>
        </p:txBody>
      </p:sp>
      <p:sp>
        <p:nvSpPr>
          <p:cNvPr id="7" name="Shape 5"/>
          <p:cNvSpPr/>
          <p:nvPr/>
        </p:nvSpPr>
        <p:spPr>
          <a:xfrm>
            <a:off x="768096" y="2286000"/>
            <a:ext cx="4992624" cy="1920240"/>
          </a:xfrm>
          <a:prstGeom prst="roundRect">
            <a:avLst>
              <a:gd name="adj" fmla="val 2857"/>
            </a:avLst>
          </a:prstGeom>
          <a:solidFill>
            <a:srgbClr val="1B2026"/>
          </a:solidFill>
          <a:ln w="12700">
            <a:solidFill>
              <a:srgbClr val="2C343C"/>
            </a:solidFill>
            <a:prstDash val="solid"/>
          </a:ln>
        </p:spPr>
      </p:sp>
      <p:sp>
        <p:nvSpPr>
          <p:cNvPr id="8" name="Text 6"/>
          <p:cNvSpPr/>
          <p:nvPr/>
        </p:nvSpPr>
        <p:spPr>
          <a:xfrm>
            <a:off x="914400" y="2423160"/>
            <a:ext cx="4700016" cy="1645920"/>
          </a:xfrm>
          <a:prstGeom prst="rect">
            <a:avLst/>
          </a:prstGeom>
          <a:noFill/>
        </p:spPr>
        <p:txBody>
          <a:bodyPr wrap="square" lIns="0" tIns="0" rIns="0" bIns="0" rtlCol="0" anchor="t"/>
          <a:lstStyle/>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url_decode(request_line)</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IF   contains ' OR ', UNION, SELECT,</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information_schema, &lt;script,</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alert(, onerror, javascript:</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OR   user_agent contains sqlmap,</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nikto, curl, wget, gobuster,</a:t>
            </a:r>
            <a:endParaRPr lang="en-US" sz="1050" dirty="0"/>
          </a:p>
          <a:p>
            <a:pPr marL="0" indent="0">
              <a:lnSpc>
                <a:spcPts val="1385"/>
              </a:lnSpc>
              <a:buNone/>
            </a:pPr>
            <a:r>
              <a:rPr lang="en-US" sz="10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ffuf, dirbuster, python-requests</a:t>
            </a:r>
            <a:endParaRPr lang="en-US" sz="1050" dirty="0"/>
          </a:p>
          <a:p>
            <a:pPr marL="0" indent="0">
              <a:lnSpc>
                <a:spcPts val="1385"/>
              </a:lnSpc>
              <a:buNone/>
            </a:pPr>
            <a:r>
              <a:rPr lang="en-US" sz="1050"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THEN alert - HIGH</a:t>
            </a:r>
            <a:endParaRPr lang="en-US" sz="1050" dirty="0"/>
          </a:p>
        </p:txBody>
      </p:sp>
      <p:sp>
        <p:nvSpPr>
          <p:cNvPr id="9" name="Text 7"/>
          <p:cNvSpPr/>
          <p:nvPr/>
        </p:nvSpPr>
        <p:spPr>
          <a:xfrm>
            <a:off x="768096" y="4480560"/>
            <a:ext cx="4992624" cy="731520"/>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Why it works: it reads the request instead of the response, which is the only way to see attacks the server answered with 200 OK.</a:t>
            </a:r>
            <a:endParaRPr lang="en-US" sz="1200" dirty="0"/>
          </a:p>
        </p:txBody>
      </p:sp>
      <p:grpSp>
        <p:nvGrpSpPr>
          <p:cNvPr id="23" name="Group 22"/>
          <p:cNvGrpSpPr/>
          <p:nvPr/>
        </p:nvGrpSpPr>
        <p:grpSpPr>
          <a:xfrm>
            <a:off x="6309360" y="1650365"/>
            <a:ext cx="5303520" cy="3347085"/>
            <a:chOff x="9936" y="2477"/>
            <a:chExt cx="8352" cy="5271"/>
          </a:xfrm>
        </p:grpSpPr>
        <p:sp>
          <p:nvSpPr>
            <p:cNvPr id="10" name="Text 8"/>
            <p:cNvSpPr/>
            <p:nvPr/>
          </p:nvSpPr>
          <p:spPr>
            <a:xfrm>
              <a:off x="9936" y="2477"/>
              <a:ext cx="8352" cy="490"/>
            </a:xfrm>
            <a:prstGeom prst="rect">
              <a:avLst/>
            </a:prstGeom>
            <a:noFill/>
          </p:spPr>
          <p:txBody>
            <a:bodyPr wrap="square" lIns="0" tIns="0" rIns="0" bIns="0" rtlCol="0" anchor="t"/>
            <a:lstStyle/>
            <a:p>
              <a:pPr marL="0" indent="0">
                <a:buNone/>
              </a:pPr>
              <a:r>
                <a:rPr lang="en-US" sz="1500" b="1" dirty="0">
                  <a:solidFill>
                    <a:srgbClr val="12161A"/>
                  </a:solidFill>
                  <a:latin typeface="Arial" panose="020B0604020202020204" pitchFamily="34" charset="0"/>
                  <a:ea typeface="Arial" panose="020B0604020202020204" pitchFamily="34" charset="-122"/>
                  <a:cs typeface="Arial" panose="020B0604020202020204" pitchFamily="34" charset="-120"/>
                </a:rPr>
                <a:t>Three things I would fix before trusting this in production</a:t>
              </a:r>
              <a:endParaRPr lang="en-US" sz="1500" dirty="0"/>
            </a:p>
          </p:txBody>
        </p:sp>
        <p:sp>
          <p:nvSpPr>
            <p:cNvPr id="11" name="Shape 9"/>
            <p:cNvSpPr/>
            <p:nvPr/>
          </p:nvSpPr>
          <p:spPr>
            <a:xfrm>
              <a:off x="9936" y="3283"/>
              <a:ext cx="490" cy="490"/>
            </a:xfrm>
            <a:prstGeom prst="ellipse">
              <a:avLst/>
            </a:prstGeom>
            <a:solidFill>
              <a:srgbClr val="2C6E9B"/>
            </a:solidFill>
            <a:ln w="12700">
              <a:solidFill>
                <a:srgbClr val="2C6E9B"/>
              </a:solidFill>
              <a:prstDash val="solid"/>
            </a:ln>
          </p:spPr>
        </p:sp>
        <p:sp>
          <p:nvSpPr>
            <p:cNvPr id="12" name="Text 10"/>
            <p:cNvSpPr/>
            <p:nvPr/>
          </p:nvSpPr>
          <p:spPr>
            <a:xfrm>
              <a:off x="9936" y="3283"/>
              <a:ext cx="490" cy="49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200" dirty="0"/>
            </a:p>
          </p:txBody>
        </p:sp>
        <p:sp>
          <p:nvSpPr>
            <p:cNvPr id="13" name="Text 11"/>
            <p:cNvSpPr/>
            <p:nvPr/>
          </p:nvSpPr>
          <p:spPr>
            <a:xfrm>
              <a:off x="10656" y="3254"/>
              <a:ext cx="7632" cy="461"/>
            </a:xfrm>
            <a:prstGeom prst="rect">
              <a:avLst/>
            </a:prstGeom>
            <a:noFill/>
          </p:spPr>
          <p:txBody>
            <a:bodyPr wrap="square" lIns="0" tIns="0" rIns="0" bIns="0" rtlCol="0" anchor="t"/>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curl is not automatically malicious</a:t>
              </a:r>
              <a:endParaRPr lang="en-US" sz="1300" dirty="0"/>
            </a:p>
          </p:txBody>
        </p:sp>
        <p:sp>
          <p:nvSpPr>
            <p:cNvPr id="14" name="Text 12"/>
            <p:cNvSpPr/>
            <p:nvPr/>
          </p:nvSpPr>
          <p:spPr>
            <a:xfrm>
              <a:off x="10656" y="3758"/>
              <a:ext cx="7632" cy="1368"/>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Plenty of legitimate health checks and internal scripts use curl. On its own it should raise the score, not fire an alert.</a:t>
              </a:r>
              <a:endParaRPr lang="en-US" sz="1200" dirty="0"/>
            </a:p>
          </p:txBody>
        </p:sp>
        <p:sp>
          <p:nvSpPr>
            <p:cNvPr id="15" name="Shape 13"/>
            <p:cNvSpPr/>
            <p:nvPr/>
          </p:nvSpPr>
          <p:spPr>
            <a:xfrm>
              <a:off x="9936" y="5270"/>
              <a:ext cx="490" cy="490"/>
            </a:xfrm>
            <a:prstGeom prst="ellipse">
              <a:avLst/>
            </a:prstGeom>
            <a:solidFill>
              <a:srgbClr val="2C6E9B"/>
            </a:solidFill>
            <a:ln w="12700">
              <a:solidFill>
                <a:srgbClr val="2C6E9B"/>
              </a:solidFill>
              <a:prstDash val="solid"/>
            </a:ln>
          </p:spPr>
        </p:sp>
        <p:sp>
          <p:nvSpPr>
            <p:cNvPr id="16" name="Text 14"/>
            <p:cNvSpPr/>
            <p:nvPr/>
          </p:nvSpPr>
          <p:spPr>
            <a:xfrm>
              <a:off x="9936" y="5270"/>
              <a:ext cx="490" cy="49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200" dirty="0"/>
            </a:p>
          </p:txBody>
        </p:sp>
        <p:sp>
          <p:nvSpPr>
            <p:cNvPr id="17" name="Text 15"/>
            <p:cNvSpPr/>
            <p:nvPr/>
          </p:nvSpPr>
          <p:spPr>
            <a:xfrm>
              <a:off x="10656" y="5242"/>
              <a:ext cx="7632" cy="461"/>
            </a:xfrm>
            <a:prstGeom prst="rect">
              <a:avLst/>
            </a:prstGeom>
            <a:noFill/>
          </p:spPr>
          <p:txBody>
            <a:bodyPr wrap="square" lIns="0" tIns="0" rIns="0" bIns="0" rtlCol="0" anchor="t"/>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Decode before matching, always</a:t>
              </a:r>
              <a:endParaRPr lang="en-US" sz="1300" dirty="0"/>
            </a:p>
          </p:txBody>
        </p:sp>
        <p:sp>
          <p:nvSpPr>
            <p:cNvPr id="18" name="Text 16"/>
            <p:cNvSpPr/>
            <p:nvPr/>
          </p:nvSpPr>
          <p:spPr>
            <a:xfrm>
              <a:off x="10656" y="5746"/>
              <a:ext cx="7632" cy="1368"/>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My first XSS script found nothing because Apache stores %3Cscript%3E, not &lt;script&gt;. Any rule that skips decoding is quietly blind.</a:t>
              </a:r>
              <a:endParaRPr lang="en-US" sz="1200" dirty="0"/>
            </a:p>
          </p:txBody>
        </p:sp>
        <p:sp>
          <p:nvSpPr>
            <p:cNvPr id="19" name="Shape 17"/>
            <p:cNvSpPr/>
            <p:nvPr/>
          </p:nvSpPr>
          <p:spPr>
            <a:xfrm>
              <a:off x="9936" y="7258"/>
              <a:ext cx="490" cy="490"/>
            </a:xfrm>
            <a:prstGeom prst="ellipse">
              <a:avLst/>
            </a:prstGeom>
            <a:solidFill>
              <a:srgbClr val="2C6E9B"/>
            </a:solidFill>
            <a:ln w="12700">
              <a:solidFill>
                <a:srgbClr val="2C6E9B"/>
              </a:solidFill>
              <a:prstDash val="solid"/>
            </a:ln>
          </p:spPr>
        </p:sp>
        <p:sp>
          <p:nvSpPr>
            <p:cNvPr id="20" name="Text 18"/>
            <p:cNvSpPr/>
            <p:nvPr/>
          </p:nvSpPr>
          <p:spPr>
            <a:xfrm>
              <a:off x="9936" y="7258"/>
              <a:ext cx="490" cy="49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200" dirty="0"/>
            </a:p>
          </p:txBody>
        </p:sp>
        <p:sp>
          <p:nvSpPr>
            <p:cNvPr id="21" name="Text 19"/>
            <p:cNvSpPr/>
            <p:nvPr/>
          </p:nvSpPr>
          <p:spPr>
            <a:xfrm>
              <a:off x="10656" y="7229"/>
              <a:ext cx="7632" cy="461"/>
            </a:xfrm>
            <a:prstGeom prst="rect">
              <a:avLst/>
            </a:prstGeom>
            <a:noFill/>
          </p:spPr>
          <p:txBody>
            <a:bodyPr wrap="square" lIns="0" tIns="0" rIns="0" bIns="0" rtlCol="0" anchor="t"/>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My scripts have no time window</a:t>
              </a:r>
              <a:endParaRPr lang="en-US" sz="1300" dirty="0"/>
            </a:p>
          </p:txBody>
        </p:sp>
      </p:grpSp>
      <p:sp>
        <p:nvSpPr>
          <p:cNvPr id="22" name="Text 20"/>
          <p:cNvSpPr/>
          <p:nvPr/>
        </p:nvSpPr>
        <p:spPr>
          <a:xfrm>
            <a:off x="6766560" y="4910328"/>
            <a:ext cx="4846320" cy="868680"/>
          </a:xfrm>
          <a:prstGeom prst="rect">
            <a:avLst/>
          </a:prstGeom>
          <a:noFill/>
        </p:spPr>
        <p:txBody>
          <a:bodyPr wrap="square" lIns="0" tIns="0" rIns="0" bIns="0" rtlCol="0" anchor="t"/>
          <a:lstStyle/>
          <a:p>
            <a:pPr marL="0" indent="0">
              <a:lnSpc>
                <a:spcPts val="16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They count across the whole file. Five failed logins in five minutes is an attack; five across a week is someone who forgot their password.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61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GOING ONE STEP FURTHER</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Wiring the five checks into one script</a:t>
            </a:r>
            <a:endParaRPr lang="en-US" sz="3000" dirty="0"/>
          </a:p>
        </p:txBody>
      </p:sp>
      <p:sp>
        <p:nvSpPr>
          <p:cNvPr id="4" name="Text 2"/>
          <p:cNvSpPr/>
          <p:nvPr/>
        </p:nvSpPr>
        <p:spPr>
          <a:xfrm>
            <a:off x="566928" y="1207008"/>
            <a:ext cx="11055096" cy="365760"/>
          </a:xfrm>
          <a:prstGeom prst="rect">
            <a:avLst/>
          </a:prstGeom>
          <a:noFill/>
        </p:spPr>
        <p:txBody>
          <a:bodyPr wrap="square" lIns="0" tIns="0" rIns="0" bIns="0" rtlCol="0" anchor="t"/>
          <a:lstStyle/>
          <a:p>
            <a:pPr marL="0" indent="0">
              <a:buNone/>
            </a:pPr>
            <a:r>
              <a:rPr lang="en-US" sz="1400" i="1" dirty="0">
                <a:solidFill>
                  <a:srgbClr val="AEB8C0"/>
                </a:solidFill>
                <a:latin typeface="Calibri" panose="020F0502020204030204" pitchFamily="34" charset="0"/>
                <a:ea typeface="Calibri" panose="020F0502020204030204" pitchFamily="34" charset="-122"/>
                <a:cs typeface="Calibri" panose="020F0502020204030204" pitchFamily="34" charset="-120"/>
              </a:rPr>
              <a:t>prevention_engine.py reads the log once, runs all five detections, and writes an incident record instead of just printing to screen.</a:t>
            </a:r>
            <a:endParaRPr lang="en-US" sz="1400" dirty="0"/>
          </a:p>
        </p:txBody>
      </p:sp>
      <p:grpSp>
        <p:nvGrpSpPr>
          <p:cNvPr id="15" name="Group 14"/>
          <p:cNvGrpSpPr/>
          <p:nvPr/>
        </p:nvGrpSpPr>
        <p:grpSpPr>
          <a:xfrm>
            <a:off x="567055" y="2368550"/>
            <a:ext cx="5943600" cy="2614930"/>
            <a:chOff x="893" y="2952"/>
            <a:chExt cx="9360" cy="4118"/>
          </a:xfrm>
        </p:grpSpPr>
        <p:sp>
          <p:nvSpPr>
            <p:cNvPr id="5" name="Shape 3"/>
            <p:cNvSpPr/>
            <p:nvPr/>
          </p:nvSpPr>
          <p:spPr>
            <a:xfrm>
              <a:off x="893" y="2952"/>
              <a:ext cx="9360" cy="4118"/>
            </a:xfrm>
            <a:prstGeom prst="roundRect">
              <a:avLst>
                <a:gd name="adj" fmla="val 2098"/>
              </a:avLst>
            </a:prstGeom>
            <a:solidFill>
              <a:srgbClr val="1B2026"/>
            </a:solidFill>
            <a:ln w="12700">
              <a:solidFill>
                <a:srgbClr val="2C343C"/>
              </a:solidFill>
              <a:prstDash val="solid"/>
            </a:ln>
          </p:spPr>
        </p:sp>
        <p:sp>
          <p:nvSpPr>
            <p:cNvPr id="6" name="Text 4"/>
            <p:cNvSpPr/>
            <p:nvPr/>
          </p:nvSpPr>
          <p:spPr>
            <a:xfrm>
              <a:off x="1123" y="3168"/>
              <a:ext cx="8899" cy="3686"/>
            </a:xfrm>
            <a:prstGeom prst="rect">
              <a:avLst/>
            </a:prstGeom>
            <a:noFill/>
          </p:spPr>
          <p:txBody>
            <a:bodyPr wrap="square" lIns="0" tIns="0" rIns="0" bIns="0" rtlCol="0" anchor="t"/>
            <a:lstStyle/>
            <a:p>
              <a:pPr marL="0" indent="0">
                <a:lnSpc>
                  <a:spcPts val="1320"/>
                </a:lnSpc>
                <a:buNone/>
              </a:pPr>
              <a:r>
                <a:rPr lang="en-US" sz="10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python3 prevention_engine.py</a:t>
              </a:r>
              <a:endParaRPr lang="en-US" sz="1000" dirty="0"/>
            </a:p>
            <a:p>
              <a:pPr marL="0" indent="0">
                <a:lnSpc>
                  <a:spcPts val="1320"/>
                </a:lnSpc>
                <a:buNone/>
              </a:pPr>
              <a:r>
                <a:rPr lang="en-US" sz="10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PREVENTION SUMMARY</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Total Brute Force Attackers      : 1</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Total SQL Injection Attackers    : 1</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Total XSS Attackers              : 1</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Total Directory Scan Attackers   : 2</a:t>
              </a:r>
              <a:endParaRPr lang="en-US" sz="1000" dirty="0"/>
            </a:p>
            <a:p>
              <a:pPr marL="0" indent="0">
                <a:lnSpc>
                  <a:spcPts val="1320"/>
                </a:lnSpc>
                <a:buNone/>
              </a:pPr>
              <a:r>
                <a:rPr lang="en-US" sz="100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Total Suspicious User-Agent      : 1</a:t>
              </a:r>
              <a:endParaRPr lang="en-US" sz="1000" dirty="0"/>
            </a:p>
            <a:p>
              <a:pPr marL="0" indent="0">
                <a:lnSpc>
                  <a:spcPts val="1320"/>
                </a:lnSpc>
                <a:buNone/>
              </a:pPr>
              <a:endParaRPr lang="en-US" sz="1000" dirty="0"/>
            </a:p>
            <a:p>
              <a:pPr marL="0" indent="0">
                <a:lnSpc>
                  <a:spcPts val="1320"/>
                </a:lnSpc>
                <a:buNone/>
              </a:pPr>
              <a:r>
                <a:rPr lang="en-US" sz="10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Blocked IP Addresses</a:t>
              </a:r>
              <a:endParaRPr lang="en-US" sz="1000" dirty="0"/>
            </a:p>
            <a:p>
              <a:pPr marL="0" indent="0">
                <a:lnSpc>
                  <a:spcPts val="1320"/>
                </a:lnSpc>
                <a:buNone/>
              </a:pPr>
              <a:r>
                <a:rPr lang="en-US" sz="1000"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  ::1</a:t>
              </a:r>
              <a:endParaRPr lang="en-US" sz="1000" dirty="0"/>
            </a:p>
            <a:p>
              <a:pPr marL="0" indent="0">
                <a:lnSpc>
                  <a:spcPts val="1320"/>
                </a:lnSpc>
                <a:buNone/>
              </a:pPr>
              <a:r>
                <a:rPr lang="en-US" sz="1000" dirty="0">
                  <a:solidFill>
                    <a:srgbClr val="E8A44A"/>
                  </a:solidFill>
                  <a:latin typeface="Courier New" panose="02070309020205020404" pitchFamily="34" charset="0"/>
                  <a:ea typeface="Courier New" panose="02070309020205020404" pitchFamily="34" charset="-122"/>
                  <a:cs typeface="Courier New" panose="02070309020205020404" pitchFamily="34" charset="-120"/>
                </a:rPr>
                <a:t>  127.0.0.1</a:t>
              </a:r>
              <a:endParaRPr lang="en-US" sz="1000" dirty="0"/>
            </a:p>
            <a:p>
              <a:pPr marL="0" indent="0">
                <a:lnSpc>
                  <a:spcPts val="1320"/>
                </a:lnSpc>
                <a:buNone/>
              </a:pPr>
              <a:r>
                <a:rPr lang="en-US" sz="100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PREVENTION COMPLETED SUCCESSFULLY</a:t>
              </a:r>
              <a:endParaRPr lang="en-US" sz="1000" dirty="0"/>
            </a:p>
          </p:txBody>
        </p:sp>
      </p:grpSp>
      <p:sp>
        <p:nvSpPr>
          <p:cNvPr id="7" name="Shape 5"/>
          <p:cNvSpPr/>
          <p:nvPr/>
        </p:nvSpPr>
        <p:spPr>
          <a:xfrm>
            <a:off x="6766560" y="1874520"/>
            <a:ext cx="4855464" cy="1463040"/>
          </a:xfrm>
          <a:prstGeom prst="roundRect">
            <a:avLst>
              <a:gd name="adj" fmla="val 3750"/>
            </a:avLst>
          </a:prstGeom>
          <a:solidFill>
            <a:srgbClr val="1B2026"/>
          </a:solidFill>
          <a:ln w="12700">
            <a:solidFill>
              <a:srgbClr val="2C343C"/>
            </a:solidFill>
            <a:prstDash val="solid"/>
          </a:ln>
        </p:spPr>
      </p:sp>
      <p:sp>
        <p:nvSpPr>
          <p:cNvPr id="8" name="Text 6"/>
          <p:cNvSpPr/>
          <p:nvPr/>
        </p:nvSpPr>
        <p:spPr>
          <a:xfrm>
            <a:off x="6912864" y="2011680"/>
            <a:ext cx="4562856" cy="1188720"/>
          </a:xfrm>
          <a:prstGeom prst="rect">
            <a:avLst/>
          </a:prstGeom>
          <a:noFill/>
        </p:spPr>
        <p:txBody>
          <a:bodyPr wrap="square" lIns="0" tIns="0" rIns="0" bIns="0" rtlCol="0" anchor="t"/>
          <a:lstStyle/>
          <a:p>
            <a:pPr marL="0" indent="0">
              <a:lnSpc>
                <a:spcPts val="1255"/>
              </a:lnSpc>
              <a:buNone/>
            </a:pPr>
            <a:r>
              <a:rPr lang="en-US" sz="950" dirty="0">
                <a:solidFill>
                  <a:srgbClr val="8FD6A8"/>
                </a:solidFill>
                <a:latin typeface="Courier New" panose="02070309020205020404" pitchFamily="34" charset="0"/>
                <a:ea typeface="Courier New" panose="02070309020205020404" pitchFamily="34" charset="-122"/>
                <a:cs typeface="Courier New" panose="02070309020205020404" pitchFamily="34" charset="-120"/>
              </a:rPr>
              <a:t>$ cat security_incidents.log</a:t>
            </a:r>
            <a:endParaRPr lang="en-US" sz="950" dirty="0"/>
          </a:p>
          <a:p>
            <a:pPr marL="0" indent="0">
              <a:lnSpc>
                <a:spcPts val="1255"/>
              </a:lnSpc>
              <a:buNone/>
            </a:pPr>
            <a:r>
              <a:rPr lang="en-US" sz="95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14:13:16 | Brute Force | 127.0.0.1 | 18</a:t>
            </a:r>
            <a:endParaRPr lang="en-US" sz="950" dirty="0"/>
          </a:p>
          <a:p>
            <a:pPr marL="0" indent="0">
              <a:lnSpc>
                <a:spcPts val="1255"/>
              </a:lnSpc>
              <a:buNone/>
            </a:pPr>
            <a:r>
              <a:rPr lang="en-US" sz="95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14:13:16 | SQL Injection | 127.0.0.1 | 6</a:t>
            </a:r>
            <a:endParaRPr lang="en-US" sz="950" dirty="0"/>
          </a:p>
          <a:p>
            <a:pPr marL="0" indent="0">
              <a:lnSpc>
                <a:spcPts val="1255"/>
              </a:lnSpc>
              <a:buNone/>
            </a:pPr>
            <a:r>
              <a:rPr lang="en-US" sz="95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14:13:16 | XSS | 127.0.0.1 | 5</a:t>
            </a:r>
            <a:endParaRPr lang="en-US" sz="950" dirty="0"/>
          </a:p>
          <a:p>
            <a:pPr marL="0" indent="0">
              <a:lnSpc>
                <a:spcPts val="1255"/>
              </a:lnSpc>
              <a:buNone/>
            </a:pPr>
            <a:r>
              <a:rPr lang="en-US" sz="95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14:13:16 | Directory Enum | ::1 | 14</a:t>
            </a:r>
            <a:endParaRPr lang="en-US" sz="950" dirty="0"/>
          </a:p>
          <a:p>
            <a:pPr marL="0" indent="0">
              <a:lnSpc>
                <a:spcPts val="1255"/>
              </a:lnSpc>
              <a:buNone/>
            </a:pPr>
            <a:r>
              <a:rPr lang="en-US" sz="950" dirty="0">
                <a:solidFill>
                  <a:srgbClr val="D7E0E7"/>
                </a:solidFill>
                <a:latin typeface="Courier New" panose="02070309020205020404" pitchFamily="34" charset="0"/>
                <a:ea typeface="Courier New" panose="02070309020205020404" pitchFamily="34" charset="-122"/>
                <a:cs typeface="Courier New" panose="02070309020205020404" pitchFamily="34" charset="-120"/>
              </a:rPr>
              <a:t>14:13:16 | Suspicious UA | ::1 | 16</a:t>
            </a:r>
            <a:endParaRPr lang="en-US" sz="950" dirty="0"/>
          </a:p>
        </p:txBody>
      </p:sp>
      <p:sp>
        <p:nvSpPr>
          <p:cNvPr id="9" name="Shape 7"/>
          <p:cNvSpPr/>
          <p:nvPr/>
        </p:nvSpPr>
        <p:spPr>
          <a:xfrm>
            <a:off x="6766560" y="3520440"/>
            <a:ext cx="4855464" cy="1325880"/>
          </a:xfrm>
          <a:prstGeom prst="roundRect">
            <a:avLst>
              <a:gd name="adj" fmla="val 3448"/>
            </a:avLst>
          </a:prstGeom>
          <a:solidFill>
            <a:srgbClr val="1B2026"/>
          </a:solidFill>
          <a:ln w="12700">
            <a:solidFill>
              <a:srgbClr val="2C343C"/>
            </a:solidFill>
            <a:prstDash val="solid"/>
          </a:ln>
        </p:spPr>
      </p:sp>
      <p:sp>
        <p:nvSpPr>
          <p:cNvPr id="10" name="Text 8"/>
          <p:cNvSpPr/>
          <p:nvPr/>
        </p:nvSpPr>
        <p:spPr>
          <a:xfrm>
            <a:off x="6949440" y="3666744"/>
            <a:ext cx="4489704" cy="274320"/>
          </a:xfrm>
          <a:prstGeom prst="rect">
            <a:avLst/>
          </a:prstGeom>
          <a:noFill/>
        </p:spPr>
        <p:txBody>
          <a:bodyPr wrap="square" lIns="0" tIns="0" rIns="0" bIns="0" rtlCol="0" anchor="t"/>
          <a:lstStyle/>
          <a:p>
            <a:pPr marL="0" indent="0">
              <a:buNone/>
            </a:pPr>
            <a:r>
              <a:rPr lang="en-US" sz="1300" b="1" dirty="0">
                <a:solidFill>
                  <a:srgbClr val="D9942B"/>
                </a:solidFill>
                <a:latin typeface="Arial" panose="020B0604020202020204" pitchFamily="34" charset="0"/>
                <a:ea typeface="Arial" panose="020B0604020202020204" pitchFamily="34" charset="-122"/>
                <a:cs typeface="Arial" panose="020B0604020202020204" pitchFamily="34" charset="-120"/>
              </a:rPr>
              <a:t>Blocking is simulated, not real</a:t>
            </a:r>
            <a:endParaRPr lang="en-US" sz="1300" dirty="0"/>
          </a:p>
        </p:txBody>
      </p:sp>
      <p:sp>
        <p:nvSpPr>
          <p:cNvPr id="11" name="Text 9"/>
          <p:cNvSpPr/>
          <p:nvPr/>
        </p:nvSpPr>
        <p:spPr>
          <a:xfrm>
            <a:off x="6949440" y="3977640"/>
            <a:ext cx="4489704" cy="704088"/>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The script tracks blocked IPs in a set and logs the decision. It does not touch iptables — I did not want a script auto-blocking anything on my own machine.</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6766560" y="4983480"/>
            <a:ext cx="4855464" cy="1143000"/>
          </a:xfrm>
          <a:prstGeom prst="roundRect">
            <a:avLst>
              <a:gd name="adj" fmla="val 4000"/>
            </a:avLst>
          </a:prstGeom>
          <a:solidFill>
            <a:srgbClr val="1B2026"/>
          </a:solidFill>
          <a:ln w="12700">
            <a:solidFill>
              <a:srgbClr val="2C343C"/>
            </a:solidFill>
            <a:prstDash val="solid"/>
          </a:ln>
        </p:spPr>
      </p:sp>
      <p:sp>
        <p:nvSpPr>
          <p:cNvPr id="13" name="Text 11"/>
          <p:cNvSpPr/>
          <p:nvPr/>
        </p:nvSpPr>
        <p:spPr>
          <a:xfrm>
            <a:off x="6949440" y="5129784"/>
            <a:ext cx="4489704" cy="274320"/>
          </a:xfrm>
          <a:prstGeom prst="rect">
            <a:avLst/>
          </a:prstGeom>
          <a:noFill/>
        </p:spPr>
        <p:txBody>
          <a:bodyPr wrap="square" lIns="0" tIns="0" rIns="0" bIns="0" rtlCol="0" anchor="t"/>
          <a:lstStyle/>
          <a:p>
            <a:pPr marL="0" indent="0">
              <a:buNone/>
            </a:pPr>
            <a:r>
              <a:rPr lang="en-US" sz="1300" b="1" dirty="0">
                <a:solidFill>
                  <a:srgbClr val="2FA85D"/>
                </a:solidFill>
                <a:latin typeface="Arial" panose="020B0604020202020204" pitchFamily="34" charset="0"/>
                <a:ea typeface="Arial" panose="020B0604020202020204" pitchFamily="34" charset="-122"/>
                <a:cs typeface="Arial" panose="020B0604020202020204" pitchFamily="34" charset="-120"/>
              </a:rPr>
              <a:t>Why write to a file</a:t>
            </a:r>
            <a:endParaRPr lang="en-US" sz="1300" dirty="0"/>
          </a:p>
        </p:txBody>
      </p:sp>
      <p:sp>
        <p:nvSpPr>
          <p:cNvPr id="14" name="Text 12"/>
          <p:cNvSpPr/>
          <p:nvPr/>
        </p:nvSpPr>
        <p:spPr>
          <a:xfrm>
            <a:off x="6949440" y="5440680"/>
            <a:ext cx="4489704" cy="521208"/>
          </a:xfrm>
          <a:prstGeom prst="rect">
            <a:avLst/>
          </a:prstGeom>
          <a:noFill/>
        </p:spPr>
        <p:txBody>
          <a:bodyPr wrap="square" lIns="0" tIns="0" rIns="0" bIns="0" rtlCol="0" anchor="t"/>
          <a:lstStyle/>
          <a:p>
            <a:pPr marL="0" indent="0">
              <a:lnSpc>
                <a:spcPts val="1600"/>
              </a:lnSpc>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An alert on screen disappears. A timestamped incident log is something you can hand over.</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BEING HONEST ABOUT IT</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12161A"/>
                </a:solidFill>
                <a:latin typeface="Arial" panose="020B0604020202020204" pitchFamily="34" charset="0"/>
                <a:ea typeface="Arial" panose="020B0604020202020204" pitchFamily="34" charset="-122"/>
                <a:cs typeface="Arial" panose="020B0604020202020204" pitchFamily="34" charset="-120"/>
              </a:rPr>
              <a:t>What this does not catch yet</a:t>
            </a:r>
            <a:endParaRPr lang="en-US" sz="3000" dirty="0"/>
          </a:p>
        </p:txBody>
      </p:sp>
      <p:sp>
        <p:nvSpPr>
          <p:cNvPr id="4" name="Shape 2"/>
          <p:cNvSpPr/>
          <p:nvPr/>
        </p:nvSpPr>
        <p:spPr>
          <a:xfrm>
            <a:off x="566928" y="1536192"/>
            <a:ext cx="11055096" cy="749808"/>
          </a:xfrm>
          <a:prstGeom prst="roundRect">
            <a:avLst>
              <a:gd name="adj" fmla="val 6098"/>
            </a:avLst>
          </a:prstGeom>
          <a:solidFill>
            <a:srgbClr val="F5F7F9"/>
          </a:solidFill>
          <a:ln w="12700">
            <a:solidFill>
              <a:srgbClr val="DDE3E8"/>
            </a:solidFill>
            <a:prstDash val="solid"/>
          </a:ln>
        </p:spPr>
        <p:txBody>
          <a:bodyPr/>
          <a:p>
            <a:endParaRPr lang="en-US"/>
          </a:p>
        </p:txBody>
      </p:sp>
      <p:sp>
        <p:nvSpPr>
          <p:cNvPr id="5" name="Shape 3"/>
          <p:cNvSpPr/>
          <p:nvPr/>
        </p:nvSpPr>
        <p:spPr>
          <a:xfrm>
            <a:off x="768096" y="1819656"/>
            <a:ext cx="182880" cy="182880"/>
          </a:xfrm>
          <a:prstGeom prst="ellipse">
            <a:avLst/>
          </a:prstGeom>
          <a:solidFill>
            <a:srgbClr val="C43F35"/>
          </a:solidFill>
          <a:ln w="12700">
            <a:solidFill>
              <a:srgbClr val="C43F35"/>
            </a:solidFill>
            <a:prstDash val="solid"/>
          </a:ln>
        </p:spPr>
      </p:sp>
      <p:sp>
        <p:nvSpPr>
          <p:cNvPr id="6" name="Text 4"/>
          <p:cNvSpPr/>
          <p:nvPr/>
        </p:nvSpPr>
        <p:spPr>
          <a:xfrm>
            <a:off x="1115568" y="1627632"/>
            <a:ext cx="3291840" cy="566928"/>
          </a:xfrm>
          <a:prstGeom prst="rect">
            <a:avLst/>
          </a:prstGeom>
          <a:noFill/>
        </p:spPr>
        <p:txBody>
          <a:bodyPr wrap="square" lIns="0" tIns="0" rIns="0" bIns="0" rtlCol="0" anchor="ctr"/>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All the attacks came from me</a:t>
            </a:r>
            <a:endParaRPr lang="en-US" sz="1300" dirty="0"/>
          </a:p>
        </p:txBody>
      </p:sp>
      <p:sp>
        <p:nvSpPr>
          <p:cNvPr id="7" name="Text 5"/>
          <p:cNvSpPr/>
          <p:nvPr/>
        </p:nvSpPr>
        <p:spPr>
          <a:xfrm>
            <a:off x="4498848" y="1627632"/>
            <a:ext cx="6858000" cy="566928"/>
          </a:xfrm>
          <a:prstGeom prst="rect">
            <a:avLst/>
          </a:prstGeom>
          <a:noFill/>
        </p:spPr>
        <p:txBody>
          <a:bodyPr wrap="square" lIns="0" tIns="0" rIns="0" bIns="0" rtlCol="0" anchor="ctr"/>
          <a:lstStyle/>
          <a:p>
            <a:pPr marL="0" indent="0">
              <a:lnSpc>
                <a:spcPts val="15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One machine, two addresses, no network. A real attack arrives from many IPs and my per-IP counting falls apart against that.</a:t>
            </a:r>
            <a:endParaRPr lang="en-US" sz="1200" dirty="0"/>
          </a:p>
        </p:txBody>
      </p:sp>
      <p:sp>
        <p:nvSpPr>
          <p:cNvPr id="8" name="Shape 6"/>
          <p:cNvSpPr/>
          <p:nvPr/>
        </p:nvSpPr>
        <p:spPr>
          <a:xfrm>
            <a:off x="566928" y="2432304"/>
            <a:ext cx="11055096" cy="749808"/>
          </a:xfrm>
          <a:prstGeom prst="roundRect">
            <a:avLst>
              <a:gd name="adj" fmla="val 6098"/>
            </a:avLst>
          </a:prstGeom>
          <a:solidFill>
            <a:srgbClr val="F5F7F9"/>
          </a:solidFill>
          <a:ln w="12700">
            <a:solidFill>
              <a:srgbClr val="DDE3E8"/>
            </a:solidFill>
            <a:prstDash val="solid"/>
          </a:ln>
        </p:spPr>
      </p:sp>
      <p:sp>
        <p:nvSpPr>
          <p:cNvPr id="9" name="Shape 7"/>
          <p:cNvSpPr/>
          <p:nvPr/>
        </p:nvSpPr>
        <p:spPr>
          <a:xfrm>
            <a:off x="768096" y="2715768"/>
            <a:ext cx="182880" cy="182880"/>
          </a:xfrm>
          <a:prstGeom prst="ellipse">
            <a:avLst/>
          </a:prstGeom>
          <a:solidFill>
            <a:srgbClr val="D9942B"/>
          </a:solidFill>
          <a:ln w="12700">
            <a:solidFill>
              <a:srgbClr val="D9942B"/>
            </a:solidFill>
            <a:prstDash val="solid"/>
          </a:ln>
        </p:spPr>
      </p:sp>
      <p:sp>
        <p:nvSpPr>
          <p:cNvPr id="10" name="Text 8"/>
          <p:cNvSpPr/>
          <p:nvPr/>
        </p:nvSpPr>
        <p:spPr>
          <a:xfrm>
            <a:off x="1115568" y="2523744"/>
            <a:ext cx="3291840" cy="566928"/>
          </a:xfrm>
          <a:prstGeom prst="rect">
            <a:avLst/>
          </a:prstGeom>
          <a:noFill/>
        </p:spPr>
        <p:txBody>
          <a:bodyPr wrap="square" lIns="0" tIns="0" rIns="0" bIns="0" rtlCol="0" anchor="ctr"/>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No time windows</a:t>
            </a:r>
            <a:endParaRPr lang="en-US" sz="1300" dirty="0"/>
          </a:p>
        </p:txBody>
      </p:sp>
      <p:sp>
        <p:nvSpPr>
          <p:cNvPr id="11" name="Text 9"/>
          <p:cNvSpPr/>
          <p:nvPr/>
        </p:nvSpPr>
        <p:spPr>
          <a:xfrm>
            <a:off x="4498848" y="2523744"/>
            <a:ext cx="6858000" cy="566928"/>
          </a:xfrm>
          <a:prstGeom prst="rect">
            <a:avLst/>
          </a:prstGeom>
          <a:noFill/>
        </p:spPr>
        <p:txBody>
          <a:bodyPr wrap="square" lIns="0" tIns="0" rIns="0" bIns="0" rtlCol="0" anchor="ctr"/>
          <a:lstStyle/>
          <a:p>
            <a:pPr marL="0" indent="0">
              <a:lnSpc>
                <a:spcPts val="15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Counts run across the whole file. Adding a rolling window is the single biggest improvement available.</a:t>
            </a:r>
            <a:endParaRPr lang="en-US" sz="1200" dirty="0"/>
          </a:p>
        </p:txBody>
      </p:sp>
      <p:sp>
        <p:nvSpPr>
          <p:cNvPr id="12" name="Shape 10"/>
          <p:cNvSpPr/>
          <p:nvPr/>
        </p:nvSpPr>
        <p:spPr>
          <a:xfrm>
            <a:off x="566928" y="3328416"/>
            <a:ext cx="11055096" cy="749808"/>
          </a:xfrm>
          <a:prstGeom prst="roundRect">
            <a:avLst>
              <a:gd name="adj" fmla="val 6098"/>
            </a:avLst>
          </a:prstGeom>
          <a:solidFill>
            <a:srgbClr val="F5F7F9"/>
          </a:solidFill>
          <a:ln w="12700">
            <a:solidFill>
              <a:srgbClr val="DDE3E8"/>
            </a:solidFill>
            <a:prstDash val="solid"/>
          </a:ln>
        </p:spPr>
      </p:sp>
      <p:sp>
        <p:nvSpPr>
          <p:cNvPr id="13" name="Shape 11"/>
          <p:cNvSpPr/>
          <p:nvPr/>
        </p:nvSpPr>
        <p:spPr>
          <a:xfrm>
            <a:off x="768096" y="3611880"/>
            <a:ext cx="182880" cy="182880"/>
          </a:xfrm>
          <a:prstGeom prst="ellipse">
            <a:avLst/>
          </a:prstGeom>
          <a:solidFill>
            <a:srgbClr val="D9942B"/>
          </a:solidFill>
          <a:ln w="12700">
            <a:solidFill>
              <a:srgbClr val="D9942B"/>
            </a:solidFill>
            <a:prstDash val="solid"/>
          </a:ln>
        </p:spPr>
      </p:sp>
      <p:sp>
        <p:nvSpPr>
          <p:cNvPr id="14" name="Text 12"/>
          <p:cNvSpPr/>
          <p:nvPr/>
        </p:nvSpPr>
        <p:spPr>
          <a:xfrm>
            <a:off x="1115568" y="3419856"/>
            <a:ext cx="3291840" cy="566928"/>
          </a:xfrm>
          <a:prstGeom prst="rect">
            <a:avLst/>
          </a:prstGeom>
          <a:noFill/>
        </p:spPr>
        <p:txBody>
          <a:bodyPr wrap="square" lIns="0" tIns="0" rIns="0" bIns="0" rtlCol="0" anchor="ctr"/>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A 97-line log is tiny</a:t>
            </a:r>
            <a:endParaRPr lang="en-US" sz="1300" dirty="0"/>
          </a:p>
        </p:txBody>
      </p:sp>
      <p:sp>
        <p:nvSpPr>
          <p:cNvPr id="15" name="Text 13"/>
          <p:cNvSpPr/>
          <p:nvPr/>
        </p:nvSpPr>
        <p:spPr>
          <a:xfrm>
            <a:off x="4498848" y="3419856"/>
            <a:ext cx="6858000" cy="566928"/>
          </a:xfrm>
          <a:prstGeom prst="rect">
            <a:avLst/>
          </a:prstGeom>
          <a:noFill/>
        </p:spPr>
        <p:txBody>
          <a:bodyPr wrap="square" lIns="0" tIns="0" rIns="0" bIns="0" rtlCol="0" anchor="ctr"/>
          <a:lstStyle/>
          <a:p>
            <a:pPr marL="0" indent="0">
              <a:lnSpc>
                <a:spcPts val="15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Everything is obvious at this size. The same rules against millions of lines a day would need tuning and a lot of noise-filtering.</a:t>
            </a:r>
            <a:endParaRPr lang="en-US" sz="1200" dirty="0"/>
          </a:p>
        </p:txBody>
      </p:sp>
      <p:sp>
        <p:nvSpPr>
          <p:cNvPr id="16" name="Shape 14"/>
          <p:cNvSpPr/>
          <p:nvPr/>
        </p:nvSpPr>
        <p:spPr>
          <a:xfrm>
            <a:off x="566928" y="4224528"/>
            <a:ext cx="11055096" cy="749808"/>
          </a:xfrm>
          <a:prstGeom prst="roundRect">
            <a:avLst>
              <a:gd name="adj" fmla="val 6098"/>
            </a:avLst>
          </a:prstGeom>
          <a:solidFill>
            <a:srgbClr val="F5F7F9"/>
          </a:solidFill>
          <a:ln w="12700">
            <a:solidFill>
              <a:srgbClr val="DDE3E8"/>
            </a:solidFill>
            <a:prstDash val="solid"/>
          </a:ln>
        </p:spPr>
      </p:sp>
      <p:sp>
        <p:nvSpPr>
          <p:cNvPr id="17" name="Shape 15"/>
          <p:cNvSpPr/>
          <p:nvPr/>
        </p:nvSpPr>
        <p:spPr>
          <a:xfrm>
            <a:off x="768096" y="4507992"/>
            <a:ext cx="182880" cy="182880"/>
          </a:xfrm>
          <a:prstGeom prst="ellipse">
            <a:avLst/>
          </a:prstGeom>
          <a:solidFill>
            <a:srgbClr val="C43F35"/>
          </a:solidFill>
          <a:ln w="12700">
            <a:solidFill>
              <a:srgbClr val="C43F35"/>
            </a:solidFill>
            <a:prstDash val="solid"/>
          </a:ln>
        </p:spPr>
      </p:sp>
      <p:sp>
        <p:nvSpPr>
          <p:cNvPr id="18" name="Text 16"/>
          <p:cNvSpPr/>
          <p:nvPr/>
        </p:nvSpPr>
        <p:spPr>
          <a:xfrm>
            <a:off x="1115568" y="4315968"/>
            <a:ext cx="3291840" cy="566928"/>
          </a:xfrm>
          <a:prstGeom prst="rect">
            <a:avLst/>
          </a:prstGeom>
          <a:noFill/>
        </p:spPr>
        <p:txBody>
          <a:bodyPr wrap="square" lIns="0" tIns="0" rIns="0" bIns="0" rtlCol="0" anchor="ctr"/>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Slow attacks are invisible</a:t>
            </a:r>
            <a:endParaRPr lang="en-US" sz="1300" dirty="0"/>
          </a:p>
        </p:txBody>
      </p:sp>
      <p:sp>
        <p:nvSpPr>
          <p:cNvPr id="19" name="Text 17"/>
          <p:cNvSpPr/>
          <p:nvPr/>
        </p:nvSpPr>
        <p:spPr>
          <a:xfrm>
            <a:off x="4498848" y="4315968"/>
            <a:ext cx="6858000" cy="566928"/>
          </a:xfrm>
          <a:prstGeom prst="rect">
            <a:avLst/>
          </a:prstGeom>
          <a:noFill/>
        </p:spPr>
        <p:txBody>
          <a:bodyPr wrap="square" lIns="0" tIns="0" rIns="0" bIns="0" rtlCol="0" anchor="ctr"/>
          <a:lstStyle/>
          <a:p>
            <a:pPr marL="0" indent="0">
              <a:lnSpc>
                <a:spcPts val="15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An attacker who tries three passwords an hour stays under every threshold I set.</a:t>
            </a:r>
            <a:endParaRPr lang="en-US" sz="1200" dirty="0"/>
          </a:p>
        </p:txBody>
      </p:sp>
      <p:sp>
        <p:nvSpPr>
          <p:cNvPr id="20" name="Shape 18"/>
          <p:cNvSpPr/>
          <p:nvPr/>
        </p:nvSpPr>
        <p:spPr>
          <a:xfrm>
            <a:off x="566928" y="5120640"/>
            <a:ext cx="11055096" cy="749808"/>
          </a:xfrm>
          <a:prstGeom prst="roundRect">
            <a:avLst>
              <a:gd name="adj" fmla="val 6098"/>
            </a:avLst>
          </a:prstGeom>
          <a:solidFill>
            <a:srgbClr val="F5F7F9"/>
          </a:solidFill>
          <a:ln w="12700">
            <a:solidFill>
              <a:srgbClr val="DDE3E8"/>
            </a:solidFill>
            <a:prstDash val="solid"/>
          </a:ln>
        </p:spPr>
      </p:sp>
      <p:sp>
        <p:nvSpPr>
          <p:cNvPr id="21" name="Shape 19"/>
          <p:cNvSpPr/>
          <p:nvPr/>
        </p:nvSpPr>
        <p:spPr>
          <a:xfrm>
            <a:off x="768096" y="5404104"/>
            <a:ext cx="182880" cy="182880"/>
          </a:xfrm>
          <a:prstGeom prst="ellipse">
            <a:avLst/>
          </a:prstGeom>
          <a:solidFill>
            <a:srgbClr val="2C6E9B"/>
          </a:solidFill>
          <a:ln w="12700">
            <a:solidFill>
              <a:srgbClr val="2C6E9B"/>
            </a:solidFill>
            <a:prstDash val="solid"/>
          </a:ln>
        </p:spPr>
      </p:sp>
      <p:sp>
        <p:nvSpPr>
          <p:cNvPr id="22" name="Text 20"/>
          <p:cNvSpPr/>
          <p:nvPr/>
        </p:nvSpPr>
        <p:spPr>
          <a:xfrm>
            <a:off x="1115568" y="5212080"/>
            <a:ext cx="3291840" cy="566928"/>
          </a:xfrm>
          <a:prstGeom prst="rect">
            <a:avLst/>
          </a:prstGeom>
          <a:noFill/>
        </p:spPr>
        <p:txBody>
          <a:bodyPr wrap="square" lIns="0" tIns="0" rIns="0" bIns="0" rtlCol="0" anchor="ctr"/>
          <a:lstStyle/>
          <a:p>
            <a:pPr marL="0" indent="0">
              <a:buNone/>
            </a:pPr>
            <a:r>
              <a:rPr lang="en-US" sz="1300" b="1" dirty="0">
                <a:solidFill>
                  <a:srgbClr val="12161A"/>
                </a:solidFill>
                <a:latin typeface="Arial" panose="020B0604020202020204" pitchFamily="34" charset="0"/>
                <a:ea typeface="Arial" panose="020B0604020202020204" pitchFamily="34" charset="-122"/>
                <a:cs typeface="Arial" panose="020B0604020202020204" pitchFamily="34" charset="-120"/>
              </a:rPr>
              <a:t>Only one log source</a:t>
            </a:r>
            <a:endParaRPr lang="en-US" sz="1300" dirty="0"/>
          </a:p>
        </p:txBody>
      </p:sp>
      <p:sp>
        <p:nvSpPr>
          <p:cNvPr id="23" name="Text 21"/>
          <p:cNvSpPr/>
          <p:nvPr/>
        </p:nvSpPr>
        <p:spPr>
          <a:xfrm>
            <a:off x="4498848" y="5212080"/>
            <a:ext cx="6858000" cy="566928"/>
          </a:xfrm>
          <a:prstGeom prst="rect">
            <a:avLst/>
          </a:prstGeom>
          <a:noFill/>
        </p:spPr>
        <p:txBody>
          <a:bodyPr wrap="square" lIns="0" tIns="0" rIns="0" bIns="0" rtlCol="0" anchor="ctr"/>
          <a:lstStyle/>
          <a:p>
            <a:pPr marL="0" indent="0">
              <a:lnSpc>
                <a:spcPts val="1500"/>
              </a:lnSpc>
              <a:buNone/>
            </a:pPr>
            <a:r>
              <a:rPr lang="en-US" sz="1200" dirty="0">
                <a:solidFill>
                  <a:srgbClr val="3C464F"/>
                </a:solidFill>
                <a:latin typeface="Calibri" panose="020F0502020204030204" pitchFamily="34" charset="0"/>
                <a:ea typeface="Calibri" panose="020F0502020204030204" pitchFamily="34" charset="-122"/>
                <a:cs typeface="Calibri" panose="020F0502020204030204" pitchFamily="34" charset="-120"/>
              </a:rPr>
              <a:t>Apache access logs alone. Correlating with error.log, auth.log and firewall logs is where real detection starts.</a:t>
            </a:r>
            <a:endParaRPr lang="en-US" sz="1200" dirty="0"/>
          </a:p>
        </p:txBody>
      </p:sp>
      <p:sp>
        <p:nvSpPr>
          <p:cNvPr id="24" name="Text 22"/>
          <p:cNvSpPr/>
          <p:nvPr/>
        </p:nvSpPr>
        <p:spPr>
          <a:xfrm>
            <a:off x="566928" y="6108192"/>
            <a:ext cx="11055096" cy="457200"/>
          </a:xfrm>
          <a:prstGeom prst="rect">
            <a:avLst/>
          </a:prstGeom>
          <a:noFill/>
        </p:spPr>
        <p:txBody>
          <a:bodyPr wrap="square" lIns="0" tIns="0" rIns="0" bIns="0" rtlCol="0" anchor="t"/>
          <a:lstStyle/>
          <a:p>
            <a:pPr marL="0" indent="0">
              <a:buNone/>
            </a:pPr>
            <a:r>
              <a:rPr lang="en-US" sz="1250" i="1" dirty="0">
                <a:solidFill>
                  <a:srgbClr val="6B7680"/>
                </a:solidFill>
                <a:latin typeface="Calibri" panose="020F0502020204030204" pitchFamily="34" charset="0"/>
                <a:ea typeface="Calibri" panose="020F0502020204030204" pitchFamily="34" charset="-122"/>
                <a:cs typeface="Calibri" panose="020F0502020204030204" pitchFamily="34" charset="-120"/>
              </a:rPr>
              <a:t>Next step I would actually take: feed the same log into a rolling-window script, then into something like Wazuh or the ELK stack, and see how many of my five rules survive contact with real traffic volume.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2161A"/>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p:spPr>
        <p:txBody>
          <a:bodyPr wrap="square" lIns="0" tIns="0" rIns="0" bIns="0" rtlCol="0" anchor="ctr"/>
          <a:lstStyle/>
          <a:p>
            <a:pPr marL="0" indent="0" algn="l">
              <a:buNone/>
            </a:pPr>
            <a:r>
              <a:rPr lang="en-US" sz="1100" b="1" kern="0" spc="200" dirty="0">
                <a:solidFill>
                  <a:srgbClr val="2FA85D"/>
                </a:solidFill>
                <a:latin typeface="Calibri" panose="020F0502020204030204" pitchFamily="34" charset="0"/>
                <a:ea typeface="Calibri" panose="020F0502020204030204" pitchFamily="34" charset="-122"/>
                <a:cs typeface="Calibri" panose="020F0502020204030204" pitchFamily="34" charset="-120"/>
              </a:rPr>
              <a:t>WRAP UP</a:t>
            </a:r>
            <a:endParaRPr lang="en-US" sz="1100" dirty="0"/>
          </a:p>
        </p:txBody>
      </p:sp>
      <p:sp>
        <p:nvSpPr>
          <p:cNvPr id="3" name="Text 1"/>
          <p:cNvSpPr/>
          <p:nvPr/>
        </p:nvSpPr>
        <p:spPr>
          <a:xfrm>
            <a:off x="566928" y="658368"/>
            <a:ext cx="11055096" cy="566928"/>
          </a:xfrm>
          <a:prstGeom prst="rect">
            <a:avLst/>
          </a:prstGeom>
          <a:noFill/>
        </p:spPr>
        <p:txBody>
          <a:bodyPr wrap="square" lIns="0" tIns="0" rIns="0" bIns="0" rtlCol="0" anchor="t"/>
          <a:lstStyle/>
          <a:p>
            <a:pPr marL="0" indent="0" algn="l">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Where the task ended up</a:t>
            </a:r>
            <a:endParaRPr lang="en-US" sz="3000" dirty="0"/>
          </a:p>
        </p:txBody>
      </p:sp>
      <p:sp>
        <p:nvSpPr>
          <p:cNvPr id="4" name="Text 2"/>
          <p:cNvSpPr/>
          <p:nvPr/>
        </p:nvSpPr>
        <p:spPr>
          <a:xfrm>
            <a:off x="566928" y="1600200"/>
            <a:ext cx="2651760" cy="566928"/>
          </a:xfrm>
          <a:prstGeom prst="rect">
            <a:avLst/>
          </a:prstGeom>
          <a:noFill/>
        </p:spPr>
        <p:txBody>
          <a:bodyPr wrap="square" lIns="0" tIns="0" rIns="0" bIns="0" rtlCol="0" anchor="t"/>
          <a:lstStyle/>
          <a:p>
            <a:pPr marL="0" indent="0" algn="l">
              <a:buNone/>
            </a:pPr>
            <a:r>
              <a:rPr lang="en-US" sz="3600" b="1" dirty="0">
                <a:solidFill>
                  <a:srgbClr val="FFFFFF"/>
                </a:solidFill>
                <a:latin typeface="Arial" panose="020B0604020202020204" pitchFamily="34" charset="0"/>
                <a:ea typeface="Arial" panose="020B0604020202020204" pitchFamily="34" charset="-122"/>
                <a:cs typeface="Arial" panose="020B0604020202020204" pitchFamily="34" charset="-120"/>
              </a:rPr>
              <a:t>10,097</a:t>
            </a:r>
            <a:endParaRPr lang="en-US" sz="3600" dirty="0"/>
          </a:p>
        </p:txBody>
      </p:sp>
      <p:sp>
        <p:nvSpPr>
          <p:cNvPr id="5" name="Text 3"/>
          <p:cNvSpPr/>
          <p:nvPr/>
        </p:nvSpPr>
        <p:spPr>
          <a:xfrm>
            <a:off x="566928" y="2148840"/>
            <a:ext cx="2651760" cy="457200"/>
          </a:xfrm>
          <a:prstGeom prst="rect">
            <a:avLst/>
          </a:prstGeom>
          <a:noFill/>
        </p:spPr>
        <p:txBody>
          <a:bodyPr wrap="square" lIns="0" tIns="0" rIns="0" bIns="0" rtlCol="0" anchor="t"/>
          <a:lstStyle/>
          <a:p>
            <a:pPr marL="0" indent="0" algn="l">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log lines analysed across</a:t>
            </a:r>
            <a:endParaRPr lang="en-US" sz="1200" dirty="0">
              <a:solidFill>
                <a:schemeClr val="bg1"/>
              </a:solidFill>
            </a:endParaRPr>
          </a:p>
          <a:p>
            <a:pPr marL="0" indent="0" algn="l">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two separate datasets</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4"/>
          <p:cNvSpPr/>
          <p:nvPr/>
        </p:nvSpPr>
        <p:spPr>
          <a:xfrm>
            <a:off x="3429000" y="1600200"/>
            <a:ext cx="2651760" cy="566928"/>
          </a:xfrm>
          <a:prstGeom prst="rect">
            <a:avLst/>
          </a:prstGeom>
          <a:noFill/>
        </p:spPr>
        <p:txBody>
          <a:bodyPr wrap="square" lIns="0" tIns="0" rIns="0" bIns="0" rtlCol="0" anchor="t"/>
          <a:lstStyle/>
          <a:p>
            <a:pPr marL="0" indent="0" algn="l">
              <a:buNone/>
            </a:pPr>
            <a:r>
              <a:rPr lang="en-US" sz="36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3600" dirty="0"/>
          </a:p>
        </p:txBody>
      </p:sp>
      <p:sp>
        <p:nvSpPr>
          <p:cNvPr id="7" name="Text 5"/>
          <p:cNvSpPr/>
          <p:nvPr/>
        </p:nvSpPr>
        <p:spPr>
          <a:xfrm>
            <a:off x="3429000" y="2148840"/>
            <a:ext cx="2651760" cy="457200"/>
          </a:xfrm>
          <a:prstGeom prst="rect">
            <a:avLst/>
          </a:prstGeom>
          <a:noFill/>
        </p:spPr>
        <p:txBody>
          <a:bodyPr wrap="square" lIns="0" tIns="0" rIns="0" bIns="0" rtlCol="0" anchor="t"/>
          <a:lstStyle/>
          <a:p>
            <a:pPr marL="0" indent="0" algn="l">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attack patterns identified</a:t>
            </a:r>
            <a:endParaRPr lang="en-US" sz="1200" dirty="0">
              <a:solidFill>
                <a:schemeClr val="bg1"/>
              </a:solidFill>
            </a:endParaRPr>
          </a:p>
          <a:p>
            <a:pPr marL="0" indent="0" algn="l">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and evidenced</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p:nvPr/>
        </p:nvSpPr>
        <p:spPr>
          <a:xfrm>
            <a:off x="6309360" y="1600200"/>
            <a:ext cx="2651760" cy="566928"/>
          </a:xfrm>
          <a:prstGeom prst="rect">
            <a:avLst/>
          </a:prstGeom>
          <a:noFill/>
        </p:spPr>
        <p:txBody>
          <a:bodyPr wrap="square" lIns="0" tIns="0" rIns="0" bIns="0" rtlCol="0" anchor="t"/>
          <a:lstStyle/>
          <a:p>
            <a:pPr marL="0" indent="0" algn="l">
              <a:buNone/>
            </a:pPr>
            <a:r>
              <a:rPr lang="en-US" sz="3600" b="1" dirty="0">
                <a:solidFill>
                  <a:srgbClr val="2FA85D"/>
                </a:solidFill>
                <a:latin typeface="Arial" panose="020B0604020202020204" pitchFamily="34" charset="0"/>
                <a:ea typeface="Arial" panose="020B0604020202020204" pitchFamily="34" charset="-122"/>
                <a:cs typeface="Arial" panose="020B0604020202020204" pitchFamily="34" charset="-120"/>
              </a:rPr>
              <a:t>3</a:t>
            </a:r>
            <a:endParaRPr lang="en-US" sz="3600" dirty="0"/>
          </a:p>
        </p:txBody>
      </p:sp>
      <p:sp>
        <p:nvSpPr>
          <p:cNvPr id="9" name="Text 7"/>
          <p:cNvSpPr/>
          <p:nvPr/>
        </p:nvSpPr>
        <p:spPr>
          <a:xfrm>
            <a:off x="6309360" y="2148840"/>
            <a:ext cx="2651760" cy="457200"/>
          </a:xfrm>
          <a:prstGeom prst="rect">
            <a:avLst/>
          </a:prstGeom>
          <a:noFill/>
        </p:spPr>
        <p:txBody>
          <a:bodyPr wrap="square" lIns="0" tIns="0" rIns="0" bIns="0" rtlCol="0" anchor="t"/>
          <a:lstStyle/>
          <a:p>
            <a:pPr marL="0" indent="0" algn="l">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detection rules written</a:t>
            </a:r>
            <a:endParaRPr lang="en-US" sz="1200" dirty="0">
              <a:solidFill>
                <a:schemeClr val="bg1"/>
              </a:solidFill>
            </a:endParaRPr>
          </a:p>
          <a:p>
            <a:pPr marL="0" indent="0" algn="l">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and tested on both logs</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9189720" y="1600200"/>
            <a:ext cx="2432304" cy="566928"/>
          </a:xfrm>
          <a:prstGeom prst="rect">
            <a:avLst/>
          </a:prstGeom>
          <a:noFill/>
        </p:spPr>
        <p:txBody>
          <a:bodyPr wrap="square" lIns="0" tIns="0" rIns="0" bIns="0" rtlCol="0" anchor="t"/>
          <a:lstStyle/>
          <a:p>
            <a:pPr marL="0" indent="0" algn="l">
              <a:buNone/>
            </a:pPr>
            <a:r>
              <a:rPr lang="en-US" sz="3600" b="1" dirty="0">
                <a:solidFill>
                  <a:srgbClr val="FFFFFF"/>
                </a:solidFill>
                <a:latin typeface="Arial" panose="020B0604020202020204" pitchFamily="34" charset="0"/>
                <a:ea typeface="Arial" panose="020B0604020202020204" pitchFamily="34" charset="-122"/>
                <a:cs typeface="Arial" panose="020B0604020202020204" pitchFamily="34" charset="-120"/>
              </a:rPr>
              <a:t>6</a:t>
            </a:r>
            <a:endParaRPr lang="en-US" sz="3600" dirty="0"/>
          </a:p>
        </p:txBody>
      </p:sp>
      <p:sp>
        <p:nvSpPr>
          <p:cNvPr id="11" name="Text 9"/>
          <p:cNvSpPr/>
          <p:nvPr/>
        </p:nvSpPr>
        <p:spPr>
          <a:xfrm>
            <a:off x="9189720" y="2148840"/>
            <a:ext cx="2432304" cy="457200"/>
          </a:xfrm>
          <a:prstGeom prst="rect">
            <a:avLst/>
          </a:prstGeom>
          <a:noFill/>
        </p:spPr>
        <p:txBody>
          <a:bodyPr wrap="square" lIns="0" tIns="0" rIns="0" bIns="0" rtlCol="0" anchor="t"/>
          <a:lstStyle/>
          <a:p>
            <a:pPr marL="0" indent="0" algn="l">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Python and shell scripts</a:t>
            </a:r>
            <a:endParaRPr lang="en-US" sz="1200" dirty="0">
              <a:solidFill>
                <a:schemeClr val="bg1"/>
              </a:solidFill>
            </a:endParaRPr>
          </a:p>
          <a:p>
            <a:pPr marL="0" indent="0" algn="l">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built from scratch</a:t>
            </a:r>
            <a:endPar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566928" y="3200400"/>
            <a:ext cx="11055096" cy="0"/>
          </a:xfrm>
          <a:prstGeom prst="line">
            <a:avLst/>
          </a:prstGeom>
          <a:noFill/>
          <a:ln w="12700">
            <a:solidFill>
              <a:srgbClr val="2C343C"/>
            </a:solidFill>
            <a:prstDash val="solid"/>
          </a:ln>
        </p:spPr>
      </p:sp>
      <p:sp>
        <p:nvSpPr>
          <p:cNvPr id="13" name="Text 11"/>
          <p:cNvSpPr/>
          <p:nvPr/>
        </p:nvSpPr>
        <p:spPr>
          <a:xfrm>
            <a:off x="566928" y="3401568"/>
            <a:ext cx="5394960" cy="274320"/>
          </a:xfrm>
          <a:prstGeom prst="rect">
            <a:avLst/>
          </a:prstGeom>
          <a:noFill/>
        </p:spPr>
        <p:txBody>
          <a:bodyPr wrap="square" lIns="0" tIns="0" rIns="0" bIns="0" rtlCol="0" anchor="ctr"/>
          <a:lstStyle/>
          <a:p>
            <a:pPr marL="0" indent="0">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Deliverables</a:t>
            </a:r>
            <a:endParaRPr lang="en-US" sz="1500" dirty="0"/>
          </a:p>
        </p:txBody>
      </p:sp>
      <p:sp>
        <p:nvSpPr>
          <p:cNvPr id="14" name="Text 12"/>
          <p:cNvSpPr/>
          <p:nvPr/>
        </p:nvSpPr>
        <p:spPr>
          <a:xfrm>
            <a:off x="566928" y="3767328"/>
            <a:ext cx="5394960" cy="2926080"/>
          </a:xfrm>
          <a:prstGeom prst="rect">
            <a:avLst/>
          </a:prstGeom>
          <a:noFill/>
        </p:spPr>
        <p:txBody>
          <a:bodyPr wrap="square" lIns="0" tIns="0" rIns="0" bIns="0" rtlCol="0" anchor="t"/>
          <a:lstStyle/>
          <a:p>
            <a:pPr marL="285750" indent="-285750">
              <a:spcAft>
                <a:spcPts val="700"/>
              </a:spcAft>
              <a:buSzPct val="100000"/>
              <a:buFont typeface="Arial" panose="020B0604020202020204" pitchFamily="34" charset="0"/>
              <a:buChar char="•"/>
            </a:pPr>
            <a:r>
              <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rPr>
              <a:t>Findings report covering both datasets, with log excerpts</a:t>
            </a:r>
            <a:endParaRPr lang="en-US" sz="1250" dirty="0">
              <a:solidFill>
                <a:schemeClr val="bg1"/>
              </a:solidFill>
            </a:endParaRPr>
          </a:p>
          <a:p>
            <a:pPr marL="285750" indent="-285750">
              <a:spcAft>
                <a:spcPts val="700"/>
              </a:spcAft>
              <a:buSzPct val="100000"/>
              <a:buFont typeface="Arial" panose="020B0604020202020204" pitchFamily="34" charset="0"/>
              <a:buChar char="•"/>
            </a:pPr>
            <a:r>
              <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rPr>
              <a:t>Three detection rules, each with its false-positive caveat</a:t>
            </a:r>
            <a:endParaRPr lang="en-US" sz="1250" dirty="0">
              <a:solidFill>
                <a:schemeClr val="bg1"/>
              </a:solidFill>
            </a:endParaRPr>
          </a:p>
          <a:p>
            <a:pPr marL="285750" indent="-285750">
              <a:spcAft>
                <a:spcPts val="700"/>
              </a:spcAft>
              <a:buSzPct val="100000"/>
              <a:buFont typeface="Arial" panose="020B0604020202020204" pitchFamily="34" charset="0"/>
              <a:buChar char="•"/>
            </a:pPr>
            <a:r>
              <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rPr>
              <a:t>Working scripts: detect_404.sh, five detection scripts, prevention_engine.py</a:t>
            </a:r>
            <a:endParaRPr lang="en-US" sz="1250" dirty="0">
              <a:solidFill>
                <a:schemeClr val="bg1"/>
              </a:solidFill>
            </a:endParaRPr>
          </a:p>
          <a:p>
            <a:pPr marL="285750" indent="-285750">
              <a:spcAft>
                <a:spcPts val="700"/>
              </a:spcAft>
              <a:buSzPct val="100000"/>
              <a:buFont typeface="Arial" panose="020B0604020202020204" pitchFamily="34" charset="0"/>
              <a:buChar char="•"/>
            </a:pPr>
            <a:r>
              <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rPr>
              <a:t>security_incidents.log — timestamped record of every alert raised</a:t>
            </a:r>
            <a:endPar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6309360" y="3401568"/>
            <a:ext cx="5303520" cy="274320"/>
          </a:xfrm>
          <a:prstGeom prst="rect">
            <a:avLst/>
          </a:prstGeom>
          <a:noFill/>
        </p:spPr>
        <p:txBody>
          <a:bodyPr wrap="square" lIns="0" tIns="0" rIns="0" bIns="0" rtlCol="0" anchor="ctr"/>
          <a:lstStyle/>
          <a:p>
            <a:pPr marL="0" indent="0">
              <a:buNone/>
            </a:pPr>
            <a:r>
              <a:rPr lang="en-US" sz="1500" b="1" dirty="0">
                <a:solidFill>
                  <a:srgbClr val="2FA85D"/>
                </a:solidFill>
                <a:latin typeface="Arial" panose="020B0604020202020204" pitchFamily="34" charset="0"/>
                <a:ea typeface="Arial" panose="020B0604020202020204" pitchFamily="34" charset="-122"/>
                <a:cs typeface="Arial" panose="020B0604020202020204" pitchFamily="34" charset="-120"/>
              </a:rPr>
              <a:t>Three things I take away</a:t>
            </a:r>
            <a:endParaRPr lang="en-US" sz="1500" dirty="0"/>
          </a:p>
        </p:txBody>
      </p:sp>
      <p:sp>
        <p:nvSpPr>
          <p:cNvPr id="16" name="Text 14"/>
          <p:cNvSpPr/>
          <p:nvPr/>
        </p:nvSpPr>
        <p:spPr>
          <a:xfrm>
            <a:off x="6309360" y="3767328"/>
            <a:ext cx="5303520" cy="2926080"/>
          </a:xfrm>
          <a:prstGeom prst="rect">
            <a:avLst/>
          </a:prstGeom>
          <a:noFill/>
        </p:spPr>
        <p:txBody>
          <a:bodyPr wrap="square" lIns="0" tIns="0" rIns="0" bIns="0" rtlCol="0" anchor="t"/>
          <a:lstStyle/>
          <a:p>
            <a:pPr marL="285750" indent="-285750">
              <a:spcAft>
                <a:spcPts val="700"/>
              </a:spcAft>
              <a:buSzPct val="100000"/>
              <a:buFont typeface="Arial" panose="020B0604020202020204" pitchFamily="34" charset="0"/>
              <a:buChar char="•"/>
            </a:pPr>
            <a:r>
              <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rPr>
              <a:t>A 200 OK proves nothing — the worst attacks I ran all succeeded quietly</a:t>
            </a:r>
            <a:endParaRPr lang="en-US" sz="1250" dirty="0">
              <a:solidFill>
                <a:schemeClr val="bg1"/>
              </a:solidFill>
            </a:endParaRPr>
          </a:p>
          <a:p>
            <a:pPr marL="285750" indent="-285750">
              <a:spcAft>
                <a:spcPts val="700"/>
              </a:spcAft>
              <a:buSzPct val="100000"/>
              <a:buFont typeface="Arial" panose="020B0604020202020204" pitchFamily="34" charset="0"/>
              <a:buChar char="•"/>
            </a:pPr>
            <a:r>
              <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rPr>
              <a:t>Decode before you match, or your rule is silently blind</a:t>
            </a:r>
            <a:endParaRPr lang="en-US" sz="1250" dirty="0">
              <a:solidFill>
                <a:schemeClr val="bg1"/>
              </a:solidFill>
            </a:endParaRPr>
          </a:p>
          <a:p>
            <a:pPr marL="285750" indent="-285750">
              <a:spcAft>
                <a:spcPts val="700"/>
              </a:spcAft>
              <a:buSzPct val="100000"/>
              <a:buFont typeface="Arial" panose="020B0604020202020204" pitchFamily="34" charset="0"/>
              <a:buChar char="•"/>
            </a:pPr>
            <a:r>
              <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rPr>
              <a:t>The moment a one-liner is useful, save it as a script</a:t>
            </a:r>
            <a:endParaRPr lang="en-US" sz="125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566928" y="6035040"/>
            <a:ext cx="11055096" cy="365760"/>
          </a:xfrm>
          <a:prstGeom prst="rect">
            <a:avLst/>
          </a:prstGeom>
          <a:noFill/>
        </p:spPr>
        <p:txBody>
          <a:bodyPr wrap="square" lIns="0" tIns="0" rIns="0" bIns="0" rtlCol="0" anchor="t"/>
          <a:lstStyle/>
          <a:p>
            <a:pPr marL="0" indent="0">
              <a:buNone/>
            </a:pPr>
            <a:r>
              <a:rPr lang="en-US" sz="1300" i="1" dirty="0">
                <a:solidFill>
                  <a:srgbClr val="AEB8C0"/>
                </a:solidFill>
                <a:latin typeface="Calibri" panose="020F0502020204030204" pitchFamily="34" charset="0"/>
                <a:ea typeface="Calibri" panose="020F0502020204030204" pitchFamily="34" charset="-122"/>
                <a:cs typeface="Calibri" panose="020F0502020204030204" pitchFamily="34" charset="-120"/>
              </a:rPr>
              <a:t>Thank you — happy to walk through any of the scripts or log excerpts.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15848</Words>
  <Application>WPS Presentation</Application>
  <PresentationFormat>On-screen Show (16:9)</PresentationFormat>
  <Paragraphs>620</Paragraphs>
  <Slides>20</Slides>
  <Notes>20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20</vt:i4>
      </vt:variant>
    </vt:vector>
  </HeadingPairs>
  <TitlesOfParts>
    <vt:vector size="37" baseType="lpstr">
      <vt:lpstr>Arial</vt:lpstr>
      <vt:lpstr>SimSun</vt:lpstr>
      <vt:lpstr>Wingdings</vt:lpstr>
      <vt:lpstr>Calibri</vt:lpstr>
      <vt:lpstr>Calibri</vt:lpstr>
      <vt:lpstr>Calibri</vt:lpstr>
      <vt:lpstr>Arial</vt:lpstr>
      <vt:lpstr>Arial</vt:lpstr>
      <vt:lpstr>Courier New</vt:lpstr>
      <vt:lpstr>Courier New</vt:lpstr>
      <vt:lpstr>Courier New</vt:lpstr>
      <vt:lpstr>Calibri</vt:lpstr>
      <vt:lpstr>Courier New</vt:lpstr>
      <vt:lpstr>Microsoft YaHei</vt:lpstr>
      <vt:lpstr>Arial Unicode MS</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 Analysis Practice on Sample Logs</dc:title>
  <dc:creator>Log Analysis Task</dc:creator>
  <dc:subject>PptxGenJS Presentation</dc:subject>
  <cp:lastModifiedBy>Mahnoor Mehtab Abbasi</cp:lastModifiedBy>
  <cp:revision>3</cp:revision>
  <dcterms:created xsi:type="dcterms:W3CDTF">2026-08-08T21:38:00Z</dcterms:created>
  <dcterms:modified xsi:type="dcterms:W3CDTF">2026-08-08T22:14:04Z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B3DECBB58DB540BB963C5FFCE0FA30FF_12</vt:lpwstr>
  </property>
  <property fmtid="{D5CDD505-2E9C-101B-9397-08002B2CF9AE}" pid="3" name="KSOProductBuildVer">
    <vt:lpwstr>1033-12.1.0.28032</vt:lpwstr>
  </property>
</Properties>
</file>